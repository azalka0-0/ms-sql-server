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8"/>
  </p:notesMasterIdLst>
  <p:sldIdLst>
    <p:sldId id="256" r:id="rId2"/>
    <p:sldId id="297" r:id="rId3"/>
    <p:sldId id="298" r:id="rId4"/>
    <p:sldId id="299" r:id="rId5"/>
    <p:sldId id="381" r:id="rId6"/>
    <p:sldId id="300" r:id="rId7"/>
    <p:sldId id="383" r:id="rId8"/>
    <p:sldId id="257" r:id="rId9"/>
    <p:sldId id="258" r:id="rId10"/>
    <p:sldId id="259" r:id="rId11"/>
    <p:sldId id="316" r:id="rId12"/>
    <p:sldId id="317" r:id="rId13"/>
    <p:sldId id="260" r:id="rId14"/>
    <p:sldId id="261" r:id="rId15"/>
    <p:sldId id="365" r:id="rId16"/>
    <p:sldId id="366" r:id="rId17"/>
    <p:sldId id="367" r:id="rId18"/>
    <p:sldId id="262" r:id="rId19"/>
    <p:sldId id="368" r:id="rId20"/>
    <p:sldId id="263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264" r:id="rId29"/>
    <p:sldId id="265" r:id="rId30"/>
    <p:sldId id="266" r:id="rId31"/>
    <p:sldId id="267" r:id="rId32"/>
    <p:sldId id="371" r:id="rId33"/>
    <p:sldId id="268" r:id="rId34"/>
    <p:sldId id="269" r:id="rId35"/>
    <p:sldId id="270" r:id="rId36"/>
    <p:sldId id="372" r:id="rId37"/>
    <p:sldId id="373" r:id="rId38"/>
    <p:sldId id="271" r:id="rId39"/>
    <p:sldId id="272" r:id="rId40"/>
    <p:sldId id="273" r:id="rId41"/>
    <p:sldId id="274" r:id="rId42"/>
    <p:sldId id="275" r:id="rId43"/>
    <p:sldId id="276" r:id="rId44"/>
    <p:sldId id="384" r:id="rId45"/>
    <p:sldId id="277" r:id="rId46"/>
    <p:sldId id="278" r:id="rId47"/>
    <p:sldId id="279" r:id="rId48"/>
    <p:sldId id="280" r:id="rId49"/>
    <p:sldId id="380" r:id="rId50"/>
    <p:sldId id="281" r:id="rId51"/>
    <p:sldId id="282" r:id="rId52"/>
    <p:sldId id="301" r:id="rId53"/>
    <p:sldId id="302" r:id="rId54"/>
    <p:sldId id="283" r:id="rId55"/>
    <p:sldId id="303" r:id="rId56"/>
    <p:sldId id="305" r:id="rId57"/>
    <p:sldId id="369" r:id="rId58"/>
    <p:sldId id="306" r:id="rId59"/>
    <p:sldId id="374" r:id="rId60"/>
    <p:sldId id="307" r:id="rId61"/>
    <p:sldId id="308" r:id="rId62"/>
    <p:sldId id="375" r:id="rId63"/>
    <p:sldId id="309" r:id="rId64"/>
    <p:sldId id="370" r:id="rId65"/>
    <p:sldId id="310" r:id="rId66"/>
    <p:sldId id="304" r:id="rId67"/>
    <p:sldId id="284" r:id="rId68"/>
    <p:sldId id="285" r:id="rId69"/>
    <p:sldId id="286" r:id="rId70"/>
    <p:sldId id="314" r:id="rId71"/>
    <p:sldId id="287" r:id="rId72"/>
    <p:sldId id="289" r:id="rId73"/>
    <p:sldId id="313" r:id="rId74"/>
    <p:sldId id="290" r:id="rId75"/>
    <p:sldId id="288" r:id="rId76"/>
    <p:sldId id="315" r:id="rId77"/>
    <p:sldId id="291" r:id="rId78"/>
    <p:sldId id="311" r:id="rId79"/>
    <p:sldId id="292" r:id="rId80"/>
    <p:sldId id="312" r:id="rId81"/>
    <p:sldId id="293" r:id="rId82"/>
    <p:sldId id="294" r:id="rId83"/>
    <p:sldId id="295" r:id="rId84"/>
    <p:sldId id="296" r:id="rId85"/>
    <p:sldId id="382" r:id="rId86"/>
    <p:sldId id="325" r:id="rId87"/>
    <p:sldId id="326" r:id="rId88"/>
    <p:sldId id="327" r:id="rId89"/>
    <p:sldId id="340" r:id="rId90"/>
    <p:sldId id="334" r:id="rId91"/>
    <p:sldId id="339" r:id="rId92"/>
    <p:sldId id="341" r:id="rId93"/>
    <p:sldId id="342" r:id="rId94"/>
    <p:sldId id="355" r:id="rId95"/>
    <p:sldId id="328" r:id="rId96"/>
    <p:sldId id="330" r:id="rId97"/>
    <p:sldId id="331" r:id="rId98"/>
    <p:sldId id="329" r:id="rId99"/>
    <p:sldId id="332" r:id="rId100"/>
    <p:sldId id="333" r:id="rId101"/>
    <p:sldId id="335" r:id="rId102"/>
    <p:sldId id="336" r:id="rId103"/>
    <p:sldId id="337" r:id="rId104"/>
    <p:sldId id="338" r:id="rId105"/>
    <p:sldId id="343" r:id="rId106"/>
    <p:sldId id="385" r:id="rId10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C75C699-D916-4761-9621-A42152B00855}">
          <p14:sldIdLst>
            <p14:sldId id="256"/>
            <p14:sldId id="297"/>
            <p14:sldId id="298"/>
            <p14:sldId id="299"/>
            <p14:sldId id="381"/>
            <p14:sldId id="300"/>
            <p14:sldId id="383"/>
            <p14:sldId id="257"/>
            <p14:sldId id="258"/>
            <p14:sldId id="259"/>
            <p14:sldId id="316"/>
            <p14:sldId id="317"/>
            <p14:sldId id="260"/>
            <p14:sldId id="261"/>
            <p14:sldId id="365"/>
            <p14:sldId id="366"/>
            <p14:sldId id="367"/>
            <p14:sldId id="262"/>
            <p14:sldId id="368"/>
            <p14:sldId id="263"/>
            <p14:sldId id="318"/>
            <p14:sldId id="319"/>
            <p14:sldId id="320"/>
            <p14:sldId id="321"/>
            <p14:sldId id="322"/>
            <p14:sldId id="323"/>
            <p14:sldId id="324"/>
            <p14:sldId id="264"/>
            <p14:sldId id="265"/>
            <p14:sldId id="266"/>
            <p14:sldId id="267"/>
            <p14:sldId id="371"/>
            <p14:sldId id="268"/>
            <p14:sldId id="269"/>
            <p14:sldId id="270"/>
            <p14:sldId id="372"/>
            <p14:sldId id="373"/>
            <p14:sldId id="271"/>
            <p14:sldId id="272"/>
            <p14:sldId id="273"/>
            <p14:sldId id="274"/>
            <p14:sldId id="275"/>
            <p14:sldId id="276"/>
            <p14:sldId id="384"/>
            <p14:sldId id="277"/>
            <p14:sldId id="278"/>
            <p14:sldId id="279"/>
            <p14:sldId id="280"/>
            <p14:sldId id="380"/>
            <p14:sldId id="281"/>
            <p14:sldId id="282"/>
            <p14:sldId id="301"/>
            <p14:sldId id="302"/>
            <p14:sldId id="283"/>
            <p14:sldId id="303"/>
            <p14:sldId id="305"/>
            <p14:sldId id="369"/>
            <p14:sldId id="306"/>
            <p14:sldId id="374"/>
            <p14:sldId id="307"/>
            <p14:sldId id="308"/>
            <p14:sldId id="375"/>
            <p14:sldId id="309"/>
            <p14:sldId id="370"/>
            <p14:sldId id="310"/>
            <p14:sldId id="304"/>
            <p14:sldId id="284"/>
            <p14:sldId id="285"/>
            <p14:sldId id="286"/>
            <p14:sldId id="314"/>
            <p14:sldId id="287"/>
            <p14:sldId id="289"/>
            <p14:sldId id="313"/>
            <p14:sldId id="290"/>
            <p14:sldId id="288"/>
            <p14:sldId id="315"/>
            <p14:sldId id="291"/>
            <p14:sldId id="311"/>
            <p14:sldId id="292"/>
            <p14:sldId id="312"/>
            <p14:sldId id="293"/>
            <p14:sldId id="294"/>
            <p14:sldId id="295"/>
            <p14:sldId id="296"/>
            <p14:sldId id="382"/>
          </p14:sldIdLst>
        </p14:section>
        <p14:section name="Хранимые функции" id="{F503D34C-DFB2-43D9-8EE2-79A5AEF06286}">
          <p14:sldIdLst>
            <p14:sldId id="325"/>
            <p14:sldId id="326"/>
            <p14:sldId id="327"/>
            <p14:sldId id="340"/>
            <p14:sldId id="334"/>
            <p14:sldId id="339"/>
            <p14:sldId id="341"/>
            <p14:sldId id="342"/>
            <p14:sldId id="355"/>
            <p14:sldId id="328"/>
            <p14:sldId id="330"/>
            <p14:sldId id="331"/>
            <p14:sldId id="329"/>
            <p14:sldId id="332"/>
            <p14:sldId id="333"/>
            <p14:sldId id="335"/>
            <p14:sldId id="336"/>
            <p14:sldId id="337"/>
            <p14:sldId id="338"/>
            <p14:sldId id="343"/>
            <p14:sldId id="3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368" autoAdjust="0"/>
  </p:normalViewPr>
  <p:slideViewPr>
    <p:cSldViewPr>
      <p:cViewPr varScale="1">
        <p:scale>
          <a:sx n="71" d="100"/>
          <a:sy n="71" d="100"/>
        </p:scale>
        <p:origin x="1786" y="53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28.36041" units="1/cm"/>
          <inkml:channelProperty channel="Y" name="resolution" value="28.34646" units="1/cm"/>
          <inkml:channelProperty channel="T" name="resolution" value="1" units="1/dev"/>
        </inkml:channelProperties>
      </inkml:inkSource>
      <inkml:timestamp xml:id="ts0" timeString="2013-10-23T06:25:15.57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5132 12294 0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78DDC-4ADB-432D-B927-EE4D0F487EB6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DDBAB-922E-4AB6-8DB4-26AFEB6A1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4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#param"/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565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Предложение DEFINER было добавлено в MySQL 5.0.20.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027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Параметр IN </a:t>
            </a:r>
            <a:r>
              <a:rPr lang="ru-RU" dirty="0" err="1"/>
              <a:t>передает</a:t>
            </a:r>
            <a:r>
              <a:rPr lang="ru-RU" dirty="0"/>
              <a:t> значение в процедуру. Процедура может изменять значение, но модификация видна только самой процедуре, то есть вне процедуры она остаётся неизменной. Параметр OUT </a:t>
            </a:r>
            <a:r>
              <a:rPr lang="ru-RU" dirty="0" err="1"/>
              <a:t>передает</a:t>
            </a:r>
            <a:r>
              <a:rPr lang="ru-RU" dirty="0"/>
              <a:t> значение из процедуры во вне, то есть процедура придаёт значение параметру, значение </a:t>
            </a:r>
            <a:r>
              <a:rPr lang="ru-RU" dirty="0" err="1"/>
              <a:t>которго</a:t>
            </a:r>
            <a:r>
              <a:rPr lang="ru-RU" dirty="0"/>
              <a:t> может </a:t>
            </a:r>
            <a:r>
              <a:rPr lang="ru-RU" dirty="0" err="1"/>
              <a:t>использоватся</a:t>
            </a:r>
            <a:r>
              <a:rPr lang="ru-RU" dirty="0"/>
              <a:t> вне процедуры, после завершения процедуры. Начальное значение внутри процедуры NULL. Параметр INOUT </a:t>
            </a:r>
            <a:r>
              <a:rPr lang="ru-RU" dirty="0" err="1"/>
              <a:t>передает</a:t>
            </a:r>
            <a:r>
              <a:rPr lang="ru-RU" dirty="0"/>
              <a:t> значение в процедуру, как и IN, но процедура может изменять значение, которое будет видно и вне </a:t>
            </a:r>
            <a:r>
              <a:rPr lang="ru-RU" dirty="0" err="1"/>
              <a:t>прицедуры</a:t>
            </a:r>
            <a:r>
              <a:rPr lang="ru-RU" dirty="0"/>
              <a:t>, как OUT. Стоит заметить что всё это верно только для PROCEDURE, параметры FUNCTION всегда расцениваются как параметры IN.</a:t>
            </a:r>
            <a:br>
              <a:rPr lang="ru-RU" dirty="0"/>
            </a:br>
            <a:r>
              <a:rPr lang="ru-RU" i="1" dirty="0" err="1"/>
              <a:t>param_name</a:t>
            </a:r>
            <a:r>
              <a:rPr lang="ru-RU" dirty="0"/>
              <a:t> — название параметра, а </a:t>
            </a:r>
            <a:r>
              <a:rPr lang="ru-RU" i="1" dirty="0" err="1"/>
              <a:t>type</a:t>
            </a:r>
            <a:r>
              <a:rPr lang="ru-RU" dirty="0"/>
              <a:t> — его любой допустимый тип данных MySQL.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47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IN</a:t>
            </a:r>
            <a:r>
              <a:rPr lang="ru-RU" dirty="0"/>
              <a:t>  - данные передаются  строго внутрь хранимой процедуры, но если параметру с данным модификатором внутри функции присваивается новое значение, по выходу из неё оно не сохраняется и параметр принимает значение, которое он имел до вызова процедуры;</a:t>
            </a:r>
          </a:p>
          <a:p>
            <a:pPr lvl="0"/>
            <a:r>
              <a:rPr lang="en-US" dirty="0"/>
              <a:t>OUT</a:t>
            </a:r>
            <a:r>
              <a:rPr lang="ru-RU" dirty="0"/>
              <a:t>  - данные передаются строго из хранимой процедуры, даже если параметр имеет какое-нибудь начальное значение, внутри хранимой процедуры оно не принимается во внимание. Если параметр изменялся внутри процедуры, после вызова процедуры параметр имеет значение, присвоенное  ему внутри процедуры;</a:t>
            </a:r>
          </a:p>
          <a:p>
            <a:pPr lvl="0"/>
            <a:r>
              <a:rPr lang="en-US" dirty="0"/>
              <a:t>INOUT</a:t>
            </a:r>
            <a:r>
              <a:rPr lang="ru-RU" dirty="0"/>
              <a:t> – значение этого параметра как принимается во внимание внутри процедуры, так и сохраняет своё значение по выходу из неё.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356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аргументов, заключённых в круглые скобки является обязательным, если они отсутствуют, то следует использовать пустой список аргументов ().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664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</a:t>
            </a:r>
            <a:r>
              <a:rPr lang="ru-RU" dirty="0"/>
              <a:t>- характеристика, показывающая всегда ли является результат работы</a:t>
            </a:r>
            <a:br>
              <a:rPr lang="ru-RU" dirty="0"/>
            </a:br>
            <a:r>
              <a:rPr lang="ru-RU" dirty="0"/>
              <a:t>функции следствием ее аргументов.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774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238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вернуть значение из процедуры, использующей параметр OUT или INOUT, необходимо передать параметр посредством переменной пользователя, и затем можно использовать новое значение переменной после возврата из процедуры. Если вызывать процедуру изнутри другой </a:t>
            </a:r>
            <a:r>
              <a:rPr lang="ru-RU" dirty="0" err="1"/>
              <a:t>сохраненной</a:t>
            </a:r>
            <a:r>
              <a:rPr lang="ru-RU" dirty="0"/>
              <a:t> процедуры или функции, можно также передавать стандартный параметр или локальную стандартную переменную как параметр IN или INOUT. Для параметра INOUT инициализируется значение перед его передачей процедуре. </a:t>
            </a:r>
            <a:r>
              <a:rPr lang="ru-RU"/>
              <a:t>Следующая процедура имеет параметр OUT, который процедура устанавливает в текущую (актуальную) версию сервера, и значение INOUT, которое процедура увеличивает: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975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t1:=(@t2:=1)+@t3:=4 | @t1 | @t2 | @t3 | </a:t>
            </a:r>
            <a:r>
              <a:rPr lang="en-US" baseline="0" dirty="0"/>
              <a:t> </a:t>
            </a:r>
            <a:r>
              <a:rPr lang="en-US" dirty="0"/>
              <a:t>| 5 | 5 | 1 | 4 |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164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https://vds-admin.ru/mysql/sistemnye-peremennye-mysql-servera-fail-mycnf</a:t>
            </a:r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1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первом варианте обрабатывается </a:t>
            </a:r>
            <a:r>
              <a:rPr lang="ru-RU" i="1" dirty="0" err="1"/>
              <a:t>statement_list</a:t>
            </a:r>
            <a:r>
              <a:rPr lang="ru-RU" dirty="0"/>
              <a:t>, если </a:t>
            </a:r>
            <a:r>
              <a:rPr lang="ru-RU" i="1" dirty="0" err="1"/>
              <a:t>case_value</a:t>
            </a:r>
            <a:r>
              <a:rPr lang="ru-RU" dirty="0"/>
              <a:t>=</a:t>
            </a:r>
            <a:r>
              <a:rPr lang="ru-RU" i="1" dirty="0" err="1"/>
              <a:t>when_value</a:t>
            </a:r>
            <a:r>
              <a:rPr lang="ru-RU" dirty="0"/>
              <a:t>. Во втором — результат для первого указанного условия </a:t>
            </a:r>
            <a:r>
              <a:rPr lang="ru-RU" i="1" dirty="0" err="1"/>
              <a:t>search_condition</a:t>
            </a:r>
            <a:r>
              <a:rPr lang="ru-RU" dirty="0"/>
              <a:t>, если оно истинно. Если соответствующая величина результата не определена, то обрабатывается </a:t>
            </a:r>
            <a:r>
              <a:rPr lang="ru-RU" i="1" dirty="0" err="1"/>
              <a:t>statement_list</a:t>
            </a:r>
            <a:r>
              <a:rPr lang="ru-RU" dirty="0"/>
              <a:t>, указанное после оператора ELSE. Если часть ELSE в выражении отсутствует, возвращается NULL.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386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 цикле требуется выполнить более одного оператора, не обязательно заключать их в блок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т.к. эту функцию выполняет сам оператор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43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65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Эта инструкция используется, чтобы из выйти любой </a:t>
            </a:r>
            <a:r>
              <a:rPr lang="ru-RU" dirty="0" err="1"/>
              <a:t>указаной</a:t>
            </a:r>
            <a:r>
              <a:rPr lang="ru-RU" dirty="0"/>
              <a:t> конструкции управления потоком данных. Это может использоваться внутри BEGIN … END или же конструкций цикла (LOOP, REPEAT, WHILE). Можно сравнить c инструкцией </a:t>
            </a:r>
            <a:r>
              <a:rPr lang="ru-RU" dirty="0" err="1"/>
              <a:t>break</a:t>
            </a:r>
            <a:r>
              <a:rPr lang="ru-RU" dirty="0"/>
              <a:t> из С++.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81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 выполняется до тех пор, пока условие ложно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937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Данный цикл не имеет условий выходов, поэтому в своём составе он должен иметь оператор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3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Необязательное предложение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 логин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MySQL,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который нужно использовать при проверке привилегий доступа для хранимого кода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которые имеют характеристику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SECURITY DEFINER (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смотри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characteristic).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Предложение DEFINER было добавлено в MySQL 5.0.20.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дано значение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это должно быть логином MySQL в формате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‘user_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’@'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host_name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(тот же самый формат используется в инструкции GRANT). Параметры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user_name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host_name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обязательны. CURRENT_USER также может быть дан как CURRENT_USER().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умолчанию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DEFINER=CURRENT_USER.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096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sp_name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хранимого кода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Символы допускаются такие же как и у переменных.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отличии от процедуры у функции параметры всегда принимаются как IN. IN здесь действует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action="ppaction://hlinkfile"/>
              </a:rPr>
              <a:t>аналогично как у процедуры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param_name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название параметра, а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его любой допустимый тип данных MySQL.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Предложение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указывает какой тип данных возвращает функция. </a:t>
            </a:r>
          </a:p>
          <a:p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любой допустимый тип данных MySQL. Возможность возвращать значения есть только у функции, но в отличии от процедуры, функция не может возвращать выборки (например ‘SELECT 1?, в функции нельзя сделать, но не запрещается использовать SELECT для заполнения переменных).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827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 инструкция используется, чтобы удалить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сохраненную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процедуру или функцию. То есть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определенная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подпрограмма будет удалена с сервера.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Предложение IF EXISTS является расширением MySQL. Это предотвращает ошибку, если процедура или функция не существует.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018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 инструкция используется, чтобы изменить характеристики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сохраненной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процедуры или функции. Изменить аргументы или тело функции и процедуры нельзя. По этому используйте конструкцию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{PROCEDURE | FUNCTION} IF EXISTS `routine`$$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 о хранимом коде, в том числе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хранится в `INFORMATION_SCHEMA`.`ROUTINES`.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DDBAB-922E-4AB6-8DB4-26AFEB6A154B}" type="slidenum">
              <a:rPr lang="ru-RU" smtClean="0"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32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16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83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80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027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801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8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47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99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45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36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11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42A862D-1720-424E-ABF7-AE5C2B6FD040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0B8300BF-D148-4CBD-A953-A0996756FC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64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vds-admin.ru/mysql/sistemnye-peremennye-mysql-servera-fail-mycn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Хранимые процедуры и функции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ТРиЗУБД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2ECF3-88FC-487E-937A-5918557BA60E}"/>
              </a:ext>
            </a:extLst>
          </p:cNvPr>
          <p:cNvSpPr txBox="1"/>
          <p:nvPr/>
        </p:nvSpPr>
        <p:spPr>
          <a:xfrm>
            <a:off x="372867" y="5229200"/>
            <a:ext cx="84249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 при выполнении рутинных операций требуется производить одинаковые запросы. Хранимые процедуры позволяют объединять последовательность таких запросов и сохранить их на сервере. После этого пользователю не придётся посылать на сервер последовательность запросов, достаточно отправить один запрос на выполнение хранимой процедуры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66170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Prepared Statements (</a:t>
            </a:r>
            <a:r>
              <a:rPr lang="ru-RU" b="1" dirty="0">
                <a:effectLst/>
              </a:rPr>
              <a:t>Готовые Инструкции)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1955664"/>
          </a:xfrm>
        </p:spPr>
        <p:txBody>
          <a:bodyPr/>
          <a:lstStyle/>
          <a:p>
            <a:pPr algn="just"/>
            <a:r>
              <a:rPr lang="ru-RU" dirty="0"/>
              <a:t>Операторы обработки готовых инструкций PREPARE, EXECUTE, USING дают возможность создать инструкцию в формате строки и выполнить её</a:t>
            </a:r>
          </a:p>
          <a:p>
            <a:pPr algn="just"/>
            <a:r>
              <a:rPr lang="ru-RU" dirty="0"/>
              <a:t>Это можно сравнить с функцией </a:t>
            </a:r>
            <a:r>
              <a:rPr lang="ru-RU" dirty="0" err="1"/>
              <a:t>eval</a:t>
            </a:r>
            <a:r>
              <a:rPr lang="ru-RU" dirty="0"/>
              <a:t>() в PHP или JS, но с возможностью безопасной вставки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96740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Синтаксис </a:t>
            </a:r>
            <a:r>
              <a:rPr lang="en-US" b="1" dirty="0"/>
              <a:t>PREPARE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/>
              <a:t>PREPARE </a:t>
            </a:r>
            <a:r>
              <a:rPr lang="en-US" sz="2800" dirty="0" err="1"/>
              <a:t>stmt_name</a:t>
            </a:r>
            <a:r>
              <a:rPr lang="en-US" sz="2800" dirty="0"/>
              <a:t> FROM </a:t>
            </a:r>
            <a:r>
              <a:rPr lang="en-US" sz="2800" dirty="0" err="1"/>
              <a:t>preparable_stmt</a:t>
            </a:r>
            <a:r>
              <a:rPr lang="en-US" sz="2800" dirty="0"/>
              <a:t> </a:t>
            </a:r>
            <a:endParaRPr lang="ru-RU" sz="2800" dirty="0"/>
          </a:p>
          <a:p>
            <a:pPr algn="just"/>
            <a:r>
              <a:rPr lang="en-US" sz="2800" dirty="0" err="1"/>
              <a:t>stmt_name</a:t>
            </a:r>
            <a:r>
              <a:rPr lang="en-US" sz="2800" dirty="0"/>
              <a:t> — </a:t>
            </a:r>
            <a:r>
              <a:rPr lang="ru-RU" sz="2800" dirty="0"/>
              <a:t>название готовой инструкции. </a:t>
            </a:r>
          </a:p>
          <a:p>
            <a:pPr algn="just"/>
            <a:r>
              <a:rPr lang="en-US" sz="2800" dirty="0" err="1"/>
              <a:t>stmt_name</a:t>
            </a:r>
            <a:r>
              <a:rPr lang="en-US" sz="2800" dirty="0"/>
              <a:t> </a:t>
            </a:r>
            <a:r>
              <a:rPr lang="ru-RU" sz="2800" dirty="0"/>
              <a:t>не является уже строкой.</a:t>
            </a:r>
          </a:p>
          <a:p>
            <a:pPr algn="just"/>
            <a:r>
              <a:rPr lang="en-US" sz="2800" dirty="0" err="1"/>
              <a:t>preparable_stmt</a:t>
            </a:r>
            <a:r>
              <a:rPr lang="en-US" sz="2800" dirty="0"/>
              <a:t> — </a:t>
            </a:r>
            <a:r>
              <a:rPr lang="ru-RU" sz="2800" dirty="0"/>
              <a:t>инструкции в строковом формате.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099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Синтаксис </a:t>
            </a:r>
            <a:r>
              <a:rPr lang="en-US" b="1" dirty="0"/>
              <a:t>EXECUTE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/>
              <a:t>EXECUTE </a:t>
            </a:r>
            <a:r>
              <a:rPr lang="ru-RU" b="1" dirty="0" err="1"/>
              <a:t>stmt_name</a:t>
            </a:r>
            <a:r>
              <a:rPr lang="ru-RU" b="1" dirty="0"/>
              <a:t> [USING @</a:t>
            </a:r>
            <a:r>
              <a:rPr lang="ru-RU" b="1" dirty="0" err="1"/>
              <a:t>var_name</a:t>
            </a:r>
            <a:r>
              <a:rPr lang="ru-RU" b="1" dirty="0"/>
              <a:t> [, @</a:t>
            </a:r>
            <a:r>
              <a:rPr lang="ru-RU" b="1" dirty="0" err="1"/>
              <a:t>var_name</a:t>
            </a:r>
            <a:r>
              <a:rPr lang="ru-RU" b="1" dirty="0"/>
              <a:t>] ...] </a:t>
            </a:r>
          </a:p>
          <a:p>
            <a:pPr algn="just"/>
            <a:r>
              <a:rPr lang="ru-RU" dirty="0"/>
              <a:t>Выполняет готовую инструкцию. </a:t>
            </a:r>
          </a:p>
          <a:p>
            <a:pPr algn="just"/>
            <a:r>
              <a:rPr lang="ru-RU" dirty="0"/>
              <a:t>Инструкция USING позволяет вставлять переменные в инструкцию. </a:t>
            </a:r>
          </a:p>
          <a:p>
            <a:pPr algn="just"/>
            <a:r>
              <a:rPr lang="ru-RU" dirty="0"/>
              <a:t>В этом случае в инструкции ставится «?», который при помощи USING заменятся на переменную.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1839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90C67-258D-459D-B90C-910224CF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09623B-DECC-40E7-814D-5E0548816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" y="484631"/>
            <a:ext cx="8285932" cy="209547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45B4A62-18C0-4D26-A7FB-71AEA2808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639504"/>
            <a:ext cx="2950096" cy="194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5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Синтаксис </a:t>
            </a:r>
            <a:r>
              <a:rPr lang="en-US" b="1" dirty="0"/>
              <a:t>DEALLOCATE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{DEALLOCATE | DROP} PREPARE </a:t>
            </a:r>
            <a:r>
              <a:rPr lang="en-US" dirty="0" err="1"/>
              <a:t>stmt_name</a:t>
            </a:r>
            <a:r>
              <a:rPr lang="en-US" dirty="0"/>
              <a:t> </a:t>
            </a:r>
            <a:endParaRPr lang="ru-RU" dirty="0"/>
          </a:p>
          <a:p>
            <a:pPr algn="just"/>
            <a:r>
              <a:rPr lang="ru-RU" dirty="0"/>
              <a:t>Удаляет ранее созданную готовую инструкцию.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9847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15D316B-CF80-4A33-85D1-E6B5C23E9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6" y="1059998"/>
            <a:ext cx="7667246" cy="195060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B9745-0F98-415D-AD4A-F3754527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92" y="4162031"/>
            <a:ext cx="3407762" cy="1767141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Пример 2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57C223-8481-415A-9A8B-3586E947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0" y="4170410"/>
            <a:ext cx="3524415" cy="1767141"/>
          </a:xfrm>
        </p:spPr>
        <p:txBody>
          <a:bodyPr anchor="ctr">
            <a:normAutofit/>
          </a:bodyPr>
          <a:lstStyle/>
          <a:p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1016772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Хранимые процедуры и 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– это подпрограммы, которые могут быть многократно вызваны в </a:t>
            </a:r>
            <a:r>
              <a:rPr lang="en-US" dirty="0"/>
              <a:t>SQL</a:t>
            </a:r>
            <a:r>
              <a:rPr lang="ru-RU" dirty="0"/>
              <a:t>-запросах и/или из других процедур и функций, тогда, когда это понадобится.</a:t>
            </a:r>
          </a:p>
          <a:p>
            <a:pPr marL="0" indent="0" algn="just">
              <a:buNone/>
            </a:pPr>
            <a:r>
              <a:rPr lang="ru-RU" dirty="0"/>
              <a:t>или</a:t>
            </a:r>
          </a:p>
          <a:p>
            <a:pPr algn="just"/>
            <a:r>
              <a:rPr lang="ru-RU" dirty="0"/>
              <a:t>Хранимые процедуры представляют собой набор команд SQL, которые могут компилироваться и храниться на сервере.</a:t>
            </a:r>
          </a:p>
        </p:txBody>
      </p:sp>
    </p:spTree>
    <p:extLst>
      <p:ext uri="{BB962C8B-B14F-4D97-AF65-F5344CB8AC3E}">
        <p14:creationId xmlns:p14="http://schemas.microsoft.com/office/powerpoint/2010/main" val="283036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Хранимые процедуры имеют ряд преимуществ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Повторное использование кода;</a:t>
            </a:r>
          </a:p>
          <a:p>
            <a:pPr lvl="0" algn="just"/>
            <a:r>
              <a:rPr lang="ru-RU" dirty="0"/>
              <a:t>Сокращение сетевого трафика;</a:t>
            </a:r>
          </a:p>
          <a:p>
            <a:pPr lvl="0" algn="just"/>
            <a:r>
              <a:rPr lang="ru-RU" dirty="0"/>
              <a:t>Безопасность (хранимая процедура гарантирует, что последовательность действий не приведёт к нарушению целостности данных);</a:t>
            </a:r>
          </a:p>
          <a:p>
            <a:pPr lvl="0" algn="just"/>
            <a:r>
              <a:rPr lang="ru-RU" dirty="0"/>
              <a:t>Простота доступа. Хранимые процедуры позволяют инкапсулировать сложный код и оформить его в виде простого вызова с осмысленным именем;</a:t>
            </a:r>
          </a:p>
          <a:p>
            <a:pPr lvl="0" algn="just"/>
            <a:r>
              <a:rPr lang="ru-RU" dirty="0"/>
              <a:t>Выполнение деловой логики: хранимые процедуры могут выполнять проверку условий выполнения заказа. Большая часть логики оформлена в виде хранимых процедур и не зависит от языка разработки внешнего приложения;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13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хранимой процедуры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CREATE</a:t>
            </a:r>
          </a:p>
          <a:p>
            <a:pPr marL="0" indent="0">
              <a:buNone/>
            </a:pPr>
            <a:r>
              <a:rPr lang="en-US" b="1" dirty="0"/>
              <a:t>   [DEFINER = { user | CURRENT_USER }]</a:t>
            </a:r>
          </a:p>
          <a:p>
            <a:pPr marL="0" indent="0">
              <a:buNone/>
            </a:pPr>
            <a:r>
              <a:rPr lang="en-US" b="1" dirty="0"/>
              <a:t>   PROCEDURE </a:t>
            </a:r>
            <a:r>
              <a:rPr lang="ru-RU" b="1" dirty="0" err="1"/>
              <a:t>имя_процедуры</a:t>
            </a:r>
            <a:r>
              <a:rPr lang="ru-RU" b="1" dirty="0"/>
              <a:t> </a:t>
            </a:r>
            <a:r>
              <a:rPr lang="en-US" b="1" dirty="0"/>
              <a:t>([</a:t>
            </a:r>
            <a:r>
              <a:rPr lang="ru-RU" b="1" dirty="0" err="1"/>
              <a:t>список_параметров</a:t>
            </a:r>
            <a:r>
              <a:rPr lang="en-US" b="1" dirty="0"/>
              <a:t>[,...]])</a:t>
            </a:r>
          </a:p>
          <a:p>
            <a:pPr marL="0" indent="0">
              <a:buNone/>
            </a:pPr>
            <a:r>
              <a:rPr lang="en-US" b="1" dirty="0"/>
              <a:t>   [</a:t>
            </a:r>
            <a:r>
              <a:rPr lang="ru-RU" b="1" dirty="0"/>
              <a:t>характеристика</a:t>
            </a:r>
            <a:r>
              <a:rPr lang="en-US" b="1" dirty="0"/>
              <a:t>]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ru-RU" b="1" dirty="0" err="1"/>
              <a:t>тело_процедуры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994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Необязательное предложение DEFINER определяет логин MySQL, который нужно использовать при проверке привилегий доступа для хранимого кода, которые имеют характеристику SQL SECURITY DEFINER</a:t>
            </a:r>
          </a:p>
          <a:p>
            <a:r>
              <a:rPr lang="ru-RU" dirty="0"/>
              <a:t>По умолчанию </a:t>
            </a:r>
            <a:r>
              <a:rPr lang="en-US" dirty="0"/>
              <a:t>DEFINER=CURRENT_USER.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121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Имя процедуры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Название хранимого кода. Символы допускаются такие же как и у переменных.</a:t>
            </a:r>
          </a:p>
        </p:txBody>
      </p:sp>
    </p:spTree>
    <p:extLst>
      <p:ext uri="{BB962C8B-B14F-4D97-AF65-F5344CB8AC3E}">
        <p14:creationId xmlns:p14="http://schemas.microsoft.com/office/powerpoint/2010/main" val="2908513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список параметров, каждый из которых позволяет передать в процедуру или из неё входные данные или результат работы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2440043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[IN | OUT | INOUT ] </a:t>
            </a:r>
            <a:br>
              <a:rPr lang="ru-RU" dirty="0"/>
            </a:br>
            <a:r>
              <a:rPr lang="en-US" dirty="0" err="1"/>
              <a:t>param_name</a:t>
            </a:r>
            <a:r>
              <a:rPr lang="en-US" dirty="0"/>
              <a:t> type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IN</a:t>
            </a:r>
            <a:r>
              <a:rPr lang="ru-RU" dirty="0"/>
              <a:t>  - данные передаются  строго внутрь хранимой процедуры,;</a:t>
            </a:r>
          </a:p>
          <a:p>
            <a:pPr lvl="0" algn="just"/>
            <a:r>
              <a:rPr lang="en-US" dirty="0"/>
              <a:t>OUT</a:t>
            </a:r>
            <a:r>
              <a:rPr lang="ru-RU" dirty="0"/>
              <a:t>  - данные передаются строго из хранимой процедуры;</a:t>
            </a:r>
          </a:p>
          <a:p>
            <a:pPr lvl="0" algn="just"/>
            <a:r>
              <a:rPr lang="en-US" dirty="0"/>
              <a:t>INOUT</a:t>
            </a:r>
            <a:r>
              <a:rPr lang="ru-RU" dirty="0"/>
              <a:t> – значение этого параметра как принимается во внимание внутри процедуры, так и сохраняет своё значение по выходу из неё.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691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данные передаются  строго внутрь хранимой процедуры, но если параметру с данным модификатором внутри функции присваивается новое значение, по выходу из неё оно не сохраняется и параметр принимает значение, которое он имел до вызова процедуры;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750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OUT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данные передаются строго из хранимой процедуры, даже если параметр имеет какое-нибудь начальное значение, внутри хранимой процедуры оно не принимается во внимание. </a:t>
            </a:r>
          </a:p>
          <a:p>
            <a:pPr algn="just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Если параметр изменялся внутри процедуры, после вызова процедуры параметр имеет значение, присвоенное  ему внутри процедуры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90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INOUT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значение этого параметра как принимается во внимание внутри процедуры, так и сохраняет своё значение по выходу из неё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8529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умолчанию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если ни один из модификаторов не указан, то считается, что параметр объявлен с ключевым словом </a:t>
            </a:r>
            <a:r>
              <a:rPr lang="en-US" dirty="0"/>
              <a:t>IN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9511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Список аргументов, заключённых в круглые скобки является обязательным, если они отсутствуют, то следует использовать пустой список аргументов ().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1052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 SQL</a:t>
            </a:r>
            <a:br>
              <a:rPr lang="en-US" dirty="0"/>
            </a:br>
            <a:r>
              <a:rPr lang="en-US" dirty="0"/>
              <a:t>| [NOT] DETERMINISTIC</a:t>
            </a:r>
            <a:br>
              <a:rPr lang="en-US" dirty="0"/>
            </a:br>
            <a:r>
              <a:rPr lang="en-US" dirty="0"/>
              <a:t>| { CONTAINS SQL | NO SQL | READS SQL DATA | MODIFIES SQL DATA }</a:t>
            </a:r>
            <a:br>
              <a:rPr lang="en-US" dirty="0"/>
            </a:br>
            <a:r>
              <a:rPr lang="en-US" dirty="0"/>
              <a:t>| SQL SECURITY { DEFINER | INVOKER }</a:t>
            </a:r>
            <a:br>
              <a:rPr lang="en-US" dirty="0"/>
            </a:br>
            <a:r>
              <a:rPr lang="en-US" dirty="0"/>
              <a:t>| COMMENT 'string'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2344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Характеристики DETERMINISTIC и NOT DETERMINISTIC указывают, производит ли функция всегда тот же самый результат для входных данных. </a:t>
            </a:r>
          </a:p>
          <a:p>
            <a:pPr algn="just"/>
            <a:r>
              <a:rPr lang="ru-RU" dirty="0"/>
              <a:t>Значение по умолчанию: NOT DETERMINISTIC, если никакая характеристика не дана.</a:t>
            </a:r>
          </a:p>
        </p:txBody>
      </p:sp>
    </p:spTree>
    <p:extLst>
      <p:ext uri="{BB962C8B-B14F-4D97-AF65-F5344CB8AC3E}">
        <p14:creationId xmlns:p14="http://schemas.microsoft.com/office/powerpoint/2010/main" val="1891534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Характеристики CONTAINS SQL, NO SQL, READS SQL DATA и MODIFIES SQL DATA обеспечивают информацию относительно того, читает ли функция или записывает данные. </a:t>
            </a:r>
          </a:p>
          <a:p>
            <a:pPr algn="just"/>
            <a:r>
              <a:rPr lang="ru-RU" dirty="0"/>
              <a:t>NO SQL или READS SQL DATA указывают, что функция не изменяет данные. </a:t>
            </a:r>
          </a:p>
          <a:p>
            <a:pPr algn="just"/>
            <a:r>
              <a:rPr lang="ru-RU" dirty="0"/>
              <a:t>Значение по умолчанию: CONTAINS SQL, если никакая характеристика не дана.</a:t>
            </a:r>
          </a:p>
        </p:txBody>
      </p:sp>
    </p:spTree>
    <p:extLst>
      <p:ext uri="{BB962C8B-B14F-4D97-AF65-F5344CB8AC3E}">
        <p14:creationId xmlns:p14="http://schemas.microsoft.com/office/powerpoint/2010/main" val="243768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Характеристика SQL SECURITY может применяться для определения, должна ли процедура выполняться с использованием привилегий пользователя, создающего эту процедуру, или привилегий пользователя, ее вызывающего. </a:t>
            </a:r>
          </a:p>
          <a:p>
            <a:pPr algn="just"/>
            <a:r>
              <a:rPr lang="ru-RU" dirty="0"/>
              <a:t>Значение по умолчанию – DEFINER.</a:t>
            </a:r>
          </a:p>
        </p:txBody>
      </p:sp>
    </p:spTree>
    <p:extLst>
      <p:ext uri="{BB962C8B-B14F-4D97-AF65-F5344CB8AC3E}">
        <p14:creationId xmlns:p14="http://schemas.microsoft.com/office/powerpoint/2010/main" val="945911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Конструкция COMMENT является расширением MySQL и может использоваться для описания хранимой процедуры. </a:t>
            </a:r>
          </a:p>
          <a:p>
            <a:pPr algn="just"/>
            <a:r>
              <a:rPr lang="ru-RU" dirty="0"/>
              <a:t>Такая информация отображается операторами SHOW CREATE PROCEDURE.</a:t>
            </a:r>
          </a:p>
        </p:txBody>
      </p:sp>
    </p:spTree>
    <p:extLst>
      <p:ext uri="{BB962C8B-B14F-4D97-AF65-F5344CB8AC3E}">
        <p14:creationId xmlns:p14="http://schemas.microsoft.com/office/powerpoint/2010/main" val="1670042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 умолчанию характеристика имеет следующие значение: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 DETERMINISTIC</a:t>
            </a:r>
          </a:p>
          <a:p>
            <a:pPr marL="0" indent="0">
              <a:buNone/>
            </a:pPr>
            <a:r>
              <a:rPr lang="en-US" dirty="0"/>
              <a:t>CONTAINS SQL</a:t>
            </a:r>
          </a:p>
          <a:p>
            <a:pPr marL="0" indent="0">
              <a:buNone/>
            </a:pPr>
            <a:r>
              <a:rPr lang="en-US" dirty="0"/>
              <a:t>SQL SECURITY DEFINER</a:t>
            </a:r>
          </a:p>
          <a:p>
            <a:pPr marL="0" indent="0">
              <a:buNone/>
            </a:pPr>
            <a:r>
              <a:rPr lang="en-US" dirty="0"/>
              <a:t>COMMENT ''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1898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Тело процедуры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Состоит из допустимой инструкций хранимого кода SQL</a:t>
            </a:r>
          </a:p>
          <a:p>
            <a:pPr lvl="1" algn="just"/>
            <a:r>
              <a:rPr lang="ru-RU" dirty="0"/>
              <a:t>Это может быть простая инструкция типа SELECT или INSERT , либо это может быть составная инструкция, использующая BEGIN и END. </a:t>
            </a:r>
          </a:p>
          <a:p>
            <a:pPr lvl="1" algn="just"/>
            <a:r>
              <a:rPr lang="ru-RU" dirty="0"/>
              <a:t>Составные инструкции могут содержать объявления, циклы и другие инструкции управляющей структуры. Некоторые инструкции не допускаются в хранимых процедурах.</a:t>
            </a:r>
          </a:p>
        </p:txBody>
      </p:sp>
    </p:spTree>
    <p:extLst>
      <p:ext uri="{BB962C8B-B14F-4D97-AF65-F5344CB8AC3E}">
        <p14:creationId xmlns:p14="http://schemas.microsoft.com/office/powerpoint/2010/main" val="3050076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Вызов процедуры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</a:t>
            </a:r>
            <a:r>
              <a:rPr lang="en-US" dirty="0" err="1"/>
              <a:t>sp_name</a:t>
            </a:r>
            <a:r>
              <a:rPr lang="en-US" dirty="0"/>
              <a:t>([parameter[,...]])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1606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Переменные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Для конкретного процесса пользователь может определить локальные переменные, которые в MySQL обозначаются как @</a:t>
            </a:r>
            <a:r>
              <a:rPr lang="ru-RU" dirty="0" err="1"/>
              <a:t>variablename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Имя локальной переменной может состоять из буквенно-цифровых символов установленного в данное время алфавита и символов ‘_’, ‘$’, и ‘.’.</a:t>
            </a:r>
          </a:p>
        </p:txBody>
      </p:sp>
    </p:spTree>
    <p:extLst>
      <p:ext uri="{BB962C8B-B14F-4D97-AF65-F5344CB8AC3E}">
        <p14:creationId xmlns:p14="http://schemas.microsoft.com/office/powerpoint/2010/main" val="2576280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Кодировка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Тип кодировки по умолчанию — </a:t>
            </a:r>
            <a:r>
              <a:rPr lang="ru-RU" b="1" dirty="0"/>
              <a:t>ISO-8859-1 Latin1</a:t>
            </a:r>
            <a:r>
              <a:rPr lang="ru-RU" dirty="0"/>
              <a:t>, он может быть изменен указанием иного типа в аргументе параметра —</a:t>
            </a:r>
            <a:r>
              <a:rPr lang="ru-RU" b="1" dirty="0" err="1"/>
              <a:t>default-character-set</a:t>
            </a:r>
            <a:r>
              <a:rPr lang="ru-RU" b="1" dirty="0"/>
              <a:t> </a:t>
            </a:r>
            <a:r>
              <a:rPr lang="ru-RU" b="1" dirty="0" err="1"/>
              <a:t>mysqld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0368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Все локальные переменные содержат значение </a:t>
            </a:r>
            <a:r>
              <a:rPr lang="ru-RU" b="1" dirty="0"/>
              <a:t>NULL</a:t>
            </a:r>
            <a:r>
              <a:rPr lang="ru-RU" dirty="0"/>
              <a:t> по умолчанию; в них могут храниться целые числа, вещественные числа или строковые величины. </a:t>
            </a:r>
          </a:p>
          <a:p>
            <a:pPr algn="just"/>
            <a:r>
              <a:rPr lang="ru-RU" dirty="0"/>
              <a:t>При запуске конкретного процесса все объявленные в нем локальные переменные автоматически активизируются.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33974125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Локальные переменные процедуры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Локальную переменную можно объявить, используя синтаксис команды SET:</a:t>
            </a:r>
          </a:p>
          <a:p>
            <a:r>
              <a:rPr lang="en-US" dirty="0"/>
              <a:t>SET @variable= </a:t>
            </a:r>
            <a:br>
              <a:rPr lang="ru-RU" dirty="0"/>
            </a:br>
            <a:r>
              <a:rPr lang="ru-RU" dirty="0"/>
              <a:t>		</a:t>
            </a:r>
            <a:r>
              <a:rPr lang="en-US" dirty="0"/>
              <a:t>{ integer expression </a:t>
            </a:r>
            <a:br>
              <a:rPr lang="ru-RU" dirty="0"/>
            </a:br>
            <a:r>
              <a:rPr lang="ru-RU" dirty="0"/>
              <a:t>		</a:t>
            </a:r>
            <a:r>
              <a:rPr lang="en-US" dirty="0"/>
              <a:t>| real expression </a:t>
            </a:r>
            <a:br>
              <a:rPr lang="ru-RU" dirty="0"/>
            </a:br>
            <a:r>
              <a:rPr lang="ru-RU" dirty="0"/>
              <a:t>		</a:t>
            </a:r>
            <a:r>
              <a:rPr lang="en-US" dirty="0"/>
              <a:t>| string expression } </a:t>
            </a:r>
            <a:br>
              <a:rPr lang="ru-RU" dirty="0"/>
            </a:br>
            <a:r>
              <a:rPr lang="en-US" dirty="0"/>
              <a:t>[,@variable= ...]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2130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/>
              <a:t>Локальные переменные не требуют инициализации. </a:t>
            </a:r>
          </a:p>
          <a:p>
            <a:pPr algn="just"/>
            <a:r>
              <a:rPr lang="ru-RU" sz="2400" dirty="0"/>
              <a:t>Они содержат значение NULL по умолчанию; в них могут храниться целые числа, вещественные числа или строковые величины. </a:t>
            </a:r>
          </a:p>
          <a:p>
            <a:pPr algn="just"/>
            <a:r>
              <a:rPr lang="ru-RU" sz="2400" dirty="0"/>
              <a:t>При запуске конкретного процесса все объявленные в нем локальные переменные автоматически активизируются.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2543929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объявления переменной через SET: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@</a:t>
            </a:r>
            <a:r>
              <a:rPr lang="en-US" dirty="0" err="1"/>
              <a:t>myvar</a:t>
            </a:r>
            <a:r>
              <a:rPr lang="en-US" dirty="0"/>
              <a:t> = "Hello, </a:t>
            </a:r>
            <a:r>
              <a:rPr lang="en-US" dirty="0" err="1"/>
              <a:t>Aco</a:t>
            </a:r>
            <a:r>
              <a:rPr lang="en-US" dirty="0"/>
              <a:t>!";</a:t>
            </a:r>
            <a:endParaRPr lang="ru-RU" dirty="0"/>
          </a:p>
          <a:p>
            <a:r>
              <a:rPr lang="en-US" dirty="0"/>
              <a:t>SELECT @</a:t>
            </a:r>
            <a:r>
              <a:rPr lang="en-US" dirty="0" err="1"/>
              <a:t>myvar</a:t>
            </a:r>
            <a:r>
              <a:rPr lang="en-US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3278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@t1:=(@t2:=1)+@t3:=4, @t1, @t2, @t3;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Можно также определить значение переменной иным способом, без команды SET. </a:t>
            </a:r>
            <a:endParaRPr lang="en-US" dirty="0"/>
          </a:p>
          <a:p>
            <a:pPr algn="just"/>
            <a:r>
              <a:rPr lang="ru-RU" dirty="0"/>
              <a:t>Однако в этом случае в качестве оператора присвоения более предпочтительно использовать оператор ‘:=’, чем оператор ‘=’, так как последний зарезервирован для сравнения выражений, не связанных с установкой переменных</a:t>
            </a:r>
          </a:p>
        </p:txBody>
      </p:sp>
    </p:spTree>
    <p:extLst>
      <p:ext uri="{BB962C8B-B14F-4D97-AF65-F5344CB8AC3E}">
        <p14:creationId xmlns:p14="http://schemas.microsoft.com/office/powerpoint/2010/main" val="2783244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Введенные пользователем переменные могут применяться только в составе выражений и там, где выражения допустимы. </a:t>
            </a:r>
          </a:p>
          <a:p>
            <a:pPr algn="just"/>
            <a:r>
              <a:rPr lang="ru-RU" dirty="0"/>
              <a:t>В область их применения в данное время не включается контекст, в котором явно требуется число, например, условие LIMIT в команде SELECT или выражение IGNORE </a:t>
            </a:r>
            <a:r>
              <a:rPr lang="ru-RU" dirty="0" err="1"/>
              <a:t>number</a:t>
            </a:r>
            <a:r>
              <a:rPr lang="ru-RU" dirty="0"/>
              <a:t> LINES в команде LOAD DATA.</a:t>
            </a:r>
          </a:p>
        </p:txBody>
      </p:sp>
    </p:spTree>
    <p:extLst>
      <p:ext uri="{BB962C8B-B14F-4D97-AF65-F5344CB8AC3E}">
        <p14:creationId xmlns:p14="http://schemas.microsoft.com/office/powerpoint/2010/main" val="2664660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Преимущества использования переменных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/>
              <a:t>Возможность сохранять промежуточные результаты в переменных и оперировать им по ходу дальнейшего выполнения запроса</a:t>
            </a:r>
            <a:r>
              <a:rPr lang="en-US" sz="2400" dirty="0"/>
              <a:t>;</a:t>
            </a:r>
          </a:p>
          <a:p>
            <a:pPr algn="just"/>
            <a:r>
              <a:rPr lang="ru-RU" sz="2400" dirty="0"/>
              <a:t> Позволяют значительно ускорить выполнение некоторых запросов (за счет меньшего количества сканирований таблицы), </a:t>
            </a:r>
          </a:p>
          <a:p>
            <a:pPr algn="just"/>
            <a:r>
              <a:rPr lang="ru-RU" sz="2400" dirty="0"/>
              <a:t>Позволяет выполнять такие запросы, которые в стандартной реляционной модели реализуются очень сложно или вовсе не реализуются.</a:t>
            </a:r>
          </a:p>
        </p:txBody>
      </p:sp>
    </p:spTree>
    <p:extLst>
      <p:ext uri="{BB962C8B-B14F-4D97-AF65-F5344CB8AC3E}">
        <p14:creationId xmlns:p14="http://schemas.microsoft.com/office/powerpoint/2010/main" val="418364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Недостатки использования пользовательских переменных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/>
              <a:t>Сложная переносимость на другие СУБД (механизм ПП служит определенной надстройкой над реляционной моделью баз данных в рамках СУБД MySQL). </a:t>
            </a:r>
          </a:p>
          <a:p>
            <a:pPr algn="just"/>
            <a:r>
              <a:rPr lang="ru-RU" sz="2400" dirty="0"/>
              <a:t>Поведение пользовательских переменных будет зависеть от порядка выполнения сложного запроса, который может меняться оптимизатором MySQL.</a:t>
            </a:r>
          </a:p>
        </p:txBody>
      </p:sp>
    </p:spTree>
    <p:extLst>
      <p:ext uri="{BB962C8B-B14F-4D97-AF65-F5344CB8AC3E}">
        <p14:creationId xmlns:p14="http://schemas.microsoft.com/office/powerpoint/2010/main" val="1559476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Области видимости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Существуют два вида переменных: пользовательские переменные и переменные хранимого кода.</a:t>
            </a:r>
          </a:p>
          <a:p>
            <a:pPr algn="just"/>
            <a:r>
              <a:rPr lang="ru-RU" dirty="0"/>
              <a:t>Пользовательские переменные создаются в момент присвоения им значения. Это значение хранится в переменной до завершения соединения с сервером.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Рукописный ввод 3"/>
              <p14:cNvContentPartPr/>
              <p14:nvPr/>
            </p14:nvContentPartPr>
            <p14:xfrm>
              <a:off x="1847520" y="4425840"/>
              <a:ext cx="360" cy="360"/>
            </p14:xfrm>
          </p:contentPart>
        </mc:Choice>
        <mc:Fallback xmlns="">
          <p:pic>
            <p:nvPicPr>
              <p:cNvPr id="4" name="Рукописный ввод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8160" y="44164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264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@</a:t>
            </a:r>
            <a:r>
              <a:rPr lang="en-US" dirty="0" err="1"/>
              <a:t>var</a:t>
            </a:r>
            <a:r>
              <a:rPr lang="en-US" dirty="0"/>
              <a:t>=123;</a:t>
            </a:r>
          </a:p>
          <a:p>
            <a:endParaRPr lang="en-US" dirty="0"/>
          </a:p>
          <a:p>
            <a:r>
              <a:rPr lang="en-US" dirty="0"/>
              <a:t>SELECT @</a:t>
            </a:r>
            <a:r>
              <a:rPr lang="en-US" dirty="0" err="1"/>
              <a:t>var</a:t>
            </a:r>
            <a:r>
              <a:rPr lang="en-US" dirty="0"/>
              <a:t>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5831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</a:t>
            </a:r>
            <a:r>
              <a:rPr lang="ru-RU" dirty="0" err="1"/>
              <a:t>переменых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Переменные хранимого кода же напротив — имеют ограниченную область видимости: в подпрограмме создавшей её. </a:t>
            </a:r>
          </a:p>
          <a:p>
            <a:pPr algn="just"/>
            <a:r>
              <a:rPr lang="ru-RU" dirty="0"/>
              <a:t>Они должны объявляться в хранимом коде и имеют совершенно определенный тип данных.</a:t>
            </a:r>
            <a:endParaRPr lang="en-US" dirty="0"/>
          </a:p>
          <a:p>
            <a:pPr algn="just"/>
            <a:r>
              <a:rPr lang="ru-RU" dirty="0"/>
              <a:t>MySQL сервер поддерживает два типа переменных, глобальные и сеансовые.</a:t>
            </a:r>
          </a:p>
          <a:p>
            <a:pPr lvl="1" algn="just"/>
            <a:r>
              <a:rPr lang="ru-RU" b="1" dirty="0"/>
              <a:t>Глобальные переменные </a:t>
            </a:r>
            <a:r>
              <a:rPr lang="ru-RU" dirty="0"/>
              <a:t>- инициализируются при старте MySQL сервера, получая значения по умолчанию.</a:t>
            </a:r>
          </a:p>
          <a:p>
            <a:pPr lvl="1" algn="just"/>
            <a:r>
              <a:rPr lang="ru-RU" b="1" dirty="0"/>
              <a:t>Сеансовые переменные </a:t>
            </a:r>
            <a:r>
              <a:rPr lang="ru-RU" dirty="0"/>
              <a:t>- создаются для каждого соединения клиента с сервером и получают значения, установленные для глобальных переменных</a:t>
            </a:r>
          </a:p>
        </p:txBody>
      </p:sp>
    </p:spTree>
    <p:extLst>
      <p:ext uri="{BB962C8B-B14F-4D97-AF65-F5344CB8AC3E}">
        <p14:creationId xmlns:p14="http://schemas.microsoft.com/office/powerpoint/2010/main" val="38896676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Время жизни переменных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Переменные хранимого кода живут до завершении процедуры/функции/триггера в которых они объявлены. </a:t>
            </a:r>
          </a:p>
          <a:p>
            <a:pPr algn="just"/>
            <a:r>
              <a:rPr lang="ru-RU" dirty="0"/>
              <a:t>Пользовательские переменные видимы только в текущей сессии</a:t>
            </a:r>
          </a:p>
        </p:txBody>
      </p:sp>
    </p:spTree>
    <p:extLst>
      <p:ext uri="{BB962C8B-B14F-4D97-AF65-F5344CB8AC3E}">
        <p14:creationId xmlns:p14="http://schemas.microsoft.com/office/powerpoint/2010/main" val="30321192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Системные переменные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специфичные для потока,</a:t>
            </a:r>
            <a:r>
              <a:rPr lang="en-US" dirty="0"/>
              <a:t> </a:t>
            </a:r>
            <a:r>
              <a:rPr lang="ru-RU" dirty="0"/>
              <a:t>которые уникальны для данного соединения</a:t>
            </a:r>
          </a:p>
          <a:p>
            <a:pPr algn="just"/>
            <a:r>
              <a:rPr lang="ru-RU" dirty="0"/>
              <a:t>глобальные переменные, которые предназначаются для управления глобальными событиями.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297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переменные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Все глобальные переменные инициализируются из командной строки и файлов опций</a:t>
            </a:r>
          </a:p>
          <a:p>
            <a:pPr algn="just"/>
            <a:r>
              <a:rPr lang="ru-RU" dirty="0"/>
              <a:t>Можно изменять значения с помощью SET GLOBAL.</a:t>
            </a:r>
          </a:p>
          <a:p>
            <a:pPr lvl="1" algn="just"/>
            <a:r>
              <a:rPr lang="en-US" dirty="0"/>
              <a:t>SET GLOBAL </a:t>
            </a:r>
            <a:r>
              <a:rPr lang="en-US" dirty="0" err="1"/>
              <a:t>read_buffer_size</a:t>
            </a:r>
            <a:r>
              <a:rPr lang="en-US" dirty="0"/>
              <a:t>=16384\g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3691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B7D7E-A111-4965-8FF2-A4F66D51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Системные переменные </a:t>
            </a:r>
            <a:r>
              <a:rPr lang="en-US" dirty="0"/>
              <a:t>MySQL </a:t>
            </a:r>
            <a:r>
              <a:rPr lang="ru-RU" dirty="0"/>
              <a:t>сервера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B9419F-5566-4287-84B8-F788AC9D5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err="1"/>
              <a:t>port</a:t>
            </a:r>
            <a:r>
              <a:rPr lang="ru-RU" dirty="0"/>
              <a:t> порт, прослушиваемый MySQL сервером. Значение по умолчанию 3306</a:t>
            </a:r>
          </a:p>
          <a:p>
            <a:r>
              <a:rPr lang="en-US" dirty="0"/>
              <a:t>Version</a:t>
            </a:r>
            <a:r>
              <a:rPr lang="ru-RU" dirty="0"/>
              <a:t> содержит версию </a:t>
            </a:r>
            <a:r>
              <a:rPr lang="en-US" dirty="0"/>
              <a:t>MySQL </a:t>
            </a:r>
            <a:r>
              <a:rPr lang="ru-RU" dirty="0"/>
              <a:t>сервера</a:t>
            </a:r>
          </a:p>
          <a:p>
            <a:endParaRPr lang="ru-RU" dirty="0"/>
          </a:p>
          <a:p>
            <a:r>
              <a:rPr lang="en-US" dirty="0">
                <a:hlinkClick r:id="rId3"/>
              </a:rPr>
              <a:t>https://vds-admin.ru/mysql/sistemnye-peremennye-mysql-servera-fail-mycnf</a:t>
            </a:r>
            <a:r>
              <a:rPr lang="ru-RU"/>
              <a:t>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272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Тело процедуры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Тело процедуры состоит из составного оператора </a:t>
            </a:r>
            <a:r>
              <a:rPr lang="en-US" dirty="0"/>
              <a:t>BEGIN</a:t>
            </a:r>
            <a:r>
              <a:rPr lang="ru-RU" dirty="0"/>
              <a:t> … </a:t>
            </a:r>
            <a:r>
              <a:rPr lang="en-US" dirty="0"/>
              <a:t>END</a:t>
            </a:r>
            <a:r>
              <a:rPr lang="ru-RU" dirty="0"/>
              <a:t>, внутри которого могут располагаться другие операторы, в т.ч. и другие составные операторы </a:t>
            </a:r>
            <a:r>
              <a:rPr lang="en-US" dirty="0"/>
              <a:t>BEGIN</a:t>
            </a:r>
            <a:r>
              <a:rPr lang="ru-RU" dirty="0"/>
              <a:t> … </a:t>
            </a:r>
            <a:r>
              <a:rPr lang="en-US" dirty="0"/>
              <a:t>END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[</a:t>
            </a:r>
            <a:r>
              <a:rPr lang="en-US" dirty="0"/>
              <a:t>label</a:t>
            </a:r>
            <a:r>
              <a:rPr lang="ru-RU" dirty="0"/>
              <a:t>: ] </a:t>
            </a:r>
            <a:r>
              <a:rPr lang="en-US" dirty="0"/>
              <a:t>BEGIN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statements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END</a:t>
            </a:r>
            <a:r>
              <a:rPr lang="ru-RU" dirty="0"/>
              <a:t> [</a:t>
            </a:r>
            <a:r>
              <a:rPr lang="en-US" dirty="0"/>
              <a:t>label</a:t>
            </a:r>
            <a:r>
              <a:rPr lang="ru-RU" dirty="0"/>
              <a:t>]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9227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Если оператор начинается с необязательной метки </a:t>
            </a:r>
            <a:r>
              <a:rPr lang="en-US" dirty="0"/>
              <a:t>label</a:t>
            </a:r>
            <a:r>
              <a:rPr lang="ru-RU" dirty="0"/>
              <a:t>, в качестве которой может выступать любое уникальное имя, то он может заканчиваться выражением </a:t>
            </a:r>
            <a:r>
              <a:rPr lang="en-US" dirty="0"/>
              <a:t>END label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1505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Если хранимая процедура содержит только один запрос, то можно не использовать составной оператор </a:t>
            </a:r>
            <a:r>
              <a:rPr lang="en-US" dirty="0"/>
              <a:t>BEGIN</a:t>
            </a:r>
            <a:r>
              <a:rPr lang="ru-RU" dirty="0"/>
              <a:t> … </a:t>
            </a:r>
            <a:r>
              <a:rPr lang="en-US" dirty="0"/>
              <a:t>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1442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Перенаправление символа окончания запроса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Обязательный символ (;) в конце каждого запроса воспринимается консольным клиентом как сигнал отправки запроса на сервер. </a:t>
            </a:r>
          </a:p>
          <a:p>
            <a:pPr algn="just"/>
            <a:r>
              <a:rPr lang="ru-RU" dirty="0"/>
              <a:t>При работе с хранимыми процедурами следует переопределить разделитель запросов при помощи параметра –</a:t>
            </a:r>
            <a:r>
              <a:rPr lang="en-US" dirty="0"/>
              <a:t>delimiter</a:t>
            </a:r>
            <a:r>
              <a:rPr lang="ru-RU" dirty="0"/>
              <a:t>=// консольного клиента </a:t>
            </a:r>
            <a:r>
              <a:rPr lang="en-US" dirty="0" err="1"/>
              <a:t>mysql</a:t>
            </a:r>
            <a:r>
              <a:rPr lang="ru-RU" dirty="0"/>
              <a:t>.  </a:t>
            </a:r>
          </a:p>
          <a:p>
            <a:pPr algn="just"/>
            <a:r>
              <a:rPr lang="ru-RU" dirty="0"/>
              <a:t>В этом случае для обозначения ввода вместо (;) следует использовать последовательность //.</a:t>
            </a:r>
          </a:p>
        </p:txBody>
      </p:sp>
    </p:spTree>
    <p:extLst>
      <p:ext uri="{BB962C8B-B14F-4D97-AF65-F5344CB8AC3E}">
        <p14:creationId xmlns:p14="http://schemas.microsoft.com/office/powerpoint/2010/main" val="1785923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09781-BD43-4768-BCD7-D1F758E49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DBCBA-49A4-473F-833E-8A8C868BA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D5D82A-CCB9-48B7-88CE-513CD3C35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014"/>
            <a:ext cx="9144000" cy="624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Перенаправление символа окончания запроса: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mysql</a:t>
            </a:r>
            <a:r>
              <a:rPr lang="ru-RU" b="1" dirty="0"/>
              <a:t> -u </a:t>
            </a:r>
            <a:r>
              <a:rPr lang="ru-RU" b="1" dirty="0" err="1"/>
              <a:t>root</a:t>
            </a:r>
            <a:r>
              <a:rPr lang="ru-RU" b="1" dirty="0"/>
              <a:t> --</a:t>
            </a:r>
            <a:r>
              <a:rPr lang="ru-RU" b="1" dirty="0" err="1"/>
              <a:t>delimiter</a:t>
            </a:r>
            <a:r>
              <a:rPr lang="ru-RU" b="1" dirty="0"/>
              <a:t>=//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182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u="sng" dirty="0"/>
              <a:t>Имя хранимой процедуры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u="sng" dirty="0"/>
              <a:t>не может превышать 64 символа и не зависит от регистра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1652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Синтаксис хранимого кода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DELIMITER $$</a:t>
            </a:r>
          </a:p>
          <a:p>
            <a:pPr marL="0" indent="0">
              <a:buNone/>
            </a:pPr>
            <a:r>
              <a:rPr lang="en-US" dirty="0"/>
              <a:t>CREATE PROCEDURE </a:t>
            </a:r>
            <a:r>
              <a:rPr lang="en-US" dirty="0" err="1"/>
              <a:t>someproc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# ...</a:t>
            </a:r>
          </a:p>
          <a:p>
            <a:pPr marL="0" indent="0">
              <a:buNone/>
            </a:pPr>
            <a:r>
              <a:rPr lang="en-US" dirty="0"/>
              <a:t>  SELECT 1;</a:t>
            </a:r>
          </a:p>
          <a:p>
            <a:pPr marL="0" indent="0">
              <a:buNone/>
            </a:pPr>
            <a:r>
              <a:rPr lang="en-US" dirty="0"/>
              <a:t>  # ...</a:t>
            </a:r>
          </a:p>
          <a:p>
            <a:pPr marL="0" indent="0">
              <a:buNone/>
            </a:pPr>
            <a:r>
              <a:rPr lang="en-US" dirty="0"/>
              <a:t>END$$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CALL </a:t>
            </a:r>
            <a:r>
              <a:rPr lang="en-US" dirty="0" err="1"/>
              <a:t>someproc</a:t>
            </a:r>
            <a:r>
              <a:rPr lang="en-US" dirty="0"/>
              <a:t>() # </a:t>
            </a:r>
            <a:r>
              <a:rPr lang="ru-RU" dirty="0"/>
              <a:t>Выведет 1</a:t>
            </a:r>
          </a:p>
        </p:txBody>
      </p:sp>
    </p:spTree>
    <p:extLst>
      <p:ext uri="{BB962C8B-B14F-4D97-AF65-F5344CB8AC3E}">
        <p14:creationId xmlns:p14="http://schemas.microsoft.com/office/powerpoint/2010/main" val="8611947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Конструкция </a:t>
            </a:r>
            <a:r>
              <a:rPr lang="en-US" b="1" dirty="0">
                <a:effectLst/>
              </a:rPr>
              <a:t>BEGIN … END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[</a:t>
            </a:r>
            <a:r>
              <a:rPr lang="ru-RU" dirty="0" err="1"/>
              <a:t>begin_label</a:t>
            </a:r>
            <a:r>
              <a:rPr lang="ru-RU" dirty="0"/>
              <a:t>:] BEGIN</a:t>
            </a:r>
          </a:p>
          <a:p>
            <a:pPr marL="0" indent="0">
              <a:buNone/>
            </a:pPr>
            <a:r>
              <a:rPr lang="ru-RU" dirty="0"/>
              <a:t>   [</a:t>
            </a:r>
            <a:r>
              <a:rPr lang="ru-RU" dirty="0" err="1"/>
              <a:t>statement_list</a:t>
            </a:r>
            <a:r>
              <a:rPr lang="ru-RU" dirty="0"/>
              <a:t>]</a:t>
            </a:r>
          </a:p>
          <a:p>
            <a:pPr marL="0" indent="0">
              <a:buNone/>
            </a:pPr>
            <a:r>
              <a:rPr lang="ru-RU" dirty="0"/>
              <a:t>END [</a:t>
            </a:r>
            <a:r>
              <a:rPr lang="ru-RU" dirty="0" err="1"/>
              <a:t>end_label</a:t>
            </a:r>
            <a:r>
              <a:rPr lang="ru-RU" dirty="0"/>
              <a:t>]</a:t>
            </a:r>
          </a:p>
          <a:p>
            <a:endParaRPr lang="ru-RU" dirty="0"/>
          </a:p>
          <a:p>
            <a:pPr algn="just"/>
            <a:r>
              <a:rPr lang="ru-RU" dirty="0"/>
              <a:t>Хранимый код может включать множественные инструкции, благодаря состав­ному оператору BEGIN…END, который и определяет блок инструкций.</a:t>
            </a:r>
          </a:p>
          <a:p>
            <a:pPr algn="just"/>
            <a:r>
              <a:rPr lang="ru-RU" dirty="0"/>
              <a:t>Значения </a:t>
            </a:r>
            <a:r>
              <a:rPr lang="ru-RU" dirty="0" err="1"/>
              <a:t>begin_label</a:t>
            </a:r>
            <a:r>
              <a:rPr lang="ru-RU" dirty="0"/>
              <a:t> и </a:t>
            </a:r>
            <a:r>
              <a:rPr lang="ru-RU" dirty="0" err="1"/>
              <a:t>end_label</a:t>
            </a:r>
            <a:r>
              <a:rPr lang="ru-RU" dirty="0"/>
              <a:t>, если оба заданы, должны быть одинаковыми. </a:t>
            </a:r>
            <a:r>
              <a:rPr lang="ru-RU" dirty="0" err="1"/>
              <a:t>label</a:t>
            </a:r>
            <a:r>
              <a:rPr lang="ru-RU" dirty="0"/>
              <a:t> позволяет не путать операторы, если они вложены.</a:t>
            </a:r>
          </a:p>
        </p:txBody>
      </p:sp>
    </p:spTree>
    <p:extLst>
      <p:ext uri="{BB962C8B-B14F-4D97-AF65-F5344CB8AC3E}">
        <p14:creationId xmlns:p14="http://schemas.microsoft.com/office/powerpoint/2010/main" val="33063017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/>
              <a:t>Declare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позволяет определить значение временной переменной, который имеет синтаксис: </a:t>
            </a:r>
          </a:p>
          <a:p>
            <a:r>
              <a:rPr lang="en-US" b="1" dirty="0"/>
              <a:t>Declare</a:t>
            </a:r>
            <a:r>
              <a:rPr lang="ru-RU" b="1" dirty="0"/>
              <a:t> </a:t>
            </a:r>
            <a:r>
              <a:rPr lang="ru-RU" b="1" dirty="0" err="1"/>
              <a:t>имя_перем</a:t>
            </a:r>
            <a:r>
              <a:rPr lang="ru-RU" b="1" dirty="0"/>
              <a:t> </a:t>
            </a:r>
            <a:r>
              <a:rPr lang="ru-RU" b="1" dirty="0" err="1"/>
              <a:t>тип_данных</a:t>
            </a:r>
            <a:r>
              <a:rPr lang="ru-RU" b="1" dirty="0"/>
              <a:t> </a:t>
            </a:r>
            <a:br>
              <a:rPr lang="ru-RU" b="1" dirty="0"/>
            </a:br>
            <a:r>
              <a:rPr lang="ru-RU" b="1" dirty="0"/>
              <a:t>[</a:t>
            </a:r>
            <a:r>
              <a:rPr lang="en-US" b="1" dirty="0"/>
              <a:t>default</a:t>
            </a:r>
            <a:r>
              <a:rPr lang="ru-RU" b="1" dirty="0"/>
              <a:t> </a:t>
            </a:r>
            <a:r>
              <a:rPr lang="ru-RU" b="1" dirty="0" err="1"/>
              <a:t>значение_по_умолчанию</a:t>
            </a:r>
            <a:r>
              <a:rPr lang="ru-RU" b="1" dirty="0"/>
              <a:t>]</a:t>
            </a:r>
          </a:p>
          <a:p>
            <a:pPr algn="just"/>
            <a:endParaRPr lang="ru-RU" b="1" dirty="0"/>
          </a:p>
          <a:p>
            <a:pPr algn="just"/>
            <a:r>
              <a:rPr lang="en-US" dirty="0"/>
              <a:t>DECLARE a INT DEFAULT 5;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86667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Условие DECLARE CONDITION</a:t>
            </a:r>
            <a:r>
              <a:rPr lang="ru-RU" dirty="0"/>
              <a:t> для обработчика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DECLARE </a:t>
            </a:r>
            <a:r>
              <a:rPr lang="en-US" dirty="0" err="1"/>
              <a:t>condition_name</a:t>
            </a:r>
            <a:r>
              <a:rPr lang="en-US" dirty="0"/>
              <a:t> CONDITION FOR </a:t>
            </a:r>
            <a:r>
              <a:rPr lang="en-US" dirty="0" err="1"/>
              <a:t>condition_value</a:t>
            </a:r>
            <a:r>
              <a:rPr lang="en-US" dirty="0"/>
              <a:t> </a:t>
            </a:r>
            <a:r>
              <a:rPr lang="en-US" i="1" dirty="0" err="1"/>
              <a:t>condition_value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SQLSTATE [VALUE] </a:t>
            </a:r>
            <a:r>
              <a:rPr lang="en-US" dirty="0" err="1"/>
              <a:t>sqlstate_value</a:t>
            </a:r>
            <a:r>
              <a:rPr lang="en-US" dirty="0"/>
              <a:t> | </a:t>
            </a:r>
            <a:r>
              <a:rPr lang="en-US" dirty="0" err="1"/>
              <a:t>mysql_error_code</a:t>
            </a:r>
            <a:r>
              <a:rPr lang="en-US" dirty="0"/>
              <a:t> </a:t>
            </a:r>
            <a:r>
              <a:rPr lang="ru-RU" dirty="0"/>
              <a:t>Эта инструкция определяет условия, которые нуждаются в специфической обработке. Она сопоставляет имя с </a:t>
            </a:r>
            <a:r>
              <a:rPr lang="ru-RU" dirty="0" err="1"/>
              <a:t>определенным</a:t>
            </a:r>
            <a:r>
              <a:rPr lang="ru-RU" dirty="0"/>
              <a:t> условием ошибки. Имя может впоследствии использоваться в инструкции </a:t>
            </a:r>
            <a:r>
              <a:rPr lang="en-US" dirty="0"/>
              <a:t>DECLARE HANDLER. </a:t>
            </a:r>
            <a:r>
              <a:rPr lang="ru-RU" dirty="0"/>
              <a:t>Вместе с </a:t>
            </a:r>
            <a:r>
              <a:rPr lang="en-US" dirty="0"/>
              <a:t>DECLARE HANDLER(</a:t>
            </a:r>
            <a:r>
              <a:rPr lang="ru-RU" dirty="0"/>
              <a:t>см. ниже) они образуют своеобразный </a:t>
            </a:r>
            <a:r>
              <a:rPr lang="en-US" dirty="0"/>
              <a:t>try — catch.</a:t>
            </a:r>
            <a:r>
              <a:rPr lang="ru-RU" dirty="0"/>
              <a:t> </a:t>
            </a:r>
          </a:p>
          <a:p>
            <a:pPr algn="just"/>
            <a:r>
              <a:rPr lang="ru-RU" dirty="0"/>
              <a:t>Здесь </a:t>
            </a:r>
            <a:r>
              <a:rPr lang="en-US" dirty="0" err="1"/>
              <a:t>condition_value</a:t>
            </a:r>
            <a:r>
              <a:rPr lang="en-US" dirty="0"/>
              <a:t> </a:t>
            </a:r>
            <a:r>
              <a:rPr lang="ru-RU" dirty="0"/>
              <a:t>может быть значением </a:t>
            </a:r>
            <a:r>
              <a:rPr lang="en-US" dirty="0"/>
              <a:t>SQLSTATE </a:t>
            </a:r>
            <a:r>
              <a:rPr lang="ru-RU" dirty="0"/>
              <a:t>или же кодом ошибки </a:t>
            </a:r>
            <a:r>
              <a:rPr lang="en-US" dirty="0"/>
              <a:t>MySQL.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437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Курсоры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MySQL позволяет использовать курсоры (</a:t>
            </a:r>
            <a:r>
              <a:rPr lang="ru-RU" dirty="0" err="1"/>
              <a:t>CURSORs</a:t>
            </a:r>
            <a:r>
              <a:rPr lang="ru-RU" dirty="0"/>
              <a:t>) в хранимых процедурах и функциях.</a:t>
            </a:r>
          </a:p>
          <a:p>
            <a:r>
              <a:rPr lang="ru-RU" b="1" dirty="0"/>
              <a:t>Курсоры – это указатели на ресурс выборки.</a:t>
            </a:r>
          </a:p>
          <a:p>
            <a:pPr algn="just"/>
            <a:r>
              <a:rPr lang="ru-RU" dirty="0"/>
              <a:t>Курсоры существуют только в хранимой процедуре или функции. Курсоры только на чтение, не могут быть «прокручены» и не могут быть клонированы. </a:t>
            </a:r>
          </a:p>
          <a:p>
            <a:pPr algn="just"/>
            <a:r>
              <a:rPr lang="ru-RU" dirty="0"/>
              <a:t>Курсоры крайне медленные, поэтому используйте их по необходимости. </a:t>
            </a:r>
          </a:p>
        </p:txBody>
      </p:sp>
    </p:spTree>
    <p:extLst>
      <p:ext uri="{BB962C8B-B14F-4D97-AF65-F5344CB8AC3E}">
        <p14:creationId xmlns:p14="http://schemas.microsoft.com/office/powerpoint/2010/main" val="3097707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Курсоры должны быть объявлены до их использования. Переменные с условиями объявляются прежде курсоров. </a:t>
            </a:r>
            <a:endParaRPr lang="en-US" dirty="0"/>
          </a:p>
          <a:p>
            <a:pPr algn="just"/>
            <a:r>
              <a:rPr lang="ru-RU" dirty="0"/>
              <a:t>Обработчики объявляются строго после объявления курсоров.</a:t>
            </a:r>
          </a:p>
        </p:txBody>
      </p:sp>
    </p:spTree>
    <p:extLst>
      <p:ext uri="{BB962C8B-B14F-4D97-AF65-F5344CB8AC3E}">
        <p14:creationId xmlns:p14="http://schemas.microsoft.com/office/powerpoint/2010/main" val="34204389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Создаются курсоры при помощи оператора DECLARE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DECLARE </a:t>
            </a:r>
            <a:r>
              <a:rPr lang="ru-RU" sz="2400" dirty="0" err="1"/>
              <a:t>cursor_name</a:t>
            </a:r>
            <a:r>
              <a:rPr lang="ru-RU" sz="2400" dirty="0"/>
              <a:t> CURSOR FOR </a:t>
            </a:r>
            <a:r>
              <a:rPr lang="ru-RU" sz="2400" dirty="0" err="1"/>
              <a:t>select_statement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81060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//пара переменных для последующей выборки данных курсора</a:t>
            </a:r>
          </a:p>
          <a:p>
            <a:pPr marL="0" indent="0">
              <a:buNone/>
            </a:pPr>
            <a:r>
              <a:rPr lang="ru-RU" dirty="0"/>
              <a:t>DECLARE a, b INT;</a:t>
            </a:r>
          </a:p>
          <a:p>
            <a:pPr marL="0" indent="0">
              <a:buNone/>
            </a:pPr>
            <a:r>
              <a:rPr lang="ru-RU" dirty="0"/>
              <a:t>//объявляем курсор, выбирающий пары значений из некой тестовой таблицы</a:t>
            </a:r>
          </a:p>
          <a:p>
            <a:pPr marL="0" indent="0">
              <a:buNone/>
            </a:pPr>
            <a:r>
              <a:rPr lang="en-US" dirty="0"/>
              <a:t>DECLARE cur1 CURSOR FOR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value_a</a:t>
            </a:r>
            <a:r>
              <a:rPr lang="en-US" dirty="0"/>
              <a:t>, </a:t>
            </a:r>
            <a:r>
              <a:rPr lang="en-US" dirty="0" err="1"/>
              <a:t>value_b</a:t>
            </a:r>
            <a:r>
              <a:rPr lang="en-US" dirty="0"/>
              <a:t> FROM test.t1;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81424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Открытие курсора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Инструкция OPEN открывает предварительно объявленный курсор.</a:t>
            </a:r>
          </a:p>
          <a:p>
            <a:pPr algn="just"/>
            <a:r>
              <a:rPr lang="en-US" dirty="0"/>
              <a:t>OPEN </a:t>
            </a:r>
            <a:r>
              <a:rPr lang="en-US" dirty="0" err="1"/>
              <a:t>cursor_name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45124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Выборка из курсора в переменную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FETCH </a:t>
            </a:r>
            <a:r>
              <a:rPr lang="en-US" b="1" dirty="0" err="1"/>
              <a:t>cursor_name</a:t>
            </a:r>
            <a:r>
              <a:rPr lang="en-US" b="1" dirty="0"/>
              <a:t> INTO </a:t>
            </a:r>
            <a:r>
              <a:rPr lang="en-US" b="1" dirty="0" err="1"/>
              <a:t>var_name</a:t>
            </a:r>
            <a:r>
              <a:rPr lang="en-US" b="1" dirty="0"/>
              <a:t> [, </a:t>
            </a:r>
            <a:r>
              <a:rPr lang="en-US" b="1" dirty="0" err="1"/>
              <a:t>var_name</a:t>
            </a:r>
            <a:r>
              <a:rPr lang="en-US" b="1" dirty="0"/>
              <a:t>] ...</a:t>
            </a:r>
            <a:endParaRPr lang="ru-RU" b="1" dirty="0"/>
          </a:p>
          <a:p>
            <a:pPr algn="just"/>
            <a:r>
              <a:rPr lang="ru-RU" dirty="0"/>
              <a:t>Инструкция FETCH выбирает следующую строку (если строка существует), используя определенный открытый курсор, и продвигает указатель курсора.</a:t>
            </a:r>
          </a:p>
          <a:p>
            <a:pPr algn="just"/>
            <a:r>
              <a:rPr lang="ru-RU" dirty="0"/>
              <a:t>Если больше нет доступных строк, происходит условие </a:t>
            </a:r>
            <a:r>
              <a:rPr lang="ru-RU" dirty="0" err="1"/>
              <a:t>No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со значением SQLSTATE 02000. Чтобы обнаружить это условие, можно установить обработчик для этого.</a:t>
            </a:r>
          </a:p>
        </p:txBody>
      </p:sp>
    </p:spTree>
    <p:extLst>
      <p:ext uri="{BB962C8B-B14F-4D97-AF65-F5344CB8AC3E}">
        <p14:creationId xmlns:p14="http://schemas.microsoft.com/office/powerpoint/2010/main" val="37388840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//помещаем следующую пару значений в переменные a и b</a:t>
            </a:r>
          </a:p>
          <a:p>
            <a:pPr marL="0" indent="0">
              <a:buNone/>
            </a:pPr>
            <a:r>
              <a:rPr lang="en-US" dirty="0"/>
              <a:t>FETCH cur1 INTO a, b;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//выполняем какие то манипуляции с данными</a:t>
            </a:r>
          </a:p>
          <a:p>
            <a:pPr marL="0" indent="0">
              <a:buNone/>
            </a:pPr>
            <a:r>
              <a:rPr lang="en-US" dirty="0"/>
              <a:t>IF a &lt; b THEN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  ...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ELSE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  ...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END IF;</a:t>
            </a:r>
          </a:p>
        </p:txBody>
      </p:sp>
    </p:spTree>
    <p:extLst>
      <p:ext uri="{BB962C8B-B14F-4D97-AF65-F5344CB8AC3E}">
        <p14:creationId xmlns:p14="http://schemas.microsoft.com/office/powerpoint/2010/main" val="14438808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Закрытие курсора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CLOSE </a:t>
            </a:r>
            <a:r>
              <a:rPr lang="en-US" dirty="0" err="1"/>
              <a:t>cursor_name</a:t>
            </a:r>
            <a:endParaRPr lang="ru-RU" dirty="0"/>
          </a:p>
          <a:p>
            <a:pPr algn="just"/>
            <a:r>
              <a:rPr lang="ru-RU" dirty="0"/>
              <a:t>Закрывает предварительно открытый курсор. </a:t>
            </a:r>
          </a:p>
          <a:p>
            <a:pPr algn="just"/>
            <a:r>
              <a:rPr lang="ru-RU" dirty="0"/>
              <a:t>Если курсор не закрыт, он все равно закроется в конце составной инструкции (обычно по наступлению END), в которой он был объявлен.</a:t>
            </a:r>
          </a:p>
          <a:p>
            <a:pPr algn="just"/>
            <a:r>
              <a:rPr lang="ru-RU" dirty="0"/>
              <a:t>Обратите внимание: с начало объявляются переменные, потом курсоры, а затем обработчик и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10513262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использовать курсоры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При помощи оператора </a:t>
            </a:r>
            <a:r>
              <a:rPr lang="ru-RU" b="1" dirty="0"/>
              <a:t>DECLARE</a:t>
            </a:r>
            <a:r>
              <a:rPr lang="ru-RU" dirty="0"/>
              <a:t> объявляется курсор для отдельного оператора </a:t>
            </a:r>
            <a:r>
              <a:rPr lang="ru-RU" b="1" dirty="0"/>
              <a:t>SELECT</a:t>
            </a:r>
            <a:r>
              <a:rPr lang="ru-RU" dirty="0"/>
              <a:t> или для отдельной процедуры.</a:t>
            </a:r>
          </a:p>
          <a:p>
            <a:pPr algn="just"/>
            <a:r>
              <a:rPr lang="ru-RU" dirty="0"/>
              <a:t>Оператором </a:t>
            </a:r>
            <a:r>
              <a:rPr lang="ru-RU" b="1" dirty="0"/>
              <a:t>OPEN</a:t>
            </a:r>
            <a:r>
              <a:rPr lang="ru-RU" dirty="0"/>
              <a:t> производится открытие курсора.</a:t>
            </a:r>
          </a:p>
          <a:p>
            <a:pPr algn="just"/>
            <a:r>
              <a:rPr lang="ru-RU" dirty="0"/>
              <a:t>Используя оператор </a:t>
            </a:r>
            <a:r>
              <a:rPr lang="ru-RU" b="1" dirty="0"/>
              <a:t>FETCH</a:t>
            </a:r>
            <a:r>
              <a:rPr lang="ru-RU" dirty="0"/>
              <a:t>, осуществляется установление указателя на требуемую запись курсора. При этом значения полей текущей записи присваиваются переменным, указываемым в операторе </a:t>
            </a:r>
            <a:r>
              <a:rPr lang="ru-RU" b="1" dirty="0"/>
              <a:t>FETCH</a:t>
            </a:r>
            <a:r>
              <a:rPr lang="ru-RU" dirty="0"/>
              <a:t>. Обычно это конструкция помещается в цикл, который прерывается по некоторому условию. </a:t>
            </a:r>
          </a:p>
          <a:p>
            <a:pPr algn="just"/>
            <a:r>
              <a:rPr lang="ru-RU" dirty="0"/>
              <a:t>В процессе перемещения указателя текущей записи курсора при выходе указателя за пределы курсора устанавливается значение </a:t>
            </a:r>
            <a:r>
              <a:rPr lang="ru-RU" b="1" dirty="0"/>
              <a:t>SQLSTATE = 02000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После того как курсор становится ненужным, он закрывается оператором </a:t>
            </a:r>
            <a:r>
              <a:rPr lang="ru-RU" b="1" dirty="0"/>
              <a:t>CLOSE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90181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CREATE PROCEDURE </a:t>
            </a:r>
            <a:r>
              <a:rPr lang="en-US" dirty="0" err="1"/>
              <a:t>curdemo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DECLARE done INT DEFAULT 0;</a:t>
            </a:r>
          </a:p>
          <a:p>
            <a:pPr marL="0" indent="0">
              <a:buNone/>
            </a:pPr>
            <a:r>
              <a:rPr lang="en-US" dirty="0"/>
              <a:t>  DECLARE a CHAR(16);</a:t>
            </a:r>
          </a:p>
          <a:p>
            <a:pPr marL="0" indent="0">
              <a:buNone/>
            </a:pPr>
            <a:r>
              <a:rPr lang="en-US" dirty="0"/>
              <a:t>  DECLARE </a:t>
            </a:r>
            <a:r>
              <a:rPr lang="en-US" dirty="0" err="1"/>
              <a:t>b,c</a:t>
            </a:r>
            <a:r>
              <a:rPr lang="en-US" dirty="0"/>
              <a:t> INT;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DECLARE cur1 CURSOR FOR SELECT </a:t>
            </a:r>
            <a:r>
              <a:rPr lang="en-US" b="1" dirty="0" err="1"/>
              <a:t>id,data</a:t>
            </a:r>
            <a:r>
              <a:rPr lang="en-US" b="1" dirty="0"/>
              <a:t> FROM test.t1;</a:t>
            </a:r>
          </a:p>
          <a:p>
            <a:pPr marL="0" indent="0">
              <a:buNone/>
            </a:pPr>
            <a:r>
              <a:rPr lang="en-US" dirty="0"/>
              <a:t>  DECLARE cur2 CURSOR FOR SELECT i FROM test.t2;</a:t>
            </a:r>
          </a:p>
          <a:p>
            <a:pPr marL="0" indent="0">
              <a:buNone/>
            </a:pPr>
            <a:r>
              <a:rPr lang="en-US" dirty="0"/>
              <a:t>  DECLARE CONTINUE HANDLER FOR SQLSTATE '02000' SET done = 1;</a:t>
            </a:r>
          </a:p>
          <a:p>
            <a:pPr marL="0" indent="0">
              <a:buNone/>
            </a:pPr>
            <a:r>
              <a:rPr lang="en-US" dirty="0"/>
              <a:t>  OPEN cur1;</a:t>
            </a:r>
          </a:p>
          <a:p>
            <a:pPr marL="0" indent="0">
              <a:buNone/>
            </a:pPr>
            <a:r>
              <a:rPr lang="en-US" dirty="0"/>
              <a:t>  OPEN cur2;</a:t>
            </a:r>
          </a:p>
          <a:p>
            <a:pPr marL="0" indent="0">
              <a:buNone/>
            </a:pPr>
            <a:r>
              <a:rPr lang="en-US" dirty="0"/>
              <a:t>     # </a:t>
            </a:r>
            <a:r>
              <a:rPr lang="ru-RU" dirty="0"/>
              <a:t>что-нибудь делаем</a:t>
            </a:r>
          </a:p>
          <a:p>
            <a:pPr marL="0" indent="0">
              <a:buNone/>
            </a:pPr>
            <a:r>
              <a:rPr lang="ru-RU" dirty="0"/>
              <a:t>  </a:t>
            </a:r>
            <a:r>
              <a:rPr lang="en-US" dirty="0"/>
              <a:t>CLOSE cur1;</a:t>
            </a:r>
          </a:p>
          <a:p>
            <a:pPr marL="0" indent="0">
              <a:buNone/>
            </a:pPr>
            <a:r>
              <a:rPr lang="en-US" dirty="0"/>
              <a:t>  CLOSE cur2;</a:t>
            </a:r>
          </a:p>
          <a:p>
            <a:pPr marL="0" indent="0">
              <a:buNone/>
            </a:pPr>
            <a:r>
              <a:rPr lang="en-US" dirty="0"/>
              <a:t>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3787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Конструкция </a:t>
            </a:r>
            <a:r>
              <a:rPr lang="en-US" b="1" dirty="0">
                <a:effectLst/>
              </a:rPr>
              <a:t>SELECT … INTO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Позволяет «заполнить» переменную, прямо из таблицы:</a:t>
            </a:r>
          </a:p>
          <a:p>
            <a:pPr algn="just"/>
            <a:r>
              <a:rPr lang="ru-RU" dirty="0"/>
              <a:t>SELECT </a:t>
            </a:r>
            <a:r>
              <a:rPr lang="ru-RU" dirty="0" err="1"/>
              <a:t>col_name</a:t>
            </a:r>
            <a:r>
              <a:rPr lang="ru-RU" dirty="0"/>
              <a:t>[,...] INTO </a:t>
            </a:r>
            <a:r>
              <a:rPr lang="ru-RU" dirty="0" err="1"/>
              <a:t>var_name</a:t>
            </a:r>
            <a:r>
              <a:rPr lang="ru-RU" dirty="0"/>
              <a:t>[,...] </a:t>
            </a:r>
            <a:r>
              <a:rPr lang="ru-RU" dirty="0" err="1"/>
              <a:t>table_expr</a:t>
            </a:r>
            <a:r>
              <a:rPr lang="ru-RU" dirty="0"/>
              <a:t> </a:t>
            </a:r>
          </a:p>
          <a:p>
            <a:pPr marL="0" indent="0" algn="just">
              <a:buNone/>
            </a:pPr>
            <a:r>
              <a:rPr lang="ru-RU" dirty="0"/>
              <a:t>Этот синтаксис SELECT сохраняет выбранные столбцы непосредственно в переменные. </a:t>
            </a:r>
          </a:p>
          <a:p>
            <a:pPr marL="0" indent="0" algn="just">
              <a:buNone/>
            </a:pPr>
            <a:r>
              <a:rPr lang="ru-RU" dirty="0"/>
              <a:t>Следовательно, количество выбранных столбцов слева от INTO должно быть равно количеству переменных справа от INTO .</a:t>
            </a:r>
          </a:p>
          <a:p>
            <a:pPr algn="just"/>
            <a:r>
              <a:rPr lang="ru-RU" dirty="0"/>
              <a:t>SELECT </a:t>
            </a:r>
            <a:r>
              <a:rPr lang="ru-RU" dirty="0" err="1"/>
              <a:t>id,data</a:t>
            </a:r>
            <a:r>
              <a:rPr lang="ru-RU" dirty="0"/>
              <a:t> INTO </a:t>
            </a:r>
            <a:r>
              <a:rPr lang="ru-RU" dirty="0" err="1"/>
              <a:t>x,y</a:t>
            </a:r>
            <a:r>
              <a:rPr lang="ru-RU" dirty="0"/>
              <a:t> FROM test.t1 WHERE </a:t>
            </a:r>
            <a:r>
              <a:rPr lang="ru-RU" dirty="0" err="1"/>
              <a:t>id_tm</a:t>
            </a:r>
            <a:r>
              <a:rPr lang="ru-RU" dirty="0"/>
              <a:t> = 5;</a:t>
            </a:r>
          </a:p>
        </p:txBody>
      </p:sp>
    </p:spTree>
    <p:extLst>
      <p:ext uri="{BB962C8B-B14F-4D97-AF65-F5344CB8AC3E}">
        <p14:creationId xmlns:p14="http://schemas.microsoft.com/office/powerpoint/2010/main" val="28702196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Операторы управления потоком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/>
              <a:t>IF</a:t>
            </a:r>
            <a:r>
              <a:rPr lang="ru-RU" dirty="0"/>
              <a:t>…</a:t>
            </a:r>
            <a:r>
              <a:rPr lang="en-US" dirty="0"/>
              <a:t>THEN</a:t>
            </a:r>
            <a:r>
              <a:rPr lang="ru-RU" dirty="0"/>
              <a:t>…</a:t>
            </a:r>
            <a:r>
              <a:rPr lang="en-US" dirty="0"/>
              <a:t>ELSE</a:t>
            </a:r>
            <a:endParaRPr lang="ru-RU" dirty="0"/>
          </a:p>
          <a:p>
            <a:r>
              <a:rPr lang="ru-RU" dirty="0"/>
              <a:t>Оператор множественного выбора </a:t>
            </a:r>
            <a:r>
              <a:rPr lang="en-US" dirty="0"/>
              <a:t>CASE</a:t>
            </a:r>
            <a:endParaRPr lang="ru-RU" dirty="0"/>
          </a:p>
          <a:p>
            <a:r>
              <a:rPr lang="ru-RU" dirty="0"/>
              <a:t>Оператор </a:t>
            </a:r>
            <a:r>
              <a:rPr lang="en-US" dirty="0"/>
              <a:t>WHILE</a:t>
            </a:r>
            <a:endParaRPr lang="ru-RU" dirty="0"/>
          </a:p>
          <a:p>
            <a:r>
              <a:rPr lang="ru-RU" dirty="0"/>
              <a:t>Оператор </a:t>
            </a:r>
            <a:r>
              <a:rPr lang="en-US" dirty="0"/>
              <a:t>REPEAT</a:t>
            </a:r>
            <a:endParaRPr lang="ru-RU" dirty="0"/>
          </a:p>
          <a:p>
            <a:r>
              <a:rPr lang="ru-RU" dirty="0"/>
              <a:t>Оператор </a:t>
            </a:r>
            <a:r>
              <a:rPr lang="en-US" dirty="0"/>
              <a:t>LOOP</a:t>
            </a:r>
            <a:endParaRPr lang="ru-RU" dirty="0"/>
          </a:p>
          <a:p>
            <a:r>
              <a:rPr lang="ru-RU" dirty="0"/>
              <a:t>Оператор </a:t>
            </a:r>
            <a:r>
              <a:rPr lang="en-US" dirty="0"/>
              <a:t>GOTO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6429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Оператор </a:t>
            </a:r>
            <a:r>
              <a:rPr lang="en-US" dirty="0"/>
              <a:t>IF</a:t>
            </a:r>
            <a:r>
              <a:rPr lang="ru-RU" dirty="0"/>
              <a:t>…</a:t>
            </a:r>
            <a:r>
              <a:rPr lang="en-US" dirty="0"/>
              <a:t>THEN</a:t>
            </a:r>
            <a:r>
              <a:rPr lang="ru-RU" dirty="0"/>
              <a:t>…</a:t>
            </a:r>
            <a:r>
              <a:rPr lang="en-US" dirty="0"/>
              <a:t>ELSE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Оператор позволяет организовать ветвления в программе по условию и имеет следующий синтаксис:</a:t>
            </a:r>
          </a:p>
          <a:p>
            <a:pPr marL="0" indent="0">
              <a:buNone/>
            </a:pPr>
            <a:r>
              <a:rPr lang="en-US" b="1" dirty="0"/>
              <a:t>IF</a:t>
            </a:r>
            <a:r>
              <a:rPr lang="ru-RU" b="1" dirty="0"/>
              <a:t> условие </a:t>
            </a:r>
            <a:r>
              <a:rPr lang="en-US" b="1" dirty="0"/>
              <a:t>THEN</a:t>
            </a:r>
            <a:r>
              <a:rPr lang="ru-RU" b="1" dirty="0"/>
              <a:t> действия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[</a:t>
            </a:r>
            <a:r>
              <a:rPr lang="en-US" b="1" dirty="0"/>
              <a:t>ELSEIF</a:t>
            </a:r>
            <a:r>
              <a:rPr lang="ru-RU" b="1" dirty="0"/>
              <a:t> условие </a:t>
            </a:r>
            <a:r>
              <a:rPr lang="en-US" b="1" dirty="0"/>
              <a:t>THEN</a:t>
            </a:r>
            <a:r>
              <a:rPr lang="ru-RU" b="1" dirty="0"/>
              <a:t> действия]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[</a:t>
            </a:r>
            <a:r>
              <a:rPr lang="en-US" b="1" dirty="0"/>
              <a:t>ELSE</a:t>
            </a:r>
            <a:r>
              <a:rPr lang="ru-RU" b="1" dirty="0"/>
              <a:t> действия]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END IF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Логическое выражение (условие) принимает два значения: 0 (ложь) и 1 (истина).</a:t>
            </a:r>
          </a:p>
          <a:p>
            <a:pPr marL="0" indent="0">
              <a:buNone/>
            </a:pPr>
            <a:r>
              <a:rPr lang="ru-RU" dirty="0"/>
              <a:t>Действия могут включать составной оператор </a:t>
            </a:r>
            <a:r>
              <a:rPr lang="en-US" dirty="0"/>
              <a:t>BEGIN</a:t>
            </a:r>
            <a:r>
              <a:rPr lang="ru-RU" dirty="0"/>
              <a:t>…</a:t>
            </a:r>
            <a:r>
              <a:rPr lang="en-US" dirty="0"/>
              <a:t>END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97274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Оператор множественного выбора </a:t>
            </a:r>
            <a:r>
              <a:rPr lang="en-US" b="1" dirty="0"/>
              <a:t>CASE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 форма: </a:t>
            </a:r>
            <a:r>
              <a:rPr lang="en-US" b="1" dirty="0"/>
              <a:t>CASE </a:t>
            </a:r>
            <a:r>
              <a:rPr lang="ru-RU" b="1" dirty="0" err="1"/>
              <a:t>значение_выбора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	</a:t>
            </a:r>
            <a:r>
              <a:rPr lang="en-US" b="1" dirty="0"/>
              <a:t>WHEN</a:t>
            </a:r>
            <a:r>
              <a:rPr lang="ru-RU" b="1" dirty="0"/>
              <a:t> значение </a:t>
            </a:r>
            <a:r>
              <a:rPr lang="en-US" b="1" dirty="0"/>
              <a:t>THEN</a:t>
            </a:r>
            <a:r>
              <a:rPr lang="ru-RU" b="1" dirty="0"/>
              <a:t> действия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	[</a:t>
            </a:r>
            <a:r>
              <a:rPr lang="en-US" b="1" dirty="0"/>
              <a:t>WHEN</a:t>
            </a:r>
            <a:r>
              <a:rPr lang="ru-RU" b="1" dirty="0"/>
              <a:t> значение </a:t>
            </a:r>
            <a:r>
              <a:rPr lang="en-US" b="1" dirty="0"/>
              <a:t>THEN</a:t>
            </a:r>
            <a:r>
              <a:rPr lang="ru-RU" b="1" dirty="0"/>
              <a:t> действия]</a:t>
            </a:r>
            <a:br>
              <a:rPr lang="ru-RU" b="1" dirty="0"/>
            </a:br>
            <a:r>
              <a:rPr lang="ru-RU" b="1" dirty="0"/>
              <a:t>	[</a:t>
            </a:r>
            <a:r>
              <a:rPr lang="en-US" b="1" dirty="0"/>
              <a:t>ELSE</a:t>
            </a:r>
            <a:r>
              <a:rPr lang="ru-RU" b="1" dirty="0"/>
              <a:t> действия]</a:t>
            </a:r>
            <a:br>
              <a:rPr lang="ru-RU" b="1" dirty="0"/>
            </a:br>
            <a:r>
              <a:rPr lang="ru-RU" b="1" dirty="0"/>
              <a:t>	</a:t>
            </a:r>
            <a:r>
              <a:rPr lang="en-US" b="1" dirty="0"/>
              <a:t>END CASE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 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2 форма: </a:t>
            </a:r>
            <a:r>
              <a:rPr lang="en-US" b="1" dirty="0"/>
              <a:t>CASE 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	</a:t>
            </a:r>
            <a:r>
              <a:rPr lang="en-US" b="1" dirty="0"/>
              <a:t>WHEN</a:t>
            </a:r>
            <a:r>
              <a:rPr lang="ru-RU" b="1" dirty="0"/>
              <a:t> условие </a:t>
            </a:r>
            <a:r>
              <a:rPr lang="en-US" b="1" dirty="0"/>
              <a:t>THEN</a:t>
            </a:r>
            <a:r>
              <a:rPr lang="ru-RU" b="1" dirty="0"/>
              <a:t> действия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	[</a:t>
            </a:r>
            <a:r>
              <a:rPr lang="en-US" b="1" dirty="0"/>
              <a:t>WHEN</a:t>
            </a:r>
            <a:r>
              <a:rPr lang="ru-RU" b="1" dirty="0"/>
              <a:t> условие </a:t>
            </a:r>
            <a:r>
              <a:rPr lang="en-US" b="1" dirty="0"/>
              <a:t>THEN</a:t>
            </a:r>
            <a:r>
              <a:rPr lang="ru-RU" b="1" dirty="0"/>
              <a:t> действия]</a:t>
            </a:r>
            <a:br>
              <a:rPr lang="ru-RU" b="1" dirty="0"/>
            </a:br>
            <a:r>
              <a:rPr lang="ru-RU" b="1" dirty="0"/>
              <a:t>	[</a:t>
            </a:r>
            <a:r>
              <a:rPr lang="en-US" b="1" dirty="0"/>
              <a:t>ELSE</a:t>
            </a:r>
            <a:r>
              <a:rPr lang="ru-RU" b="1" dirty="0"/>
              <a:t> действия]</a:t>
            </a:r>
            <a:br>
              <a:rPr lang="ru-RU" b="1" dirty="0"/>
            </a:br>
            <a:r>
              <a:rPr lang="ru-RU" b="1" dirty="0"/>
              <a:t>	</a:t>
            </a:r>
            <a:r>
              <a:rPr lang="en-US" b="1" dirty="0"/>
              <a:t>END CASE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49845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CASE 1 WHEN 1 THEN "one" WHEN 2 THEN "two" ELSE "more" END; # "one"</a:t>
            </a:r>
          </a:p>
          <a:p>
            <a:pPr marL="0" indent="0">
              <a:buNone/>
            </a:pPr>
            <a:r>
              <a:rPr lang="en-US" dirty="0"/>
              <a:t>SELECT CASE WHEN 1&gt;0 THEN "true" ELSE "false" END; # "true"</a:t>
            </a:r>
          </a:p>
          <a:p>
            <a:pPr marL="0" indent="0">
              <a:buNone/>
            </a:pPr>
            <a:r>
              <a:rPr lang="en-US" dirty="0"/>
              <a:t>SELECT CASE BINARY "B" WHEN "a" THEN 1 WHEN "b" THEN 2 END; # NULL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6171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Оператор </a:t>
            </a:r>
            <a:r>
              <a:rPr lang="en-US" b="1" dirty="0"/>
              <a:t>WHILE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Оператор </a:t>
            </a:r>
            <a:r>
              <a:rPr lang="en-US" dirty="0"/>
              <a:t>While</a:t>
            </a:r>
            <a:r>
              <a:rPr lang="ru-RU" dirty="0"/>
              <a:t> выполняет цикл и имеет следующий синтаксис:</a:t>
            </a:r>
          </a:p>
          <a:p>
            <a:pPr marL="0" indent="0">
              <a:buNone/>
            </a:pPr>
            <a:r>
              <a:rPr lang="en-US" b="1" dirty="0"/>
              <a:t>[label:] WHILE </a:t>
            </a:r>
            <a:r>
              <a:rPr lang="ru-RU" b="1" dirty="0"/>
              <a:t>условие</a:t>
            </a:r>
            <a:r>
              <a:rPr lang="en-US" b="1" dirty="0"/>
              <a:t> DO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Действия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END WHILE [label]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7696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/>
              <a:t>Пример: процедуру, которая три раза выводит текущую дату с помощью функции </a:t>
            </a:r>
            <a:r>
              <a:rPr lang="en-US" sz="2800" b="1" dirty="0"/>
              <a:t>NOW</a:t>
            </a:r>
            <a:r>
              <a:rPr lang="ru-RU" sz="2800" b="1" dirty="0"/>
              <a:t>()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CREATE PROCEDURE  NOW3 ()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BEGIN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   	</a:t>
            </a:r>
            <a:r>
              <a:rPr lang="en-US" b="1" cap="all" dirty="0"/>
              <a:t>Declare</a:t>
            </a:r>
            <a:r>
              <a:rPr lang="en-US" b="1" dirty="0"/>
              <a:t> I </a:t>
            </a:r>
            <a:r>
              <a:rPr lang="en-US" b="1" cap="all" dirty="0" err="1"/>
              <a:t>int</a:t>
            </a:r>
            <a:r>
              <a:rPr lang="en-US" b="1" dirty="0"/>
              <a:t> </a:t>
            </a:r>
            <a:r>
              <a:rPr lang="en-US" b="1" cap="all" dirty="0"/>
              <a:t>default</a:t>
            </a:r>
            <a:r>
              <a:rPr lang="en-US" b="1" dirty="0"/>
              <a:t> 3;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While i&gt;0 DO</a:t>
            </a:r>
            <a:endParaRPr lang="ru-RU" dirty="0"/>
          </a:p>
          <a:p>
            <a:pPr marL="0" indent="0">
              <a:buNone/>
            </a:pPr>
            <a:r>
              <a:rPr lang="en-US" b="1" cap="all" dirty="0"/>
              <a:t>select</a:t>
            </a:r>
            <a:r>
              <a:rPr lang="en-US" b="1" dirty="0"/>
              <a:t> NOW();</a:t>
            </a:r>
            <a:endParaRPr lang="ru-RU" dirty="0"/>
          </a:p>
          <a:p>
            <a:pPr marL="0" indent="0">
              <a:buNone/>
            </a:pPr>
            <a:r>
              <a:rPr lang="en-US" b="1" cap="all" dirty="0"/>
              <a:t>set</a:t>
            </a:r>
            <a:r>
              <a:rPr lang="en-US" b="1" dirty="0"/>
              <a:t> i=i-1;</a:t>
            </a:r>
            <a:endParaRPr lang="ru-RU" dirty="0"/>
          </a:p>
          <a:p>
            <a:pPr marL="0" indent="0">
              <a:buNone/>
            </a:pPr>
            <a:r>
              <a:rPr lang="en-US" b="1" cap="all" dirty="0"/>
              <a:t>end while;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END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18071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PROCEDURE </a:t>
            </a:r>
            <a:r>
              <a:rPr lang="en-US" dirty="0" err="1"/>
              <a:t>dowhile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DECLARE v1 INT DEFAULT 5;</a:t>
            </a:r>
          </a:p>
          <a:p>
            <a:pPr marL="0" indent="0">
              <a:buNone/>
            </a:pPr>
            <a:r>
              <a:rPr lang="en-US" dirty="0"/>
              <a:t>  WHILE v1 &gt; 0 DO</a:t>
            </a:r>
          </a:p>
          <a:p>
            <a:pPr marL="0" indent="0">
              <a:buNone/>
            </a:pPr>
            <a:r>
              <a:rPr lang="en-US" dirty="0"/>
              <a:t>    SET v1 = v1 - 1;</a:t>
            </a:r>
          </a:p>
          <a:p>
            <a:pPr marL="0" indent="0">
              <a:buNone/>
            </a:pPr>
            <a:r>
              <a:rPr lang="en-US" dirty="0"/>
              <a:t>  END WHILE;</a:t>
            </a:r>
          </a:p>
          <a:p>
            <a:pPr marL="0" indent="0">
              <a:buNone/>
            </a:pPr>
            <a:r>
              <a:rPr lang="en-US" dirty="0"/>
              <a:t>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3353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34694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429969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6911" y="4068923"/>
            <a:ext cx="810678" cy="1080902"/>
            <a:chOff x="9685338" y="4460675"/>
            <a:chExt cx="1080904" cy="108090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680B5D0-24EC-465A-A0E6-C4DF951E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1714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BF1B50-A83E-4ED6-A2AA-C943C1F8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928117"/>
            <a:ext cx="7763256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31E8B2-210B-4B90-83BB-3B180732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4102" y="1110053"/>
            <a:ext cx="2539778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50076" y="1432223"/>
            <a:ext cx="2113813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50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Для вызова процедуры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387409-2B98-40F8-A65F-EF7CF989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5780565"/>
            <a:ext cx="7763256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E5F284-A588-4AE7-A36D-1C93E4FD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5190" y="5257800"/>
            <a:ext cx="810678" cy="1080902"/>
            <a:chOff x="9685338" y="4460675"/>
            <a:chExt cx="1080904" cy="108090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5D7D540-5CF2-4FC1-BE53-277CC22C0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16C9AA0-DC0C-49A1-ACDF-10BD6D73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50076" y="4790198"/>
            <a:ext cx="2113814" cy="68705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</a:rPr>
              <a:t>используется функция CALL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96607-E761-4FE0-8D79-24B95E94B1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25" y="2155104"/>
            <a:ext cx="4973808" cy="247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179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Досрочный выхода из цикла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Для досрочного выхода из цикла предназначен оператор </a:t>
            </a:r>
            <a:r>
              <a:rPr lang="en-US" dirty="0"/>
              <a:t>LEAVE</a:t>
            </a:r>
            <a:r>
              <a:rPr lang="ru-RU" dirty="0"/>
              <a:t>, который имеет синтаксис </a:t>
            </a:r>
            <a:r>
              <a:rPr lang="en-US" b="1" dirty="0"/>
              <a:t>LEAVE label</a:t>
            </a:r>
            <a:r>
              <a:rPr lang="ru-RU" b="1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85703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Инструкция </a:t>
            </a:r>
            <a:r>
              <a:rPr lang="en-US" b="1" dirty="0"/>
              <a:t>ITERATE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ITERATE </a:t>
            </a:r>
            <a:r>
              <a:rPr lang="ru-RU" dirty="0" err="1"/>
              <a:t>label</a:t>
            </a:r>
            <a:r>
              <a:rPr lang="ru-RU" dirty="0"/>
              <a:t> ITERATE может появляться только внутри инструкций LOOP, REPEAT и WHILE. </a:t>
            </a:r>
          </a:p>
          <a:p>
            <a:pPr algn="just"/>
            <a:r>
              <a:rPr lang="ru-RU" dirty="0"/>
              <a:t>ITERATE означает «выполнить цикл снова».</a:t>
            </a:r>
          </a:p>
          <a:p>
            <a:pPr algn="just"/>
            <a:r>
              <a:rPr lang="ru-RU" dirty="0"/>
              <a:t>Можно сравнить c инструкцией </a:t>
            </a:r>
            <a:r>
              <a:rPr lang="ru-RU" dirty="0" err="1"/>
              <a:t>continue</a:t>
            </a:r>
            <a:r>
              <a:rPr lang="ru-RU" dirty="0"/>
              <a:t> из С++.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95940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Оператор </a:t>
            </a:r>
            <a:r>
              <a:rPr lang="en-US" b="1" dirty="0"/>
              <a:t>REPEAT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Оператор реализует цикл, так же как и оператор </a:t>
            </a:r>
            <a:r>
              <a:rPr lang="en-US" dirty="0"/>
              <a:t>While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en-US" b="1" dirty="0"/>
              <a:t>[label:] REPEAT 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Действия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UNTIL </a:t>
            </a:r>
            <a:r>
              <a:rPr lang="ru-RU" b="1" dirty="0"/>
              <a:t>условие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END REPEAT [label]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36686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PROCEDURE </a:t>
            </a:r>
            <a:r>
              <a:rPr lang="en-US" dirty="0" err="1"/>
              <a:t>dorepeat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DECLARE p1 INT DEFAULT 1000;</a:t>
            </a:r>
          </a:p>
          <a:p>
            <a:pPr marL="0" indent="0">
              <a:buNone/>
            </a:pPr>
            <a:r>
              <a:rPr lang="en-US" dirty="0"/>
              <a:t>SET @x = 0;</a:t>
            </a:r>
          </a:p>
          <a:p>
            <a:pPr marL="0" indent="0">
              <a:buNone/>
            </a:pPr>
            <a:r>
              <a:rPr lang="en-US" dirty="0"/>
              <a:t>REPEAT SET @x = @x + 1;</a:t>
            </a:r>
          </a:p>
          <a:p>
            <a:pPr marL="0" indent="0">
              <a:buNone/>
            </a:pPr>
            <a:r>
              <a:rPr lang="en-US" dirty="0"/>
              <a:t>  UNTIL @x &gt; p1</a:t>
            </a:r>
          </a:p>
          <a:p>
            <a:pPr marL="0" indent="0">
              <a:buNone/>
            </a:pPr>
            <a:r>
              <a:rPr lang="en-US" dirty="0"/>
              <a:t>END REPEAT;</a:t>
            </a:r>
          </a:p>
          <a:p>
            <a:pPr marL="0" indent="0">
              <a:buNone/>
            </a:pPr>
            <a:r>
              <a:rPr lang="en-US" dirty="0"/>
              <a:t>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1345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Оператор </a:t>
            </a:r>
            <a:r>
              <a:rPr lang="en-US" b="1" dirty="0"/>
              <a:t>LOOP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Оператор реализует цикл:</a:t>
            </a:r>
          </a:p>
          <a:p>
            <a:pPr marL="0" indent="0">
              <a:buNone/>
            </a:pPr>
            <a:r>
              <a:rPr lang="en-US" b="1" dirty="0"/>
              <a:t>[label:] LOOP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Действия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END LOOP [label]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0669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64011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544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PROCEDURE </a:t>
            </a:r>
            <a:r>
              <a:rPr lang="en-US" dirty="0" err="1"/>
              <a:t>doiterate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DECLARE p1 INT DEFAULT 5;</a:t>
            </a:r>
          </a:p>
          <a:p>
            <a:pPr marL="0" indent="0">
              <a:buNone/>
            </a:pPr>
            <a:r>
              <a:rPr lang="en-US" dirty="0"/>
              <a:t>  label1: LOOP</a:t>
            </a:r>
          </a:p>
          <a:p>
            <a:pPr marL="0" indent="0">
              <a:buNone/>
            </a:pPr>
            <a:r>
              <a:rPr lang="en-US" dirty="0"/>
              <a:t>    SET p1 = p1 + 1;</a:t>
            </a:r>
          </a:p>
          <a:p>
            <a:pPr marL="0" indent="0">
              <a:buNone/>
            </a:pPr>
            <a:r>
              <a:rPr lang="en-US" dirty="0"/>
              <a:t>    IF p1 &lt; 10 THEN ITERATE label1; # </a:t>
            </a:r>
            <a:r>
              <a:rPr lang="ru-RU" dirty="0"/>
              <a:t>если </a:t>
            </a:r>
            <a:r>
              <a:rPr lang="en-US" dirty="0"/>
              <a:t>p1&lt;10 </a:t>
            </a:r>
            <a:r>
              <a:rPr lang="ru-RU" dirty="0"/>
              <a:t>повторяем цикл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END IF;</a:t>
            </a:r>
          </a:p>
          <a:p>
            <a:pPr marL="0" indent="0">
              <a:buNone/>
            </a:pPr>
            <a:r>
              <a:rPr lang="en-US" dirty="0"/>
              <a:t>    LEAVE label1;  # </a:t>
            </a:r>
            <a:r>
              <a:rPr lang="ru-RU" dirty="0"/>
              <a:t>покидаем цикл</a:t>
            </a:r>
          </a:p>
          <a:p>
            <a:pPr marL="0" indent="0">
              <a:buNone/>
            </a:pPr>
            <a:r>
              <a:rPr lang="ru-RU" dirty="0"/>
              <a:t>  </a:t>
            </a:r>
            <a:r>
              <a:rPr lang="en-US" dirty="0"/>
              <a:t>END LOOP label1;</a:t>
            </a:r>
          </a:p>
          <a:p>
            <a:pPr marL="0" indent="0">
              <a:buNone/>
            </a:pPr>
            <a:r>
              <a:rPr lang="en-US" dirty="0"/>
              <a:t>  SET @x = p1;</a:t>
            </a:r>
          </a:p>
          <a:p>
            <a:pPr marL="0" indent="0">
              <a:buNone/>
            </a:pPr>
            <a:r>
              <a:rPr lang="en-US" dirty="0"/>
              <a:t>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18651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Оператор </a:t>
            </a:r>
            <a:r>
              <a:rPr lang="en-US" b="1" dirty="0"/>
              <a:t>GOTO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Оператор осуществляет безусловный переход и имеет следующий синтаксис:</a:t>
            </a:r>
          </a:p>
          <a:p>
            <a:r>
              <a:rPr lang="en-US" b="1" dirty="0"/>
              <a:t>GOTO label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3602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CC0DCE3-8753-43BB-86D2-6452D91E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34694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8BC7A6-65CA-4655-8641-7BDE9699B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429969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755CF4-45A8-4971-A14E-D6DE02B4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1F62D5-850C-4310-A813-747E46433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6911" y="4068923"/>
            <a:ext cx="810678" cy="1080902"/>
            <a:chOff x="9685338" y="4460675"/>
            <a:chExt cx="1080904" cy="108090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AD4B505-4A68-456B-9AFD-344192BE9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7F9A339-5395-403B-B163-DFDDD9E09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0E61E04-3F7C-42DE-ABE7-D3F7E349C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1714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036F7E-6C8A-4549-99EF-9958C587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7366"/>
            <a:ext cx="9144000" cy="261046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8670" y="4355692"/>
            <a:ext cx="6814455" cy="1472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600" kern="1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Пример1: Процедура, которая выводит имя версии MySQL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F6CE49E-24DF-44A3-B9CA-3BB089BDB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" y="1252683"/>
            <a:ext cx="3635248" cy="206178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7962BBE-F0FF-4DEF-9E10-A20903A475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49" y="881274"/>
            <a:ext cx="3635248" cy="278598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5EE15D0-BDD3-4CA6-B5DC-159D83FA6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4192" y="5111496"/>
            <a:ext cx="810678" cy="1080902"/>
            <a:chOff x="9685338" y="4460675"/>
            <a:chExt cx="1080904" cy="108090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1D99473-F547-41EE-8D8B-3DFA6E58D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1482930-66A8-46E9-8554-6D127FFCF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078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/>
              <a:t>Пример</a:t>
            </a:r>
            <a:r>
              <a:rPr lang="en-US" sz="3200" b="1" dirty="0"/>
              <a:t>2</a:t>
            </a:r>
            <a:r>
              <a:rPr lang="ru-RU" sz="3200" b="1" dirty="0"/>
              <a:t>. Процедура, которая подсчитывает количество записей в таблице </a:t>
            </a:r>
            <a:r>
              <a:rPr lang="en-US" sz="3200" b="1" dirty="0"/>
              <a:t>Students</a:t>
            </a:r>
            <a:r>
              <a:rPr lang="ru-RU" sz="3200" b="1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CREATE PROCEDURE </a:t>
            </a:r>
            <a:r>
              <a:rPr lang="en-US" b="1" dirty="0" err="1"/>
              <a:t>numST</a:t>
            </a:r>
            <a:r>
              <a:rPr lang="en-US" b="1" dirty="0"/>
              <a:t> (out total </a:t>
            </a:r>
            <a:r>
              <a:rPr lang="en-US" b="1" dirty="0" err="1"/>
              <a:t>int</a:t>
            </a:r>
            <a:r>
              <a:rPr lang="en-US" b="1" dirty="0"/>
              <a:t>)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BEGIN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   select count(*) into total from Students;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END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01115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800" dirty="0"/>
              <a:t>Пример 3. </a:t>
            </a:r>
            <a:r>
              <a:rPr lang="ru-RU" sz="2800" b="1" dirty="0"/>
              <a:t>Создадим хранимую процедуру, которая по первичному ключу книги </a:t>
            </a:r>
            <a:r>
              <a:rPr lang="en-US" sz="2800" b="1" dirty="0" err="1"/>
              <a:t>kod</a:t>
            </a:r>
            <a:r>
              <a:rPr lang="ru-RU" sz="2800" b="1" dirty="0"/>
              <a:t>_</a:t>
            </a:r>
            <a:r>
              <a:rPr lang="en-US" sz="2800" b="1" dirty="0"/>
              <a:t>gr </a:t>
            </a:r>
            <a:r>
              <a:rPr lang="ru-RU" sz="2800" b="1" dirty="0"/>
              <a:t>выдаёт название группы.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Для решения задачи требуется определить параметр </a:t>
            </a:r>
            <a:r>
              <a:rPr lang="en-US" dirty="0" err="1"/>
              <a:t>kod</a:t>
            </a:r>
            <a:r>
              <a:rPr lang="ru-RU" dirty="0"/>
              <a:t> с атрибутом </a:t>
            </a:r>
            <a:r>
              <a:rPr lang="en-US" dirty="0"/>
              <a:t>IN</a:t>
            </a:r>
            <a:r>
              <a:rPr lang="ru-RU" dirty="0"/>
              <a:t>, а параметр </a:t>
            </a:r>
            <a:r>
              <a:rPr lang="en-US" dirty="0"/>
              <a:t>gr</a:t>
            </a:r>
            <a:r>
              <a:rPr lang="ru-RU" dirty="0"/>
              <a:t>_</a:t>
            </a:r>
            <a:r>
              <a:rPr lang="en-US" dirty="0" err="1"/>
              <a:t>nazv</a:t>
            </a:r>
            <a:r>
              <a:rPr lang="ru-RU" dirty="0"/>
              <a:t> с атрибутом </a:t>
            </a:r>
            <a:r>
              <a:rPr lang="en-US" dirty="0"/>
              <a:t>OUT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CREATE PROCEDURE </a:t>
            </a:r>
            <a:r>
              <a:rPr lang="en-US" b="1" dirty="0" err="1"/>
              <a:t>gr_nazv</a:t>
            </a:r>
            <a:r>
              <a:rPr lang="en-US" b="1" dirty="0"/>
              <a:t> (in </a:t>
            </a:r>
            <a:r>
              <a:rPr lang="en-US" b="1" dirty="0" err="1"/>
              <a:t>kod</a:t>
            </a:r>
            <a:r>
              <a:rPr lang="en-US" b="1" dirty="0"/>
              <a:t> </a:t>
            </a:r>
            <a:r>
              <a:rPr lang="en-US" b="1" dirty="0" err="1"/>
              <a:t>smallint</a:t>
            </a:r>
            <a:r>
              <a:rPr lang="en-US" b="1" dirty="0"/>
              <a:t>, out </a:t>
            </a:r>
            <a:r>
              <a:rPr lang="en-US" b="1" dirty="0" err="1"/>
              <a:t>gr_nazv</a:t>
            </a:r>
            <a:r>
              <a:rPr lang="en-US" b="1" dirty="0"/>
              <a:t> char(5))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BEGIN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    select </a:t>
            </a:r>
            <a:r>
              <a:rPr lang="en-US" b="1" dirty="0" err="1"/>
              <a:t>gruppa</a:t>
            </a:r>
            <a:r>
              <a:rPr lang="en-US" b="1" dirty="0"/>
              <a:t> into </a:t>
            </a:r>
            <a:r>
              <a:rPr lang="en-US" b="1" dirty="0" err="1"/>
              <a:t>gr_nazv</a:t>
            </a:r>
            <a:r>
              <a:rPr lang="en-US" b="1" dirty="0"/>
              <a:t> From GRUPS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    where  </a:t>
            </a:r>
            <a:r>
              <a:rPr lang="en-US" b="1" dirty="0" err="1"/>
              <a:t>kod_gr</a:t>
            </a:r>
            <a:r>
              <a:rPr lang="en-US" b="1" dirty="0"/>
              <a:t>= </a:t>
            </a:r>
            <a:r>
              <a:rPr lang="en-US" b="1" dirty="0" err="1"/>
              <a:t>kod</a:t>
            </a:r>
            <a:r>
              <a:rPr lang="en-US" b="1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2066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403D0-DDCD-4208-88EA-570E04B0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AFC1E6-F4D7-4059-B531-80E0E1E51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Создайте готовую инструкцию для ввода значений в таблицу </a:t>
            </a:r>
            <a:r>
              <a:rPr lang="en-US" dirty="0"/>
              <a:t>Students</a:t>
            </a:r>
            <a:r>
              <a:rPr lang="ru-RU" dirty="0"/>
              <a:t>, при этом используйте готовые инструкции</a:t>
            </a:r>
          </a:p>
        </p:txBody>
      </p:sp>
    </p:spTree>
    <p:extLst>
      <p:ext uri="{BB962C8B-B14F-4D97-AF65-F5344CB8AC3E}">
        <p14:creationId xmlns:p14="http://schemas.microsoft.com/office/powerpoint/2010/main" val="17217199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Хранимые функции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4228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Синтаксис</a:t>
            </a:r>
            <a:r>
              <a:rPr lang="en-US" dirty="0"/>
              <a:t>: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CREATE </a:t>
            </a:r>
            <a:endParaRPr lang="ru-RU" b="1" dirty="0"/>
          </a:p>
          <a:p>
            <a:pPr marL="0" indent="0">
              <a:buNone/>
            </a:pPr>
            <a:r>
              <a:rPr lang="en-US" dirty="0"/>
              <a:t>[DEFINER = { user | CURRENT_USER }]</a:t>
            </a:r>
            <a:endParaRPr lang="ru-RU" b="1" dirty="0"/>
          </a:p>
          <a:p>
            <a:pPr marL="0" indent="0">
              <a:buNone/>
            </a:pPr>
            <a:r>
              <a:rPr lang="en-US" b="1" dirty="0"/>
              <a:t>FUNCTION ([parameter[,…]])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RETURNS</a:t>
            </a:r>
            <a:r>
              <a:rPr lang="ru-RU" b="1" dirty="0"/>
              <a:t> </a:t>
            </a:r>
            <a:r>
              <a:rPr lang="en-US" dirty="0"/>
              <a:t>type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[</a:t>
            </a:r>
            <a:r>
              <a:rPr lang="en-US" b="1" dirty="0"/>
              <a:t>characteristic</a:t>
            </a:r>
            <a:r>
              <a:rPr lang="ru-RU" b="1" dirty="0"/>
              <a:t>…] </a:t>
            </a:r>
          </a:p>
          <a:p>
            <a:pPr marL="0" indent="0">
              <a:buNone/>
            </a:pPr>
            <a:r>
              <a:rPr lang="en-US" b="1" dirty="0"/>
              <a:t>routine</a:t>
            </a:r>
            <a:r>
              <a:rPr lang="ru-RU" b="1" dirty="0"/>
              <a:t>_</a:t>
            </a:r>
            <a:r>
              <a:rPr lang="en-US" b="1" dirty="0"/>
              <a:t>body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6052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Отличия от процедуры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ru-RU" dirty="0"/>
              <a:t>Функция, в отличие от процедуры может вызываться непосредственно, без использования оператора </a:t>
            </a:r>
            <a:r>
              <a:rPr lang="en-US" dirty="0"/>
              <a:t>CALL</a:t>
            </a:r>
            <a:r>
              <a:rPr lang="ru-RU" dirty="0"/>
              <a:t> и возвращает одно значение, которое подставляется в место вызова функции.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/>
              <a:t>При объявлении параметров функции использование ключевых слов </a:t>
            </a:r>
            <a:r>
              <a:rPr lang="en-US" dirty="0"/>
              <a:t>IN</a:t>
            </a:r>
            <a:r>
              <a:rPr lang="ru-RU" dirty="0"/>
              <a:t>, </a:t>
            </a:r>
            <a:r>
              <a:rPr lang="en-US" dirty="0"/>
              <a:t>INOUT</a:t>
            </a:r>
            <a:r>
              <a:rPr lang="ru-RU" dirty="0"/>
              <a:t>, </a:t>
            </a:r>
            <a:r>
              <a:rPr lang="en-US" dirty="0"/>
              <a:t>OUT</a:t>
            </a:r>
            <a:r>
              <a:rPr lang="ru-RU" dirty="0"/>
              <a:t> недопустимо. Все параметры, передаваемые функции являются входными.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87131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функции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sp_name</a:t>
            </a:r>
            <a:endParaRPr lang="ru-RU" dirty="0"/>
          </a:p>
          <a:p>
            <a:r>
              <a:rPr lang="ru-RU" b="1" dirty="0" err="1"/>
              <a:t>sp_parameter</a:t>
            </a:r>
            <a:r>
              <a:rPr lang="ru-RU" b="1" dirty="0"/>
              <a:t> </a:t>
            </a:r>
            <a:r>
              <a:rPr lang="ru-RU" dirty="0"/>
              <a:t>[IN] </a:t>
            </a:r>
            <a:r>
              <a:rPr lang="ru-RU" dirty="0" err="1"/>
              <a:t>param_name</a:t>
            </a:r>
            <a:r>
              <a:rPr lang="ru-RU" dirty="0"/>
              <a:t> </a:t>
            </a:r>
            <a:r>
              <a:rPr lang="ru-RU" dirty="0" err="1"/>
              <a:t>type</a:t>
            </a:r>
            <a:endParaRPr lang="ru-RU" dirty="0"/>
          </a:p>
          <a:p>
            <a:r>
              <a:rPr lang="ru-RU" b="1" dirty="0"/>
              <a:t>RETURNS</a:t>
            </a:r>
          </a:p>
          <a:p>
            <a:r>
              <a:rPr lang="ru-RU" dirty="0" err="1"/>
              <a:t>type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31019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Пример функции, которая выдаёт на экран сообщение «Привет, </a:t>
            </a:r>
            <a:r>
              <a:rPr lang="ru-RU" sz="3200" b="1" dirty="0"/>
              <a:t>имя!</a:t>
            </a:r>
            <a:r>
              <a:rPr lang="ru-RU" sz="3200" dirty="0"/>
              <a:t>». Для этого опишем функцию: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CREATE FUNCTION hello(name char(15)) RETURNS char(50) 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begin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return </a:t>
            </a:r>
            <a:r>
              <a:rPr lang="en-US" b="1" dirty="0" err="1"/>
              <a:t>concat</a:t>
            </a:r>
            <a:r>
              <a:rPr lang="en-US" b="1" dirty="0"/>
              <a:t>('Hello, ',name, ‘!’);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end</a:t>
            </a:r>
            <a:endParaRPr lang="ru-RU" dirty="0"/>
          </a:p>
          <a:p>
            <a:endParaRPr lang="ru-RU" dirty="0"/>
          </a:p>
          <a:p>
            <a:r>
              <a:rPr lang="ru-RU" dirty="0"/>
              <a:t>Для вызова функции команда </a:t>
            </a:r>
            <a:r>
              <a:rPr lang="en-US" dirty="0"/>
              <a:t>Select</a:t>
            </a:r>
            <a:r>
              <a:rPr lang="ru-RU" dirty="0"/>
              <a:t> </a:t>
            </a:r>
            <a:r>
              <a:rPr lang="en-US" dirty="0"/>
              <a:t> hello(</a:t>
            </a:r>
            <a:r>
              <a:rPr lang="ru-RU" dirty="0"/>
              <a:t>‘</a:t>
            </a:r>
            <a:r>
              <a:rPr lang="en-US" dirty="0"/>
              <a:t>World</a:t>
            </a:r>
            <a:r>
              <a:rPr lang="ru-RU" dirty="0"/>
              <a:t>’);</a:t>
            </a:r>
          </a:p>
        </p:txBody>
      </p:sp>
    </p:spTree>
    <p:extLst>
      <p:ext uri="{BB962C8B-B14F-4D97-AF65-F5344CB8AC3E}">
        <p14:creationId xmlns:p14="http://schemas.microsoft.com/office/powerpoint/2010/main" val="21724066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Функция для вычисления факториала введённого числа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CREATE  FUNCTION factorial (n </a:t>
            </a:r>
            <a:r>
              <a:rPr lang="en-US" b="1" dirty="0" err="1"/>
              <a:t>int</a:t>
            </a:r>
            <a:r>
              <a:rPr lang="en-US" b="1" dirty="0"/>
              <a:t>) RETURNS </a:t>
            </a:r>
            <a:r>
              <a:rPr lang="en-US" b="1" dirty="0" err="1"/>
              <a:t>int</a:t>
            </a:r>
            <a:r>
              <a:rPr lang="en-US" b="1" dirty="0"/>
              <a:t>(11)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begin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declare i </a:t>
            </a:r>
            <a:r>
              <a:rPr lang="en-US" b="1" dirty="0" err="1"/>
              <a:t>int</a:t>
            </a:r>
            <a:r>
              <a:rPr lang="en-US" b="1" dirty="0"/>
              <a:t> default 1;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declare r </a:t>
            </a:r>
            <a:r>
              <a:rPr lang="en-US" b="1" dirty="0" err="1"/>
              <a:t>int</a:t>
            </a:r>
            <a:r>
              <a:rPr lang="en-US" b="1" dirty="0"/>
              <a:t> default 1;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while (i&lt;=n) do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set r=r*i;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set i=i+1;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end</a:t>
            </a:r>
            <a:r>
              <a:rPr lang="ru-RU" b="1" dirty="0"/>
              <a:t> </a:t>
            </a:r>
            <a:r>
              <a:rPr lang="ru-RU" b="1" dirty="0" err="1"/>
              <a:t>while</a:t>
            </a:r>
            <a:r>
              <a:rPr lang="ru-RU" b="1" dirty="0"/>
              <a:t>;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return</a:t>
            </a:r>
            <a:r>
              <a:rPr lang="ru-RU" b="1" dirty="0"/>
              <a:t> r;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11717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Пример функции, возвращающей</a:t>
            </a:r>
            <a:br>
              <a:rPr lang="ru-RU" b="1" dirty="0"/>
            </a:br>
            <a:r>
              <a:rPr lang="ru-RU" b="1" dirty="0"/>
              <a:t>1, если а</a:t>
            </a:r>
            <a:r>
              <a:rPr lang="en-US" b="1" dirty="0"/>
              <a:t>&lt;B</a:t>
            </a:r>
            <a:r>
              <a:rPr lang="ru-RU" b="1" dirty="0"/>
              <a:t>, 0, если а</a:t>
            </a:r>
            <a:r>
              <a:rPr lang="en-US" b="1" dirty="0"/>
              <a:t>&gt;=B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CREATE FUNCTION </a:t>
            </a:r>
            <a:r>
              <a:rPr lang="en-US" dirty="0" err="1"/>
              <a:t>eq</a:t>
            </a:r>
            <a:r>
              <a:rPr lang="en-US" dirty="0"/>
              <a:t>(IN a INT, IN b INT) RETURNS TINYINT(1)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NOT DETERMINISTIC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SQL SECURITY INVOKER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COMMENT '</a:t>
            </a:r>
            <a:r>
              <a:rPr lang="ru-RU" dirty="0"/>
              <a:t>Пример</a:t>
            </a:r>
            <a:r>
              <a:rPr lang="en-US" dirty="0"/>
              <a:t>'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BEGIN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IF a &lt; b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THEN RETURN 1;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ELSE RETURN 0;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END IF;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END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326852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Вызов процедуры </a:t>
            </a:r>
            <a:br>
              <a:rPr lang="ru-RU" dirty="0"/>
            </a:br>
            <a:r>
              <a:rPr lang="en-US" dirty="0"/>
              <a:t>SELECT </a:t>
            </a:r>
            <a:r>
              <a:rPr lang="en-US" dirty="0" err="1"/>
              <a:t>eq</a:t>
            </a:r>
            <a:r>
              <a:rPr lang="en-US" dirty="0"/>
              <a:t>(1,3); # </a:t>
            </a:r>
            <a:r>
              <a:rPr lang="ru-RU" dirty="0"/>
              <a:t>выведет</a:t>
            </a:r>
            <a:r>
              <a:rPr lang="en-US" dirty="0"/>
              <a:t> 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FUNCTION </a:t>
            </a:r>
            <a:r>
              <a:rPr lang="en-US" dirty="0" err="1"/>
              <a:t>eq</a:t>
            </a:r>
            <a:r>
              <a:rPr lang="en-US" dirty="0"/>
              <a:t>(IN a INT, IN b INT) RETURNS TINYINT(1)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BEGIN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IF a &lt; b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THEN RETURN 1;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ELSE RETURN 0;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END IF;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END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11408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/>
              <a:t>По умолчанию, функция или процедура связана с заданной по умолчанию базой данных. Чтобы сопоставить явно с другой базой данных, надо определять имя как </a:t>
            </a:r>
            <a:r>
              <a:rPr lang="ru-RU" dirty="0" err="1"/>
              <a:t>db_name.sp_name</a:t>
            </a:r>
            <a:r>
              <a:rPr lang="ru-RU" dirty="0"/>
              <a:t>, при её создании</a:t>
            </a:r>
          </a:p>
          <a:p>
            <a:pPr algn="just"/>
            <a:r>
              <a:rPr lang="ru-RU" dirty="0"/>
              <a:t>Если стандартное имя совпадает с именем встроенной функции SQL, мы должны использовать пробел между именем и следующей круглой скобкой при определении подпрограммы или происходит синтаксическая ошибка. Следует избегать многократно использовать имена существующих функций SQL для ваших функций или процедур.</a:t>
            </a:r>
          </a:p>
          <a:p>
            <a:pPr algn="just"/>
            <a:r>
              <a:rPr lang="ru-RU" dirty="0"/>
              <a:t>Список параметров, </a:t>
            </a:r>
            <a:r>
              <a:rPr lang="ru-RU" dirty="0" err="1"/>
              <a:t>включенный</a:t>
            </a:r>
            <a:r>
              <a:rPr lang="ru-RU" dirty="0"/>
              <a:t> внутри круглых скобок, должен всегда присутствовать. Если не имеется никаких параметров, должен использоваться пустой список параметров ().</a:t>
            </a:r>
          </a:p>
        </p:txBody>
      </p:sp>
    </p:spTree>
    <p:extLst>
      <p:ext uri="{BB962C8B-B14F-4D97-AF65-F5344CB8AC3E}">
        <p14:creationId xmlns:p14="http://schemas.microsoft.com/office/powerpoint/2010/main" val="30053274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712120"/>
          </a:xfrm>
        </p:spPr>
        <p:txBody>
          <a:bodyPr/>
          <a:lstStyle/>
          <a:p>
            <a:r>
              <a:rPr lang="ru-RU" dirty="0"/>
              <a:t>метаданные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1196752"/>
            <a:ext cx="7844408" cy="5328592"/>
          </a:xfrm>
        </p:spPr>
        <p:txBody>
          <a:bodyPr>
            <a:noAutofit/>
          </a:bodyPr>
          <a:lstStyle/>
          <a:p>
            <a:r>
              <a:rPr lang="ru-RU" sz="2800" dirty="0"/>
              <a:t>Существует четыре способа просмотреть данные, относящиеся к хранимым процедурам и функциям:</a:t>
            </a:r>
          </a:p>
          <a:p>
            <a:pPr lvl="1" algn="just"/>
            <a:r>
              <a:rPr lang="ru-RU" sz="2400" dirty="0"/>
              <a:t>Операторы </a:t>
            </a:r>
            <a:r>
              <a:rPr lang="en-US" sz="2400" cap="all" dirty="0"/>
              <a:t>Show procedure status</a:t>
            </a:r>
            <a:r>
              <a:rPr lang="ru-RU" sz="2400" cap="all" dirty="0"/>
              <a:t> / </a:t>
            </a:r>
            <a:r>
              <a:rPr lang="en-US" sz="2400" cap="all" dirty="0"/>
              <a:t>Show function status</a:t>
            </a:r>
            <a:r>
              <a:rPr lang="ru-RU" sz="2400" cap="all" dirty="0"/>
              <a:t> – </a:t>
            </a:r>
            <a:r>
              <a:rPr lang="ru-RU" sz="2400" dirty="0"/>
              <a:t>для просмотра списка уже созданных хранимых процедур/функций</a:t>
            </a:r>
            <a:endParaRPr lang="ru-RU" sz="1600" dirty="0"/>
          </a:p>
          <a:p>
            <a:pPr lvl="1" algn="just"/>
            <a:r>
              <a:rPr lang="ru-RU" sz="2400" dirty="0"/>
              <a:t>Операторы</a:t>
            </a:r>
            <a:r>
              <a:rPr lang="ru-RU" sz="2400" cap="all" dirty="0"/>
              <a:t> </a:t>
            </a:r>
            <a:r>
              <a:rPr lang="en-US" sz="2400" cap="all" dirty="0"/>
              <a:t>Show CREATE procedure</a:t>
            </a:r>
            <a:r>
              <a:rPr lang="ru-RU" sz="2400" cap="all" dirty="0"/>
              <a:t> / </a:t>
            </a:r>
            <a:r>
              <a:rPr lang="en-US" sz="2400" cap="all" dirty="0"/>
              <a:t>Show CREATE function</a:t>
            </a:r>
            <a:r>
              <a:rPr lang="ru-RU" sz="2400" cap="all" dirty="0"/>
              <a:t> – </a:t>
            </a:r>
            <a:r>
              <a:rPr lang="ru-RU" sz="2400" dirty="0"/>
              <a:t>выводит оператор при помощи которого была создана процедура/функция</a:t>
            </a:r>
            <a:endParaRPr lang="ru-RU" sz="1600" dirty="0"/>
          </a:p>
          <a:p>
            <a:pPr lvl="1" algn="just"/>
            <a:r>
              <a:rPr lang="ru-RU" sz="2400" dirty="0"/>
              <a:t>Запрос </a:t>
            </a:r>
            <a:r>
              <a:rPr lang="en-US" sz="2400" dirty="0"/>
              <a:t>SELECT FROM </a:t>
            </a:r>
            <a:r>
              <a:rPr lang="en-US" sz="2400" dirty="0" err="1"/>
              <a:t>mysql</a:t>
            </a:r>
            <a:r>
              <a:rPr lang="ru-RU" sz="2400" dirty="0"/>
              <a:t>.</a:t>
            </a:r>
            <a:r>
              <a:rPr lang="en-US" sz="2400" dirty="0" err="1"/>
              <a:t>proc</a:t>
            </a:r>
            <a:r>
              <a:rPr lang="ru-RU" sz="2400" dirty="0"/>
              <a:t> – получение информации о хранимых процедурах из системной базы данных</a:t>
            </a:r>
            <a:endParaRPr lang="ru-RU" sz="1600" dirty="0"/>
          </a:p>
          <a:p>
            <a:pPr lvl="1" algn="just"/>
            <a:r>
              <a:rPr lang="ru-RU" sz="2400" dirty="0"/>
              <a:t>Запрос</a:t>
            </a:r>
            <a:r>
              <a:rPr lang="en-US" sz="2400" dirty="0"/>
              <a:t> SELECT FROM </a:t>
            </a:r>
            <a:r>
              <a:rPr lang="en-US" sz="2400" dirty="0" err="1"/>
              <a:t>information_schema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604568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Операторы </a:t>
            </a:r>
            <a:r>
              <a:rPr lang="en-US" sz="4400" dirty="0"/>
              <a:t>Show procedure status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1D35CA-ABE3-4FA6-B841-AB23FEF95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4944"/>
            <a:ext cx="9144000" cy="223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713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F997221-CEA4-48E9-99B4-58031D28F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510" y="505223"/>
            <a:ext cx="5298978" cy="30601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4092" y="4162031"/>
            <a:ext cx="3407762" cy="1767141"/>
          </a:xfrm>
        </p:spPr>
        <p:txBody>
          <a:bodyPr>
            <a:normAutofit/>
          </a:bodyPr>
          <a:lstStyle/>
          <a:p>
            <a:pPr algn="r"/>
            <a:r>
              <a:rPr lang="en-US"/>
              <a:t>Show CREATE procedure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63440" y="4170410"/>
            <a:ext cx="3524415" cy="1767141"/>
          </a:xfrm>
        </p:spPr>
        <p:txBody>
          <a:bodyPr anchor="ctr">
            <a:normAutofit/>
          </a:bodyPr>
          <a:lstStyle/>
          <a:p>
            <a:endParaRPr lang="ru-RU" sz="1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2540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SELECT FROM </a:t>
            </a:r>
            <a:r>
              <a:rPr lang="en-US" sz="4400" dirty="0" err="1"/>
              <a:t>mysql</a:t>
            </a:r>
            <a:r>
              <a:rPr lang="ru-RU" sz="4400" dirty="0"/>
              <a:t>.</a:t>
            </a:r>
            <a:r>
              <a:rPr lang="en-US" sz="4400" dirty="0" err="1"/>
              <a:t>proc</a:t>
            </a:r>
            <a:endParaRPr lang="ru-RU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23"/>
          <a:stretch/>
        </p:blipFill>
        <p:spPr bwMode="auto">
          <a:xfrm>
            <a:off x="177162" y="2852936"/>
            <a:ext cx="8787326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931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FROM </a:t>
            </a:r>
            <a:r>
              <a:rPr lang="en-US" dirty="0" err="1"/>
              <a:t>information_schema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87"/>
          <a:stretch/>
        </p:blipFill>
        <p:spPr bwMode="auto">
          <a:xfrm>
            <a:off x="264583" y="3356992"/>
            <a:ext cx="858202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54737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Удаление хранимых процедур / функций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удаления хранимых процедур/функций предназначен оператор </a:t>
            </a:r>
          </a:p>
          <a:p>
            <a:r>
              <a:rPr lang="en-US" b="1" dirty="0"/>
              <a:t>DROP </a:t>
            </a:r>
            <a:r>
              <a:rPr lang="en-US" b="1" cap="all" dirty="0"/>
              <a:t>Procedure </a:t>
            </a:r>
            <a:r>
              <a:rPr lang="en-US" b="1" dirty="0"/>
              <a:t>[if exists] </a:t>
            </a:r>
            <a:r>
              <a:rPr lang="ru-RU" b="1" dirty="0"/>
              <a:t>имя</a:t>
            </a:r>
            <a:r>
              <a:rPr lang="en-US" b="1" dirty="0"/>
              <a:t>_</a:t>
            </a:r>
            <a:r>
              <a:rPr lang="ru-RU" b="1" dirty="0"/>
              <a:t>процедуры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69072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Редактирование хранимых процедур/функций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Для изменения характеристик хранимой процедуры/функции предназначен оператор </a:t>
            </a:r>
          </a:p>
          <a:p>
            <a:pPr marL="0" indent="0">
              <a:buNone/>
            </a:pPr>
            <a:r>
              <a:rPr lang="en-US" dirty="0"/>
              <a:t>ALTER {PROCEDURE | FUNCTION} </a:t>
            </a:r>
            <a:r>
              <a:rPr lang="en-US" dirty="0" err="1"/>
              <a:t>sp_name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[characteristic ...]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characteristic: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{CONTAINS SQL | NO SQL | READS SQL DATA | MODIFIES SQL DATA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| SQL SECURITY { DEFINER | INVOKER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| COMMENT 'string'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00247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Обработчики ошибок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 время выполнения хранимых процедур/функций могут происходить самые разнообразные ошибки. Ошибки следует отслеживать и предпринимать действия, направленные на их предотвращение. </a:t>
            </a:r>
          </a:p>
          <a:p>
            <a:r>
              <a:rPr lang="ru-RU" dirty="0"/>
              <a:t>СУБД </a:t>
            </a:r>
            <a:r>
              <a:rPr lang="en-US" dirty="0"/>
              <a:t>MYSQL</a:t>
            </a:r>
            <a:r>
              <a:rPr lang="ru-RU" dirty="0"/>
              <a:t> поддерживает обработчик ошибок, для объявления обработчика ошибок предназначен оператор </a:t>
            </a:r>
            <a:r>
              <a:rPr lang="en-US" dirty="0"/>
              <a:t>DECLARE</a:t>
            </a:r>
            <a:r>
              <a:rPr lang="ru-RU" dirty="0"/>
              <a:t>… </a:t>
            </a:r>
            <a:r>
              <a:rPr lang="en-US" dirty="0"/>
              <a:t>HANDLER FOR</a:t>
            </a:r>
            <a:r>
              <a:rPr lang="ru-RU" dirty="0"/>
              <a:t>:</a:t>
            </a:r>
          </a:p>
          <a:p>
            <a:r>
              <a:rPr lang="en-US" b="1" dirty="0"/>
              <a:t>DECLARE </a:t>
            </a:r>
            <a:r>
              <a:rPr lang="ru-RU" b="1" dirty="0" err="1"/>
              <a:t>тип_обрабочика</a:t>
            </a:r>
            <a:r>
              <a:rPr lang="ru-RU" b="1" dirty="0"/>
              <a:t> </a:t>
            </a:r>
            <a:r>
              <a:rPr lang="en-US" b="1" dirty="0"/>
              <a:t>HANDLER FOR</a:t>
            </a:r>
            <a:r>
              <a:rPr lang="ru-RU" b="1" dirty="0"/>
              <a:t> </a:t>
            </a:r>
            <a:r>
              <a:rPr lang="ru-RU" b="1" dirty="0" err="1"/>
              <a:t>код_ошибки</a:t>
            </a:r>
            <a:r>
              <a:rPr lang="ru-RU" b="1" dirty="0"/>
              <a:t> действия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5351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 обработчика может принимать значение: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/>
              <a:t>CONTINUE</a:t>
            </a:r>
            <a:r>
              <a:rPr lang="ru-RU" dirty="0"/>
              <a:t> – выполнение текущей операции продолжается после выполнения операций обработчика</a:t>
            </a:r>
          </a:p>
          <a:p>
            <a:pPr lvl="0" algn="just"/>
            <a:r>
              <a:rPr lang="en-US" dirty="0"/>
              <a:t>EXIT</a:t>
            </a:r>
            <a:r>
              <a:rPr lang="ru-RU" dirty="0"/>
              <a:t> – выполнение составного оператора </a:t>
            </a:r>
            <a:r>
              <a:rPr lang="en-US" dirty="0"/>
              <a:t>BEGIN</a:t>
            </a:r>
            <a:r>
              <a:rPr lang="ru-RU" dirty="0"/>
              <a:t>…</a:t>
            </a:r>
            <a:r>
              <a:rPr lang="en-US" dirty="0"/>
              <a:t>END</a:t>
            </a:r>
            <a:r>
              <a:rPr lang="ru-RU" dirty="0"/>
              <a:t>, в котором объявлен обработчик, прекращается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37050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Код ошибки может быть указан через запятую и может принимать одно из следующих значений: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US" dirty="0"/>
              <a:t>SQLSTATE</a:t>
            </a:r>
            <a:r>
              <a:rPr lang="ru-RU" dirty="0"/>
              <a:t> – является </a:t>
            </a:r>
            <a:r>
              <a:rPr lang="ru-RU" dirty="0" err="1"/>
              <a:t>пятисимвольным</a:t>
            </a:r>
            <a:r>
              <a:rPr lang="ru-RU" dirty="0"/>
              <a:t> кодом ошибки в шестнадцатеричном формате и является стандартом в </a:t>
            </a:r>
            <a:r>
              <a:rPr lang="en-US" dirty="0"/>
              <a:t>SQL</a:t>
            </a:r>
            <a:endParaRPr lang="ru-RU" dirty="0"/>
          </a:p>
          <a:p>
            <a:pPr lvl="0" algn="just"/>
            <a:r>
              <a:rPr lang="en-US" dirty="0"/>
              <a:t>SQLWARNING</a:t>
            </a:r>
            <a:r>
              <a:rPr lang="ru-RU" dirty="0"/>
              <a:t> – любое предупреждение </a:t>
            </a:r>
            <a:r>
              <a:rPr lang="en-US" dirty="0"/>
              <a:t>MySQL</a:t>
            </a:r>
            <a:r>
              <a:rPr lang="ru-RU" dirty="0"/>
              <a:t>. Код ошибки начинается с ‘01’</a:t>
            </a:r>
          </a:p>
          <a:p>
            <a:pPr lvl="0" algn="just"/>
            <a:r>
              <a:rPr lang="en-US" dirty="0"/>
              <a:t>NOT FOUND</a:t>
            </a:r>
            <a:r>
              <a:rPr lang="ru-RU" dirty="0"/>
              <a:t> – любая ошибка </a:t>
            </a:r>
            <a:r>
              <a:rPr lang="en-US" dirty="0"/>
              <a:t>MySQL</a:t>
            </a:r>
            <a:r>
              <a:rPr lang="ru-RU" dirty="0"/>
              <a:t>, связанная с невозможностью найти объект (таблицу, процедуру, функцию, столбец). Код ошибки начинается с </a:t>
            </a:r>
            <a:r>
              <a:rPr lang="en-US" dirty="0"/>
              <a:t>‘02’</a:t>
            </a:r>
            <a:endParaRPr lang="ru-RU" dirty="0"/>
          </a:p>
          <a:p>
            <a:pPr lvl="0" algn="just"/>
            <a:r>
              <a:rPr lang="en-US" dirty="0"/>
              <a:t>SQLEXCEPTION</a:t>
            </a:r>
            <a:r>
              <a:rPr lang="ru-RU" dirty="0"/>
              <a:t> – ошибки, не охваченные ключевыми словами </a:t>
            </a:r>
            <a:r>
              <a:rPr lang="en-US" dirty="0"/>
              <a:t>SQLWARNING</a:t>
            </a:r>
            <a:r>
              <a:rPr lang="ru-RU" dirty="0"/>
              <a:t> и </a:t>
            </a:r>
            <a:r>
              <a:rPr lang="en-US" dirty="0"/>
              <a:t>NOT FOUND</a:t>
            </a:r>
            <a:endParaRPr lang="ru-RU" dirty="0"/>
          </a:p>
          <a:p>
            <a:pPr lvl="0" algn="just"/>
            <a:r>
              <a:rPr lang="en-US" dirty="0" err="1"/>
              <a:t>mysql</a:t>
            </a:r>
            <a:r>
              <a:rPr lang="ru-RU" dirty="0"/>
              <a:t>_</a:t>
            </a:r>
            <a:r>
              <a:rPr lang="en-US" dirty="0"/>
              <a:t>error</a:t>
            </a:r>
            <a:r>
              <a:rPr lang="ru-RU" dirty="0"/>
              <a:t>_</a:t>
            </a:r>
            <a:r>
              <a:rPr lang="en-US" dirty="0"/>
              <a:t>code</a:t>
            </a:r>
            <a:r>
              <a:rPr lang="ru-RU" dirty="0"/>
              <a:t> – обычные четырёхзначные ошибки </a:t>
            </a:r>
            <a:r>
              <a:rPr lang="en-US" dirty="0"/>
              <a:t>MySQL</a:t>
            </a:r>
            <a:endParaRPr lang="ru-RU" dirty="0"/>
          </a:p>
          <a:p>
            <a:pPr lvl="0" algn="just"/>
            <a:r>
              <a:rPr lang="en-US" dirty="0"/>
              <a:t>condition</a:t>
            </a:r>
            <a:r>
              <a:rPr lang="ru-RU" dirty="0"/>
              <a:t>_</a:t>
            </a:r>
            <a:r>
              <a:rPr lang="en-US" dirty="0"/>
              <a:t>name</a:t>
            </a:r>
            <a:r>
              <a:rPr lang="ru-RU" dirty="0"/>
              <a:t> – имя условия, которое объявляется при помощи оператора </a:t>
            </a:r>
            <a:r>
              <a:rPr lang="en-US" dirty="0"/>
              <a:t>DECLARE</a:t>
            </a:r>
            <a:r>
              <a:rPr lang="ru-RU" dirty="0"/>
              <a:t>…</a:t>
            </a:r>
            <a:r>
              <a:rPr lang="en-US" dirty="0"/>
              <a:t>CONDITOR FOR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436776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для выполнения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Создайте выполняемую хранимую процедуру для вычисления суммы (произведения) натуральных чисел от 1 до n.</a:t>
            </a:r>
          </a:p>
          <a:p>
            <a:pPr algn="just"/>
            <a:r>
              <a:rPr lang="ru-RU" dirty="0"/>
              <a:t>Напишите функцию, которая по номеру месяца вывести выведет название месяца (например, январь).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69456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64C70D-90DA-4CF1-8B4F-AB4C412473D6}"/>
              </a:ext>
            </a:extLst>
          </p:cNvPr>
          <p:cNvSpPr txBox="1"/>
          <p:nvPr/>
        </p:nvSpPr>
        <p:spPr>
          <a:xfrm>
            <a:off x="827584" y="836712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54943-353B-4AEC-BF1A-ADEC7394C2A9}"/>
              </a:ext>
            </a:extLst>
          </p:cNvPr>
          <p:cNvSpPr txBox="1"/>
          <p:nvPr/>
        </p:nvSpPr>
        <p:spPr>
          <a:xfrm>
            <a:off x="1115616" y="692696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DEA9E-9685-4ACB-8106-D20EB2E349D7}"/>
              </a:ext>
            </a:extLst>
          </p:cNvPr>
          <p:cNvSpPr txBox="1"/>
          <p:nvPr/>
        </p:nvSpPr>
        <p:spPr>
          <a:xfrm>
            <a:off x="827584" y="1772816"/>
            <a:ext cx="5616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Вам нужно реализовать 3 представления по вашей </a:t>
            </a:r>
            <a:r>
              <a:rPr lang="ru-RU" dirty="0" err="1"/>
              <a:t>бд</a:t>
            </a:r>
            <a:endParaRPr lang="ru-RU" dirty="0"/>
          </a:p>
          <a:p>
            <a:endParaRPr lang="ru-RU" dirty="0"/>
          </a:p>
          <a:p>
            <a:r>
              <a:rPr lang="ru-RU" dirty="0"/>
              <a:t>1 из низ </a:t>
            </a:r>
            <a:r>
              <a:rPr lang="ru-RU"/>
              <a:t>модифицируемое должно быть</a:t>
            </a:r>
          </a:p>
        </p:txBody>
      </p:sp>
    </p:spTree>
    <p:extLst>
      <p:ext uri="{BB962C8B-B14F-4D97-AF65-F5344CB8AC3E}">
        <p14:creationId xmlns:p14="http://schemas.microsoft.com/office/powerpoint/2010/main" val="1293078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TC103090434[[fn=Тип дерева]]</Template>
  <TotalTime>1429</TotalTime>
  <Words>4819</Words>
  <Application>Microsoft Office PowerPoint</Application>
  <PresentationFormat>Экран (4:3)</PresentationFormat>
  <Paragraphs>491</Paragraphs>
  <Slides>106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106</vt:i4>
      </vt:variant>
    </vt:vector>
  </HeadingPairs>
  <TitlesOfParts>
    <vt:vector size="114" baseType="lpstr">
      <vt:lpstr>Calibri</vt:lpstr>
      <vt:lpstr>Cambria</vt:lpstr>
      <vt:lpstr>Rockwell</vt:lpstr>
      <vt:lpstr>Rockwell Condensed</vt:lpstr>
      <vt:lpstr>Rockwell Extra Bold</vt:lpstr>
      <vt:lpstr>Times New Roman</vt:lpstr>
      <vt:lpstr>Wingdings</vt:lpstr>
      <vt:lpstr>Дерево</vt:lpstr>
      <vt:lpstr>Хранимые процедуры и функции</vt:lpstr>
      <vt:lpstr>Prepared Statements (Готовые Инструкции)</vt:lpstr>
      <vt:lpstr>Синтаксис PREPARE</vt:lpstr>
      <vt:lpstr>Синтаксис EXECUTE</vt:lpstr>
      <vt:lpstr>Презентация PowerPoint</vt:lpstr>
      <vt:lpstr>Синтаксис DEALLOCATE</vt:lpstr>
      <vt:lpstr>Пример 2</vt:lpstr>
      <vt:lpstr>Хранимые процедуры и функции</vt:lpstr>
      <vt:lpstr>Хранимые процедуры имеют ряд преимуществ</vt:lpstr>
      <vt:lpstr>Создание хранимой процедуры</vt:lpstr>
      <vt:lpstr>DEFINER</vt:lpstr>
      <vt:lpstr>Имя процедуры</vt:lpstr>
      <vt:lpstr>Параметры</vt:lpstr>
      <vt:lpstr>[IN | OUT | INOUT ]  param_name type</vt:lpstr>
      <vt:lpstr>IN</vt:lpstr>
      <vt:lpstr>OUT </vt:lpstr>
      <vt:lpstr>INOUT</vt:lpstr>
      <vt:lpstr>По умолчанию</vt:lpstr>
      <vt:lpstr>Презентация PowerPoint</vt:lpstr>
      <vt:lpstr>Характеристика</vt:lpstr>
      <vt:lpstr>Презентация PowerPoint</vt:lpstr>
      <vt:lpstr>Презентация PowerPoint</vt:lpstr>
      <vt:lpstr>Презентация PowerPoint</vt:lpstr>
      <vt:lpstr>Презентация PowerPoint</vt:lpstr>
      <vt:lpstr>По умолчанию характеристика имеет следующие значение:</vt:lpstr>
      <vt:lpstr>Тело процедуры</vt:lpstr>
      <vt:lpstr>Вызов процедуры</vt:lpstr>
      <vt:lpstr>Переменные</vt:lpstr>
      <vt:lpstr>Кодировка</vt:lpstr>
      <vt:lpstr>Презентация PowerPoint</vt:lpstr>
      <vt:lpstr>Локальные переменные процедуры</vt:lpstr>
      <vt:lpstr>Презентация PowerPoint</vt:lpstr>
      <vt:lpstr>Пример объявления переменной через SET:</vt:lpstr>
      <vt:lpstr>SELECT @t1:=(@t2:=1)+@t3:=4, @t1, @t2, @t3;</vt:lpstr>
      <vt:lpstr>Презентация PowerPoint</vt:lpstr>
      <vt:lpstr>Преимущества использования переменных</vt:lpstr>
      <vt:lpstr>Недостатки использования пользовательских переменных</vt:lpstr>
      <vt:lpstr>Области видимости</vt:lpstr>
      <vt:lpstr>Пример</vt:lpstr>
      <vt:lpstr>Типы переменых</vt:lpstr>
      <vt:lpstr>Время жизни переменных</vt:lpstr>
      <vt:lpstr>Системные переменные</vt:lpstr>
      <vt:lpstr>Глобальные переменные</vt:lpstr>
      <vt:lpstr>Системные переменные MySQL сервера</vt:lpstr>
      <vt:lpstr>Тело процедуры</vt:lpstr>
      <vt:lpstr>Метка</vt:lpstr>
      <vt:lpstr>Презентация PowerPoint</vt:lpstr>
      <vt:lpstr>Перенаправление символа окончания запроса</vt:lpstr>
      <vt:lpstr>Презентация PowerPoint</vt:lpstr>
      <vt:lpstr>Перенаправление символа окончания запроса:</vt:lpstr>
      <vt:lpstr>Имя хранимой процедуры</vt:lpstr>
      <vt:lpstr>Синтаксис хранимого кода</vt:lpstr>
      <vt:lpstr>Конструкция BEGIN … END</vt:lpstr>
      <vt:lpstr>Оператор Declare</vt:lpstr>
      <vt:lpstr>Условие DECLARE CONDITION для обработчика</vt:lpstr>
      <vt:lpstr>Курсоры</vt:lpstr>
      <vt:lpstr>Презентация PowerPoint</vt:lpstr>
      <vt:lpstr>Создаются курсоры при помощи оператора DECLARE</vt:lpstr>
      <vt:lpstr>Пример</vt:lpstr>
      <vt:lpstr>Открытие курсора</vt:lpstr>
      <vt:lpstr>Выборка из курсора в переменную</vt:lpstr>
      <vt:lpstr>Пример</vt:lpstr>
      <vt:lpstr>Закрытие курсора</vt:lpstr>
      <vt:lpstr>Как использовать курсоры</vt:lpstr>
      <vt:lpstr>Пример</vt:lpstr>
      <vt:lpstr>Конструкция SELECT … INTO</vt:lpstr>
      <vt:lpstr>Операторы управления потоком данных</vt:lpstr>
      <vt:lpstr>Оператор IF…THEN…ELSE</vt:lpstr>
      <vt:lpstr>Оператор множественного выбора CASE</vt:lpstr>
      <vt:lpstr>Пример</vt:lpstr>
      <vt:lpstr>Оператор WHILE</vt:lpstr>
      <vt:lpstr>Пример: процедуру, которая три раза выводит текущую дату с помощью функции NOW()</vt:lpstr>
      <vt:lpstr>Пример</vt:lpstr>
      <vt:lpstr>Для вызова процедуры</vt:lpstr>
      <vt:lpstr>Досрочный выхода из цикла</vt:lpstr>
      <vt:lpstr>Инструкция ITERATE</vt:lpstr>
      <vt:lpstr>Оператор REPEAT</vt:lpstr>
      <vt:lpstr>Пример</vt:lpstr>
      <vt:lpstr>Оператор LOOP</vt:lpstr>
      <vt:lpstr>Пример</vt:lpstr>
      <vt:lpstr>Оператор GOTO</vt:lpstr>
      <vt:lpstr>Пример1: Процедура, которая выводит имя версии MySQL</vt:lpstr>
      <vt:lpstr>Пример2. Процедура, которая подсчитывает количество записей в таблице Students:</vt:lpstr>
      <vt:lpstr>Пример 3. Создадим хранимую процедуру, которая по первичному ключу книги kod_gr выдаёт название группы.</vt:lpstr>
      <vt:lpstr>Задача</vt:lpstr>
      <vt:lpstr>Хранимые функции</vt:lpstr>
      <vt:lpstr>Синтаксис: </vt:lpstr>
      <vt:lpstr>Отличия от процедуры</vt:lpstr>
      <vt:lpstr>Параметры функции</vt:lpstr>
      <vt:lpstr>Пример функции, которая выдаёт на экран сообщение «Привет, имя!». Для этого опишем функцию:</vt:lpstr>
      <vt:lpstr>Функция для вычисления факториала введённого числа</vt:lpstr>
      <vt:lpstr>Пример функции, возвращающей 1, если а&lt;B, 0, если а&gt;=B</vt:lpstr>
      <vt:lpstr>Вызов процедуры  SELECT eq(1,3); # выведет 1</vt:lpstr>
      <vt:lpstr>Примечания</vt:lpstr>
      <vt:lpstr>метаданные</vt:lpstr>
      <vt:lpstr>Операторы Show procedure status</vt:lpstr>
      <vt:lpstr>Show CREATE procedure</vt:lpstr>
      <vt:lpstr>SELECT FROM mysql.proc</vt:lpstr>
      <vt:lpstr>SELECT FROM information_schema</vt:lpstr>
      <vt:lpstr>Удаление хранимых процедур / функций</vt:lpstr>
      <vt:lpstr>Редактирование хранимых процедур/функций</vt:lpstr>
      <vt:lpstr>Обработчики ошибок</vt:lpstr>
      <vt:lpstr>Тип обработчика может принимать значение:</vt:lpstr>
      <vt:lpstr>Код ошибки может быть указан через запятую и может принимать одно из следующих значений:</vt:lpstr>
      <vt:lpstr>Задание для выполнения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Хранимые процедуры и функции</dc:title>
  <dc:creator>Лариса</dc:creator>
  <cp:lastModifiedBy>local</cp:lastModifiedBy>
  <cp:revision>67</cp:revision>
  <dcterms:created xsi:type="dcterms:W3CDTF">2013-10-20T17:05:39Z</dcterms:created>
  <dcterms:modified xsi:type="dcterms:W3CDTF">2026-09-18T13:40:39Z</dcterms:modified>
</cp:coreProperties>
</file>