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54"/>
  </p:notesMasterIdLst>
  <p:sldIdLst>
    <p:sldId id="306" r:id="rId2"/>
    <p:sldId id="388" r:id="rId3"/>
    <p:sldId id="307" r:id="rId4"/>
    <p:sldId id="389" r:id="rId5"/>
    <p:sldId id="372" r:id="rId6"/>
    <p:sldId id="308" r:id="rId7"/>
    <p:sldId id="350" r:id="rId8"/>
    <p:sldId id="349" r:id="rId9"/>
    <p:sldId id="371" r:id="rId10"/>
    <p:sldId id="378" r:id="rId11"/>
    <p:sldId id="309" r:id="rId12"/>
    <p:sldId id="367" r:id="rId13"/>
    <p:sldId id="310" r:id="rId14"/>
    <p:sldId id="356" r:id="rId15"/>
    <p:sldId id="357" r:id="rId16"/>
    <p:sldId id="358" r:id="rId17"/>
    <p:sldId id="351" r:id="rId18"/>
    <p:sldId id="392" r:id="rId19"/>
    <p:sldId id="345" r:id="rId20"/>
    <p:sldId id="312" r:id="rId21"/>
    <p:sldId id="374" r:id="rId22"/>
    <p:sldId id="359" r:id="rId23"/>
    <p:sldId id="360" r:id="rId24"/>
    <p:sldId id="373" r:id="rId25"/>
    <p:sldId id="361" r:id="rId26"/>
    <p:sldId id="365" r:id="rId27"/>
    <p:sldId id="315" r:id="rId28"/>
    <p:sldId id="366" r:id="rId29"/>
    <p:sldId id="347" r:id="rId30"/>
    <p:sldId id="352" r:id="rId31"/>
    <p:sldId id="313" r:id="rId32"/>
    <p:sldId id="384" r:id="rId33"/>
    <p:sldId id="390" r:id="rId34"/>
    <p:sldId id="362" r:id="rId35"/>
    <p:sldId id="377" r:id="rId36"/>
    <p:sldId id="363" r:id="rId37"/>
    <p:sldId id="316" r:id="rId38"/>
    <p:sldId id="317" r:id="rId39"/>
    <p:sldId id="355" r:id="rId40"/>
    <p:sldId id="348" r:id="rId41"/>
    <p:sldId id="364" r:id="rId42"/>
    <p:sldId id="318" r:id="rId43"/>
    <p:sldId id="311" r:id="rId44"/>
    <p:sldId id="370" r:id="rId45"/>
    <p:sldId id="381" r:id="rId46"/>
    <p:sldId id="382" r:id="rId47"/>
    <p:sldId id="385" r:id="rId48"/>
    <p:sldId id="379" r:id="rId49"/>
    <p:sldId id="383" r:id="rId50"/>
    <p:sldId id="380" r:id="rId51"/>
    <p:sldId id="386" r:id="rId52"/>
    <p:sldId id="387" r:id="rId53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05D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73" autoAdjust="0"/>
    <p:restoredTop sz="94660"/>
  </p:normalViewPr>
  <p:slideViewPr>
    <p:cSldViewPr>
      <p:cViewPr varScale="1">
        <p:scale>
          <a:sx n="103" d="100"/>
          <a:sy n="103" d="100"/>
        </p:scale>
        <p:origin x="102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B157A-2F9B-4638-BFCD-9D0FF8957B5D}" type="datetimeFigureOut">
              <a:rPr lang="ru-RU" smtClean="0"/>
              <a:pPr/>
              <a:t>28.03.2016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1AD19-E8D3-4F43-9449-FF6EE840458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399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A6E8-1A2C-44B1-B292-73FD2F023A1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8073-F5F3-4110-AC45-444DAE2A68E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DE0BA-D4AD-429F-B414-1D16846FB00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C2A8C-64BA-447F-8FCC-CB0774A2DDB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F52C-55BE-4241-A255-D56301BC192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C901-5B2A-4E69-A80A-B6EE0ECB92D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0EEC-8839-4EA6-B26F-C23EDFCF335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7737-4151-4F07-A1A0-C19B3C869A6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6C519-B5E5-4D42-8E08-A6983961A1E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114B-7DCF-48C4-8E77-1F7B4329E80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95A96-47A2-4393-9B7D-8B17B8805F9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7450" y="285750"/>
            <a:ext cx="7432675" cy="11271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69E873D-43F0-4863-8BE6-F707F950C993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CAF53-8715-42CB-A6AE-73F44B55233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63688" y="1125538"/>
            <a:ext cx="6761162" cy="1462087"/>
          </a:xfrm>
        </p:spPr>
        <p:txBody>
          <a:bodyPr/>
          <a:lstStyle/>
          <a:p>
            <a:r>
              <a:rPr lang="ru-RU" sz="4200"/>
              <a:t>Триггеры</a:t>
            </a:r>
            <a:r>
              <a:rPr lang="en-US" sz="4200"/>
              <a:t> </a:t>
            </a:r>
            <a:r>
              <a:rPr lang="ru-RU" sz="4200"/>
              <a:t>в </a:t>
            </a:r>
            <a:r>
              <a:rPr lang="en-US" sz="4200"/>
              <a:t>MS SQL Server</a:t>
            </a:r>
            <a:endParaRPr lang="ru-RU" sz="4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такое триггер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1" dirty="0" smtClean="0"/>
              <a:t>Триггер</a:t>
            </a:r>
            <a:r>
              <a:rPr lang="ru-RU" dirty="0"/>
              <a:t> – это откомпилированная </a:t>
            </a:r>
            <a:r>
              <a:rPr lang="ru-RU" dirty="0" smtClean="0"/>
              <a:t>SQL-процедура</a:t>
            </a:r>
          </a:p>
          <a:p>
            <a:r>
              <a:rPr lang="ru-RU" dirty="0" smtClean="0"/>
              <a:t>Исполнение обусловлено </a:t>
            </a:r>
            <a:r>
              <a:rPr lang="ru-RU" dirty="0"/>
              <a:t>наступлением определенных событий внутри реляционной базы </a:t>
            </a:r>
            <a:r>
              <a:rPr lang="ru-RU" dirty="0" smtClean="0"/>
              <a:t>данных</a:t>
            </a:r>
          </a:p>
          <a:p>
            <a:r>
              <a:rPr lang="ru-RU" dirty="0" smtClean="0"/>
              <a:t>Не имеет параметров </a:t>
            </a:r>
          </a:p>
          <a:p>
            <a:r>
              <a:rPr lang="ru-RU" dirty="0" smtClean="0"/>
              <a:t>Становится «одним целым» с вызвавшей операцией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8953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3" name="AutoShape 13"/>
          <p:cNvSpPr>
            <a:spLocks noChangeArrowheads="1"/>
          </p:cNvSpPr>
          <p:nvPr/>
        </p:nvSpPr>
        <p:spPr bwMode="auto">
          <a:xfrm>
            <a:off x="3565525" y="3213100"/>
            <a:ext cx="1943100" cy="20875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  <a:p>
            <a:endParaRPr lang="ru-RU"/>
          </a:p>
          <a:p>
            <a:pPr>
              <a:spcAft>
                <a:spcPct val="20000"/>
              </a:spcAft>
            </a:pPr>
            <a:r>
              <a:rPr lang="en-US"/>
              <a:t>DDL-</a:t>
            </a:r>
            <a:r>
              <a:rPr lang="ru-RU"/>
              <a:t>события:</a:t>
            </a:r>
          </a:p>
          <a:p>
            <a:r>
              <a:rPr lang="en-US"/>
              <a:t>Create,</a:t>
            </a:r>
          </a:p>
          <a:p>
            <a:r>
              <a:rPr lang="en-US"/>
              <a:t>Drop,</a:t>
            </a:r>
          </a:p>
          <a:p>
            <a:r>
              <a:rPr lang="en-US"/>
              <a:t>Alter</a:t>
            </a:r>
            <a:endParaRPr lang="ru-RU"/>
          </a:p>
          <a:p>
            <a:endParaRPr lang="ru-RU"/>
          </a:p>
        </p:txBody>
      </p:sp>
      <p:sp>
        <p:nvSpPr>
          <p:cNvPr id="71694" name="AutoShape 14"/>
          <p:cNvSpPr>
            <a:spLocks noChangeArrowheads="1"/>
          </p:cNvSpPr>
          <p:nvPr/>
        </p:nvSpPr>
        <p:spPr bwMode="auto">
          <a:xfrm>
            <a:off x="6443663" y="3213100"/>
            <a:ext cx="2089150" cy="20875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Logon</a:t>
            </a:r>
            <a:endParaRPr lang="ru-RU"/>
          </a:p>
        </p:txBody>
      </p:sp>
      <p:sp>
        <p:nvSpPr>
          <p:cNvPr id="71692" name="AutoShape 12"/>
          <p:cNvSpPr>
            <a:spLocks noChangeArrowheads="1"/>
          </p:cNvSpPr>
          <p:nvPr/>
        </p:nvSpPr>
        <p:spPr bwMode="auto">
          <a:xfrm>
            <a:off x="684213" y="3213100"/>
            <a:ext cx="1943100" cy="20875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400"/>
          </a:p>
          <a:p>
            <a:pPr>
              <a:spcAft>
                <a:spcPct val="20000"/>
              </a:spcAft>
            </a:pPr>
            <a:r>
              <a:rPr lang="en-US" sz="1800"/>
              <a:t>DML-</a:t>
            </a:r>
            <a:r>
              <a:rPr lang="ru-RU" sz="1800"/>
              <a:t>события:</a:t>
            </a:r>
          </a:p>
          <a:p>
            <a:r>
              <a:rPr lang="en-US" sz="1800"/>
              <a:t>Insert,</a:t>
            </a:r>
          </a:p>
          <a:p>
            <a:r>
              <a:rPr lang="en-US" sz="1800"/>
              <a:t>Delete,</a:t>
            </a:r>
          </a:p>
          <a:p>
            <a:r>
              <a:rPr lang="en-US" sz="1800"/>
              <a:t>Update</a:t>
            </a:r>
            <a:endParaRPr lang="ru-RU" sz="1800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</a:t>
            </a:r>
            <a:r>
              <a:rPr lang="ru-RU" dirty="0"/>
              <a:t>триггеров</a:t>
            </a:r>
          </a:p>
        </p:txBody>
      </p:sp>
      <p:sp>
        <p:nvSpPr>
          <p:cNvPr id="71685" name="AutoShape 5"/>
          <p:cNvSpPr>
            <a:spLocks noChangeArrowheads="1"/>
          </p:cNvSpPr>
          <p:nvPr/>
        </p:nvSpPr>
        <p:spPr bwMode="auto">
          <a:xfrm>
            <a:off x="3708400" y="1844675"/>
            <a:ext cx="1655763" cy="574675"/>
          </a:xfrm>
          <a:prstGeom prst="roundRect">
            <a:avLst>
              <a:gd name="adj" fmla="val 16667"/>
            </a:avLst>
          </a:prstGeom>
          <a:solidFill>
            <a:srgbClr val="FFE05D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/>
              <a:t>Триггеры</a:t>
            </a:r>
          </a:p>
        </p:txBody>
      </p:sp>
      <p:sp>
        <p:nvSpPr>
          <p:cNvPr id="71686" name="AutoShape 6"/>
          <p:cNvSpPr>
            <a:spLocks noChangeArrowheads="1"/>
          </p:cNvSpPr>
          <p:nvPr/>
        </p:nvSpPr>
        <p:spPr bwMode="auto">
          <a:xfrm>
            <a:off x="6443663" y="3141663"/>
            <a:ext cx="2087562" cy="574675"/>
          </a:xfrm>
          <a:prstGeom prst="roundRect">
            <a:avLst>
              <a:gd name="adj" fmla="val 16667"/>
            </a:avLst>
          </a:prstGeom>
          <a:solidFill>
            <a:srgbClr val="FFE05D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Logon-</a:t>
            </a:r>
            <a:r>
              <a:rPr lang="ru-RU"/>
              <a:t>триггеры</a:t>
            </a:r>
          </a:p>
        </p:txBody>
      </p:sp>
      <p:sp>
        <p:nvSpPr>
          <p:cNvPr id="71687" name="AutoShape 7"/>
          <p:cNvSpPr>
            <a:spLocks noChangeArrowheads="1"/>
          </p:cNvSpPr>
          <p:nvPr/>
        </p:nvSpPr>
        <p:spPr bwMode="auto">
          <a:xfrm>
            <a:off x="3565525" y="3141663"/>
            <a:ext cx="1943100" cy="574675"/>
          </a:xfrm>
          <a:prstGeom prst="roundRect">
            <a:avLst>
              <a:gd name="adj" fmla="val 16667"/>
            </a:avLst>
          </a:prstGeom>
          <a:solidFill>
            <a:srgbClr val="FFE05D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DDL-</a:t>
            </a:r>
            <a:r>
              <a:rPr lang="ru-RU"/>
              <a:t>триггеры</a:t>
            </a:r>
          </a:p>
        </p:txBody>
      </p:sp>
      <p:sp>
        <p:nvSpPr>
          <p:cNvPr id="71688" name="AutoShape 8"/>
          <p:cNvSpPr>
            <a:spLocks noChangeArrowheads="1"/>
          </p:cNvSpPr>
          <p:nvPr/>
        </p:nvSpPr>
        <p:spPr bwMode="auto">
          <a:xfrm>
            <a:off x="684213" y="3141663"/>
            <a:ext cx="1943100" cy="574675"/>
          </a:xfrm>
          <a:prstGeom prst="roundRect">
            <a:avLst>
              <a:gd name="adj" fmla="val 16667"/>
            </a:avLst>
          </a:prstGeom>
          <a:solidFill>
            <a:srgbClr val="FFE05D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DML-</a:t>
            </a:r>
            <a:r>
              <a:rPr lang="ru-RU"/>
              <a:t>триггеры</a:t>
            </a:r>
          </a:p>
        </p:txBody>
      </p:sp>
      <p:sp>
        <p:nvSpPr>
          <p:cNvPr id="71689" name="Line 9"/>
          <p:cNvSpPr>
            <a:spLocks noChangeShapeType="1"/>
          </p:cNvSpPr>
          <p:nvPr/>
        </p:nvSpPr>
        <p:spPr bwMode="auto">
          <a:xfrm flipH="1">
            <a:off x="1692275" y="2420938"/>
            <a:ext cx="2808288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71690" name="Line 10"/>
          <p:cNvSpPr>
            <a:spLocks noChangeShapeType="1"/>
          </p:cNvSpPr>
          <p:nvPr/>
        </p:nvSpPr>
        <p:spPr bwMode="auto">
          <a:xfrm flipH="1">
            <a:off x="4500563" y="2420938"/>
            <a:ext cx="0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71691" name="Line 11"/>
          <p:cNvSpPr>
            <a:spLocks noChangeShapeType="1"/>
          </p:cNvSpPr>
          <p:nvPr/>
        </p:nvSpPr>
        <p:spPr bwMode="auto">
          <a:xfrm>
            <a:off x="4500563" y="2420938"/>
            <a:ext cx="2951162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71695" name="Oval 15"/>
          <p:cNvSpPr>
            <a:spLocks noChangeArrowheads="1"/>
          </p:cNvSpPr>
          <p:nvPr/>
        </p:nvSpPr>
        <p:spPr bwMode="auto">
          <a:xfrm>
            <a:off x="179388" y="2708275"/>
            <a:ext cx="2952750" cy="3025775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71697" name="AutoShape 17"/>
          <p:cNvSpPr>
            <a:spLocks noChangeArrowheads="1"/>
          </p:cNvSpPr>
          <p:nvPr/>
        </p:nvSpPr>
        <p:spPr bwMode="auto">
          <a:xfrm>
            <a:off x="5219700" y="5589588"/>
            <a:ext cx="1512888" cy="936625"/>
          </a:xfrm>
          <a:prstGeom prst="wedgeRoundRectCallout">
            <a:avLst>
              <a:gd name="adj1" fmla="val -96171"/>
              <a:gd name="adj2" fmla="val -80509"/>
              <a:gd name="adj3" fmla="val 16667"/>
            </a:avLst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ru-RU" sz="1400"/>
              <a:t>Появились в </a:t>
            </a:r>
            <a:r>
              <a:rPr lang="en-US" sz="1400"/>
              <a:t>SQL Server 2005</a:t>
            </a:r>
            <a:endParaRPr lang="ru-RU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Назначение триггеров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1800"/>
              </a:spcBef>
            </a:pPr>
            <a:r>
              <a:rPr lang="ru-RU" dirty="0" smtClean="0"/>
              <a:t>Проверка </a:t>
            </a:r>
            <a:r>
              <a:rPr lang="ru-RU" dirty="0"/>
              <a:t>корректности введенных данных и выполнение сложных </a:t>
            </a:r>
            <a:r>
              <a:rPr lang="ru-RU" i="1" dirty="0"/>
              <a:t>ограничений целостности данных</a:t>
            </a:r>
            <a:r>
              <a:rPr lang="ru-RU" dirty="0"/>
              <a:t>, которые трудно, если вообще возможно, поддерживать с помощью ограничений целостности, установленных для </a:t>
            </a:r>
            <a:r>
              <a:rPr lang="ru-RU" dirty="0" smtClean="0"/>
              <a:t>таблицы.</a:t>
            </a:r>
            <a:endParaRPr lang="ru-RU" dirty="0"/>
          </a:p>
          <a:p>
            <a:pPr>
              <a:spcBef>
                <a:spcPts val="1800"/>
              </a:spcBef>
            </a:pPr>
            <a:r>
              <a:rPr lang="ru-RU" dirty="0" smtClean="0"/>
              <a:t>Накопление </a:t>
            </a:r>
            <a:r>
              <a:rPr lang="ru-RU" dirty="0"/>
              <a:t>аудиторской информации посредством фиксации сведений о внесенных изменениях и тех лицах, которые их </a:t>
            </a:r>
            <a:r>
              <a:rPr lang="ru-RU" dirty="0" smtClean="0"/>
              <a:t>выполнили.</a:t>
            </a:r>
            <a:endParaRPr lang="ru-RU" dirty="0"/>
          </a:p>
          <a:p>
            <a:pPr>
              <a:spcBef>
                <a:spcPts val="1800"/>
              </a:spcBef>
            </a:pPr>
            <a:r>
              <a:rPr lang="ru-RU" dirty="0" smtClean="0"/>
              <a:t>Автоматического </a:t>
            </a:r>
            <a:r>
              <a:rPr lang="ru-RU" dirty="0"/>
              <a:t>оповещения других модулей о том, что делать в случае изменения информации содержащейся в таблице БД.</a:t>
            </a:r>
          </a:p>
          <a:p>
            <a:pPr>
              <a:spcBef>
                <a:spcPts val="1800"/>
              </a:spcBef>
            </a:pPr>
            <a:r>
              <a:rPr lang="ru-RU" dirty="0"/>
              <a:t>Для реализации так называемых "бизнес правил".</a:t>
            </a:r>
          </a:p>
          <a:p>
            <a:pPr>
              <a:spcBef>
                <a:spcPts val="1800"/>
              </a:spcBef>
            </a:pPr>
            <a:r>
              <a:rPr lang="ru-RU" dirty="0"/>
              <a:t>Для организации каскадных воздействий на таблицы </a:t>
            </a:r>
            <a:r>
              <a:rPr lang="ru-RU" dirty="0" smtClean="0"/>
              <a:t>БД</a:t>
            </a:r>
            <a:r>
              <a:rPr lang="en-US" dirty="0" smtClean="0"/>
              <a:t> (</a:t>
            </a:r>
            <a:r>
              <a:rPr lang="ru-RU" dirty="0" smtClean="0"/>
              <a:t>могут действовать не только при равенстве значений).</a:t>
            </a:r>
            <a:endParaRPr lang="ru-RU" dirty="0"/>
          </a:p>
          <a:p>
            <a:pPr>
              <a:spcBef>
                <a:spcPts val="1800"/>
              </a:spcBef>
            </a:pPr>
            <a:r>
              <a:rPr lang="ru-RU" dirty="0"/>
              <a:t>Поддержка репликации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7386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Когда нужны триггеры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77500" lnSpcReduction="20000"/>
          </a:bodyPr>
          <a:lstStyle/>
          <a:p>
            <a:r>
              <a:rPr lang="ru-RU" sz="3600" dirty="0" smtClean="0"/>
              <a:t>Чтобы оценить состояние таблицы до и после изменения данных и предпринять действия на основе этого различия.</a:t>
            </a:r>
          </a:p>
          <a:p>
            <a:endParaRPr lang="ru-RU" sz="3600" dirty="0" smtClean="0"/>
          </a:p>
          <a:p>
            <a:r>
              <a:rPr lang="ru-RU" sz="3600" dirty="0" smtClean="0"/>
              <a:t>Для предотвращения действий, нарушающих бизнес-логику приложения</a:t>
            </a:r>
            <a:br>
              <a:rPr lang="ru-RU" sz="3600" dirty="0" smtClean="0"/>
            </a:br>
            <a:endParaRPr lang="ru-RU" sz="3600" dirty="0" smtClean="0"/>
          </a:p>
          <a:p>
            <a:r>
              <a:rPr lang="ru-RU" sz="3600" dirty="0" smtClean="0"/>
              <a:t>Несколько DML-триггеров одинакового типа (INSERT, UPDATE или DELETE) для таблицы позволяют предпринять несколько различных действий в ответ на одну инструкцию изменения данных.</a:t>
            </a:r>
            <a:endParaRPr lang="ru-RU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DML</a:t>
            </a:r>
            <a:r>
              <a:rPr lang="ru-RU"/>
              <a:t>-триггеры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28736"/>
            <a:ext cx="7772400" cy="4857784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Aft>
                <a:spcPct val="20000"/>
              </a:spcAft>
            </a:pPr>
            <a:r>
              <a:rPr lang="ru-RU" sz="2800" dirty="0" smtClean="0"/>
              <a:t>Триггер создается по одной таблице базы данных</a:t>
            </a:r>
            <a:endParaRPr lang="en-US" sz="2800" dirty="0" smtClean="0"/>
          </a:p>
          <a:p>
            <a:pPr>
              <a:lnSpc>
                <a:spcPct val="95000"/>
              </a:lnSpc>
              <a:spcAft>
                <a:spcPct val="20000"/>
              </a:spcAft>
            </a:pPr>
            <a:r>
              <a:rPr lang="ru-RU" sz="2800" dirty="0" smtClean="0"/>
              <a:t>Может осуществлять доступ и к другим таблицам и объектам других баз данных. </a:t>
            </a:r>
          </a:p>
          <a:p>
            <a:pPr>
              <a:lnSpc>
                <a:spcPct val="95000"/>
              </a:lnSpc>
              <a:spcAft>
                <a:spcPct val="20000"/>
              </a:spcAft>
            </a:pPr>
            <a:r>
              <a:rPr lang="ru-RU" sz="2800" dirty="0" smtClean="0"/>
              <a:t>Триггеры нельзя создать по временным таблицам или системным таблицам, а только по определенным пользователем таблицам или представлениям. </a:t>
            </a:r>
          </a:p>
          <a:p>
            <a:pPr>
              <a:lnSpc>
                <a:spcPct val="95000"/>
              </a:lnSpc>
              <a:spcAft>
                <a:spcPct val="20000"/>
              </a:spcAft>
            </a:pPr>
            <a:r>
              <a:rPr lang="ru-RU" sz="2800" dirty="0" smtClean="0"/>
              <a:t>Таблица, по которой определяется триггер, называется </a:t>
            </a:r>
            <a:r>
              <a:rPr lang="ru-RU" sz="2800" i="1" dirty="0" smtClean="0"/>
              <a:t>таблицей триггера.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DML - trigger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Объект - таблица, VIEW</a:t>
            </a:r>
          </a:p>
          <a:p>
            <a:r>
              <a:rPr lang="ru-RU" sz="3600" dirty="0" smtClean="0"/>
              <a:t>Событие - </a:t>
            </a:r>
            <a:r>
              <a:rPr lang="ru-RU" sz="3600" dirty="0" err="1" smtClean="0"/>
              <a:t>insert</a:t>
            </a:r>
            <a:r>
              <a:rPr lang="ru-RU" sz="3600" dirty="0" smtClean="0"/>
              <a:t>, </a:t>
            </a:r>
            <a:r>
              <a:rPr lang="ru-RU" sz="3600" dirty="0" err="1" smtClean="0"/>
              <a:t>update</a:t>
            </a:r>
            <a:r>
              <a:rPr lang="ru-RU" sz="3600" dirty="0" smtClean="0"/>
              <a:t>, </a:t>
            </a:r>
            <a:r>
              <a:rPr lang="ru-RU" sz="3600" dirty="0" err="1" smtClean="0"/>
              <a:t>delete</a:t>
            </a:r>
            <a:r>
              <a:rPr lang="ru-RU" sz="3600" dirty="0" smtClean="0"/>
              <a:t> для таблицы и  для VIEW.</a:t>
            </a:r>
          </a:p>
          <a:p>
            <a:r>
              <a:rPr lang="ru-RU" sz="3600" dirty="0" smtClean="0"/>
              <a:t>Время активации – до</a:t>
            </a:r>
            <a:r>
              <a:rPr lang="en-US" sz="3600" dirty="0" smtClean="0"/>
              <a:t> (</a:t>
            </a:r>
            <a:r>
              <a:rPr lang="ru-RU" sz="3600" dirty="0" smtClean="0"/>
              <a:t>вместо) или после выполнения оператора.</a:t>
            </a:r>
          </a:p>
          <a:p>
            <a:endParaRPr lang="ru-RU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DML</a:t>
            </a:r>
            <a:r>
              <a:rPr lang="ru-RU"/>
              <a:t>-триггеры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844675"/>
            <a:ext cx="7772400" cy="4114800"/>
          </a:xfrm>
        </p:spPr>
        <p:txBody>
          <a:bodyPr/>
          <a:lstStyle/>
          <a:p>
            <a:pPr>
              <a:lnSpc>
                <a:spcPct val="95000"/>
              </a:lnSpc>
              <a:spcAft>
                <a:spcPct val="20000"/>
              </a:spcAft>
            </a:pPr>
            <a:r>
              <a:rPr lang="ru-RU" sz="2800" dirty="0"/>
              <a:t>Триггер – </a:t>
            </a:r>
            <a:r>
              <a:rPr lang="ru-RU" sz="2800" dirty="0" smtClean="0"/>
              <a:t>блок, </a:t>
            </a:r>
            <a:r>
              <a:rPr lang="ru-RU" sz="2800" dirty="0"/>
              <a:t>выполняемый </a:t>
            </a:r>
            <a:r>
              <a:rPr lang="ru-RU" sz="2800" u="sng" dirty="0"/>
              <a:t>автоматически</a:t>
            </a:r>
            <a:r>
              <a:rPr lang="ru-RU" sz="2800" dirty="0"/>
              <a:t> каждый раз, когда происходит определенное событие</a:t>
            </a:r>
            <a:endParaRPr lang="en-US" sz="2800" dirty="0"/>
          </a:p>
          <a:p>
            <a:pPr lvl="1">
              <a:spcBef>
                <a:spcPct val="10000"/>
              </a:spcBef>
            </a:pPr>
            <a:r>
              <a:rPr lang="ru-RU" sz="2400" dirty="0"/>
              <a:t>в отличие от процедуры, которая должна быть вызвана явно</a:t>
            </a:r>
          </a:p>
          <a:p>
            <a:pPr>
              <a:lnSpc>
                <a:spcPct val="95000"/>
              </a:lnSpc>
              <a:spcBef>
                <a:spcPct val="50000"/>
              </a:spcBef>
              <a:spcAft>
                <a:spcPct val="30000"/>
              </a:spcAft>
            </a:pPr>
            <a:r>
              <a:rPr lang="ru-RU" sz="2800" dirty="0"/>
              <a:t>Событие –</a:t>
            </a:r>
            <a:r>
              <a:rPr lang="en-US" sz="2800" dirty="0"/>
              <a:t> INSERT, UPDATE </a:t>
            </a:r>
            <a:r>
              <a:rPr lang="ru-RU" sz="2800" dirty="0"/>
              <a:t>и </a:t>
            </a:r>
            <a:r>
              <a:rPr lang="en-US" sz="2800" dirty="0"/>
              <a:t>DELETE </a:t>
            </a:r>
            <a:r>
              <a:rPr lang="ru-RU" sz="2800" dirty="0"/>
              <a:t>для </a:t>
            </a:r>
            <a:r>
              <a:rPr lang="ru-RU" sz="2800" u="sng" dirty="0"/>
              <a:t>таблицы, представления</a:t>
            </a:r>
          </a:p>
          <a:p>
            <a:pPr lvl="1">
              <a:spcBef>
                <a:spcPct val="10000"/>
              </a:spcBef>
            </a:pPr>
            <a:r>
              <a:rPr lang="ru-RU" sz="2400" dirty="0"/>
              <a:t>для запроса нельзя определить триггер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Когда нужны триггеры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600200"/>
            <a:ext cx="8424936" cy="4709120"/>
          </a:xfrm>
        </p:spPr>
        <p:txBody>
          <a:bodyPr>
            <a:noAutofit/>
          </a:bodyPr>
          <a:lstStyle/>
          <a:p>
            <a:r>
              <a:rPr lang="ru-RU" sz="2800" dirty="0" smtClean="0"/>
              <a:t>Для каскадных изменений в связанных таблицах БД (если их нельзя выполнить при помощи каскадных ограничений ссылочной целостности).</a:t>
            </a:r>
          </a:p>
          <a:p>
            <a:r>
              <a:rPr lang="ru-RU" sz="2800" dirty="0" smtClean="0"/>
              <a:t>Для предотвращения случайных или неправильных операций INSERT, UPDATE и DELETE</a:t>
            </a:r>
            <a:endParaRPr lang="en-US" sz="2800" dirty="0" smtClean="0"/>
          </a:p>
          <a:p>
            <a:r>
              <a:rPr lang="ru-RU" sz="2800" dirty="0" smtClean="0"/>
              <a:t>Для реализации ограничений целостности, которые нельзя определить при помощи ограничения CHECK. DML-триггеры могут ссылаться на столбцы других таблиц. </a:t>
            </a:r>
            <a:br>
              <a:rPr lang="ru-RU" sz="2800" dirty="0" smtClean="0"/>
            </a:br>
            <a:endParaRPr lang="ru-RU" sz="20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Еще…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Журнализация и аудит. С помощью триггеров можно отслеживать изменения таблиц, для которых требуется поддержка повышенного уровня безопасности. Данные об изменении таблиц могут сохраняться в других таблицах и включать, например, идентификатор пользователя</a:t>
            </a:r>
            <a:r>
              <a:rPr lang="ru-RU" dirty="0" smtClean="0"/>
              <a:t>, время  </a:t>
            </a:r>
            <a:r>
              <a:rPr lang="ru-RU" dirty="0"/>
              <a:t>операции обновления; сами обновляемые данные и т. д.</a:t>
            </a:r>
          </a:p>
          <a:p>
            <a:r>
              <a:rPr lang="ru-RU" dirty="0"/>
              <a:t>Согласование и очистка данных. С любым простым оператором SQL, обновляющим некоторую таблицу, можно связать триггеры, производящие соответствующие обновления других таблиц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Операции, не связанные с изменением базы данных. В триггерах могут выполняться не только операции обновления базы данных. Стандарт SQL позволяет определять хранимые процедуры (которые могут вызываться из триггеров), посылающие электронную почту, печатающие документы и т. д.</a:t>
            </a:r>
          </a:p>
        </p:txBody>
      </p:sp>
    </p:spTree>
    <p:extLst>
      <p:ext uri="{BB962C8B-B14F-4D97-AF65-F5344CB8AC3E}">
        <p14:creationId xmlns:p14="http://schemas.microsoft.com/office/powerpoint/2010/main" val="4293356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Когда не </a:t>
            </a:r>
            <a:r>
              <a:rPr lang="ru-RU" sz="3200" dirty="0" smtClean="0"/>
              <a:t>надо использовать триггеры</a:t>
            </a:r>
            <a:endParaRPr lang="ru-RU" sz="32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2017713"/>
            <a:ext cx="7772400" cy="4114800"/>
          </a:xfrm>
        </p:spPr>
        <p:txBody>
          <a:bodyPr/>
          <a:lstStyle/>
          <a:p>
            <a:pPr>
              <a:spcBef>
                <a:spcPct val="30000"/>
              </a:spcBef>
              <a:spcAft>
                <a:spcPct val="30000"/>
              </a:spcAft>
            </a:pPr>
            <a:r>
              <a:rPr lang="ru-RU" sz="2800" dirty="0" smtClean="0"/>
              <a:t>Не </a:t>
            </a:r>
            <a:r>
              <a:rPr lang="ru-RU" sz="2800" dirty="0"/>
              <a:t>нужно реализовывать триггерами возможности, достигаемые использованием декларативных средств СУБД</a:t>
            </a:r>
            <a:r>
              <a:rPr lang="en-US" sz="2800" dirty="0"/>
              <a:t> (</a:t>
            </a:r>
            <a:r>
              <a:rPr lang="ru-RU" sz="2800" dirty="0"/>
              <a:t>ограничения </a:t>
            </a:r>
            <a:r>
              <a:rPr lang="ru-RU" sz="2800" dirty="0" smtClean="0"/>
              <a:t>целостности или внешние ключи</a:t>
            </a:r>
            <a:r>
              <a:rPr lang="en-US" sz="2800" dirty="0" smtClean="0"/>
              <a:t>)</a:t>
            </a:r>
            <a:r>
              <a:rPr lang="ru-RU" sz="2800" dirty="0" smtClean="0"/>
              <a:t> </a:t>
            </a:r>
            <a:endParaRPr lang="ru-RU" sz="2800" dirty="0"/>
          </a:p>
          <a:p>
            <a:pPr>
              <a:spcBef>
                <a:spcPct val="30000"/>
              </a:spcBef>
              <a:spcAft>
                <a:spcPct val="30000"/>
              </a:spcAft>
            </a:pPr>
            <a:r>
              <a:rPr lang="ru-RU" sz="2800" dirty="0"/>
              <a:t>Избегайте сложных цепочек триггеров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Советы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Не используйте триггеры, если можно применить </a:t>
            </a:r>
            <a:r>
              <a:rPr lang="ru-RU" sz="3600" i="1" dirty="0" smtClean="0"/>
              <a:t>проверочное ограничение</a:t>
            </a:r>
            <a:r>
              <a:rPr lang="ru-RU" sz="3600" dirty="0" smtClean="0"/>
              <a:t> CHECK</a:t>
            </a:r>
          </a:p>
          <a:p>
            <a:r>
              <a:rPr lang="ru-RU" sz="3600" dirty="0" smtClean="0"/>
              <a:t>Не используйте ограничение CHECK, если можно обойтись ограничением UNIQUE.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</a:t>
            </a:r>
            <a:r>
              <a:rPr lang="ru-RU" dirty="0"/>
              <a:t>параметры триггера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835150"/>
            <a:ext cx="7772400" cy="4257675"/>
          </a:xfrm>
        </p:spPr>
        <p:txBody>
          <a:bodyPr>
            <a:normAutofit lnSpcReduction="10000"/>
          </a:bodyPr>
          <a:lstStyle/>
          <a:p>
            <a:r>
              <a:rPr lang="ru-RU" sz="2800" dirty="0"/>
              <a:t>Имя триггера</a:t>
            </a:r>
          </a:p>
          <a:p>
            <a:r>
              <a:rPr lang="ru-RU" sz="2800" dirty="0"/>
              <a:t>Имя </a:t>
            </a:r>
            <a:r>
              <a:rPr lang="ru-RU" sz="2800" dirty="0" smtClean="0"/>
              <a:t>таблицы (или представления)</a:t>
            </a:r>
            <a:endParaRPr lang="ru-RU" sz="2800" dirty="0"/>
          </a:p>
          <a:p>
            <a:r>
              <a:rPr lang="ru-RU" sz="2800" dirty="0"/>
              <a:t>Время срабатывания: </a:t>
            </a: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en-US" sz="2800" dirty="0" smtClean="0"/>
              <a:t>AFTER(FOR</a:t>
            </a:r>
            <a:r>
              <a:rPr lang="en-US" sz="2800" dirty="0"/>
              <a:t>) </a:t>
            </a:r>
            <a:r>
              <a:rPr lang="ru-RU" sz="2800" dirty="0"/>
              <a:t>или </a:t>
            </a:r>
            <a:r>
              <a:rPr lang="en-US" sz="2800" dirty="0"/>
              <a:t>INSTEAD OF</a:t>
            </a:r>
            <a:endParaRPr lang="ru-RU" sz="2800" dirty="0"/>
          </a:p>
          <a:p>
            <a:r>
              <a:rPr lang="ru-RU" sz="2800" dirty="0"/>
              <a:t>Событие: </a:t>
            </a:r>
            <a:r>
              <a:rPr lang="en-US" sz="2800" dirty="0"/>
              <a:t>INSERT, UPDATE, </a:t>
            </a:r>
            <a:r>
              <a:rPr lang="en-US" sz="2800" dirty="0" smtClean="0"/>
              <a:t>DELETE</a:t>
            </a:r>
            <a:r>
              <a:rPr lang="ru-RU" sz="2800" dirty="0" smtClean="0"/>
              <a:t> </a:t>
            </a:r>
            <a:r>
              <a:rPr lang="en-US" sz="2800" dirty="0" smtClean="0"/>
              <a:t> </a:t>
            </a:r>
            <a:r>
              <a:rPr lang="ru-RU" sz="2800" dirty="0" smtClean="0"/>
              <a:t>(</a:t>
            </a:r>
            <a:r>
              <a:rPr lang="en-US" sz="2800" dirty="0" smtClean="0"/>
              <a:t>TRUNCATE TABLE</a:t>
            </a:r>
            <a:r>
              <a:rPr lang="ru-RU" sz="2800" dirty="0" smtClean="0"/>
              <a:t> – это не удаление !)</a:t>
            </a:r>
            <a:endParaRPr lang="en-US" sz="2800" dirty="0"/>
          </a:p>
          <a:p>
            <a:r>
              <a:rPr lang="ru-RU" sz="2800" dirty="0"/>
              <a:t>Тело триггера</a:t>
            </a:r>
            <a:br>
              <a:rPr lang="ru-RU" sz="2800" dirty="0"/>
            </a:br>
            <a:endParaRPr lang="en-US" sz="2800" dirty="0"/>
          </a:p>
          <a:p>
            <a:pPr>
              <a:buFont typeface="Wingdings" pitchFamily="2" charset="2"/>
              <a:buNone/>
            </a:pPr>
            <a:r>
              <a:rPr lang="ru-RU" sz="2400" dirty="0"/>
              <a:t>	Последовательность срабатывания однотипных триггеров произвольна</a:t>
            </a: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323850" y="5178425"/>
            <a:ext cx="43338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5400" b="1">
                <a:solidFill>
                  <a:schemeClr val="bg2"/>
                </a:solidFill>
                <a:latin typeface="Verdana" pitchFamily="34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Группировка событий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Например, вы можете создать триггер, который будет активизироваться, когда происходит выполнение оператора UPDATE или INSERT, и такой триггер мы будем называть триггером UPDATE/INSERT. Вы можете даже создать триггер, который будет активизироваться при возникновении любого из трех событий модификации данных (триггер UPDATE/INSERT/DELETE).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Правила работы триггера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Триггеры запускаются после завершения оператора, который вызвал их активизацию. Например, UPDATE-триггер не будет активизироваться, пока не будет выполнен оператор UPDATE.</a:t>
            </a:r>
          </a:p>
          <a:p>
            <a:r>
              <a:rPr lang="ru-RU" dirty="0" smtClean="0"/>
              <a:t>Если какой-либо оператор пытается выполнить операцию, которая нарушает какое-либо ограничение по таблице или является причиной какой-то другой ошибки, то связанный с ним триггер не будет активизирован.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Правила работы триггера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Триггер рассматривается как часть одной транзакции вместе с оператором, который вызывает его. Поэтому из триггера можно вызвать оператор отката, и этот оператор выполнит откат как триггера, так и соответствующего события модификации данных. </a:t>
            </a:r>
            <a:endParaRPr lang="en-US" dirty="0" smtClean="0"/>
          </a:p>
          <a:p>
            <a:r>
              <a:rPr lang="ru-RU" dirty="0" smtClean="0"/>
              <a:t>При возникновении ошибки при выполнении триггера автоматически выполняется откат всей транзакции.</a:t>
            </a:r>
          </a:p>
          <a:p>
            <a:r>
              <a:rPr lang="ru-RU" dirty="0" smtClean="0"/>
              <a:t>Триггер активизируется только один раз для одного оператора, даже если этот оператор влияет на несколько строк данных.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400" dirty="0" smtClean="0"/>
              <a:t>CREATE TRIGGER </a:t>
            </a:r>
            <a:r>
              <a:rPr lang="en-US" sz="4400" dirty="0" err="1" smtClean="0"/>
              <a:t>trg</a:t>
            </a:r>
            <a:r>
              <a:rPr lang="en-US" sz="4400" dirty="0" smtClean="0"/>
              <a:t> ON </a:t>
            </a:r>
            <a:r>
              <a:rPr lang="en-US" sz="4400" dirty="0" err="1" smtClean="0"/>
              <a:t>my_table</a:t>
            </a:r>
            <a:r>
              <a:rPr lang="en-US" sz="4400" dirty="0" smtClean="0"/>
              <a:t> </a:t>
            </a:r>
            <a:endParaRPr lang="ru-RU" sz="4400" dirty="0" smtClean="0"/>
          </a:p>
          <a:p>
            <a:pPr>
              <a:buNone/>
            </a:pPr>
            <a:r>
              <a:rPr lang="en-US" sz="4400" dirty="0" smtClean="0"/>
              <a:t>FOR INSERT, UPDATE, DELETE AS </a:t>
            </a:r>
            <a:endParaRPr lang="ru-RU" sz="4400" dirty="0" smtClean="0"/>
          </a:p>
          <a:p>
            <a:pPr>
              <a:buNone/>
            </a:pPr>
            <a:r>
              <a:rPr lang="en-US" sz="4400" dirty="0" smtClean="0"/>
              <a:t>select "this is trigger"</a:t>
            </a:r>
            <a:endParaRPr lang="ru-RU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Рекурсия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Косвенная рекурсия</a:t>
            </a:r>
          </a:p>
          <a:p>
            <a:pPr marL="400050" lvl="1" indent="0">
              <a:buNone/>
            </a:pPr>
            <a:r>
              <a:rPr lang="ru-RU" dirty="0"/>
              <a:t>При косвенной рекурсии приложение обновляет таблицу T1. Это событие вызывает срабатывание триггера TR1, обновляющего таблицу T2. Это вызывает срабатывание триггера T2 и обновление таблицы T1.</a:t>
            </a:r>
          </a:p>
          <a:p>
            <a:r>
              <a:rPr lang="ru-RU" dirty="0"/>
              <a:t>Прямая рекурсия</a:t>
            </a:r>
          </a:p>
          <a:p>
            <a:pPr marL="400050" lvl="1" indent="0">
              <a:buNone/>
            </a:pPr>
            <a:r>
              <a:rPr lang="ru-RU" dirty="0"/>
              <a:t>При прямой рекурсии приложение обновляет таблицу T1. Это событие вызывает срабатывание триггера TR1, обновляющего таблицу T1. Поскольку таблица T1 уже была обновлена, триггер TR1 срабатывает снова и т. 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3894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 вызове триггера будут выполнены операторы </a:t>
            </a:r>
            <a:r>
              <a:rPr lang="en-US" dirty="0" smtClean="0"/>
              <a:t>SQL, </a:t>
            </a:r>
            <a:r>
              <a:rPr lang="ru-RU" dirty="0" smtClean="0"/>
              <a:t>указанные после ключевого слова </a:t>
            </a:r>
            <a:r>
              <a:rPr lang="en-US" dirty="0" smtClean="0"/>
              <a:t>AS. </a:t>
            </a:r>
            <a:r>
              <a:rPr lang="ru-RU" dirty="0" smtClean="0"/>
              <a:t>Вы можете поместить сюда несколько операторов, включая программные конструкции, такие как </a:t>
            </a:r>
            <a:r>
              <a:rPr lang="en-US" dirty="0" smtClean="0"/>
              <a:t>IF </a:t>
            </a:r>
            <a:r>
              <a:rPr lang="ru-RU" dirty="0" smtClean="0"/>
              <a:t>и </a:t>
            </a:r>
            <a:r>
              <a:rPr lang="en-US" dirty="0" smtClean="0"/>
              <a:t>WHILE.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Выбор типа триггера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844675"/>
            <a:ext cx="7772400" cy="4114800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ru-RU" sz="2800"/>
              <a:t>Триггеры </a:t>
            </a:r>
            <a:r>
              <a:rPr lang="en-US" sz="2800"/>
              <a:t>INSTEAD OF </a:t>
            </a:r>
            <a:r>
              <a:rPr lang="ru-RU" sz="2800"/>
              <a:t>используются для:</a:t>
            </a:r>
          </a:p>
          <a:p>
            <a:pPr lvl="1"/>
            <a:r>
              <a:rPr lang="ru-RU" sz="2400"/>
              <a:t>Выборочного запрещения исполнения команды, для которой определен триггер (проверки пред-условия);</a:t>
            </a:r>
          </a:p>
          <a:p>
            <a:pPr lvl="1"/>
            <a:r>
              <a:rPr lang="ru-RU" sz="2400"/>
              <a:t>Подсчета значений столбцов до завершения команды </a:t>
            </a:r>
            <a:r>
              <a:rPr lang="en-US" sz="2400"/>
              <a:t>INSERT </a:t>
            </a:r>
            <a:r>
              <a:rPr lang="ru-RU" sz="2400"/>
              <a:t>или </a:t>
            </a:r>
            <a:r>
              <a:rPr lang="en-US" sz="2400"/>
              <a:t>UPDATE.</a:t>
            </a:r>
          </a:p>
          <a:p>
            <a:pPr>
              <a:spcBef>
                <a:spcPct val="30000"/>
              </a:spcBef>
              <a:spcAft>
                <a:spcPct val="20000"/>
              </a:spcAft>
            </a:pPr>
            <a:r>
              <a:rPr lang="ru-RU" sz="2800"/>
              <a:t>Триггеры </a:t>
            </a:r>
            <a:r>
              <a:rPr lang="en-US" sz="2800"/>
              <a:t>AFTER </a:t>
            </a:r>
            <a:r>
              <a:rPr lang="ru-RU" sz="2800"/>
              <a:t>используются для:</a:t>
            </a:r>
            <a:endParaRPr lang="en-US" sz="2800"/>
          </a:p>
          <a:p>
            <a:pPr lvl="1"/>
            <a:r>
              <a:rPr lang="ru-RU" sz="2400"/>
              <a:t>Учета выполненных операций;</a:t>
            </a:r>
          </a:p>
          <a:p>
            <a:pPr lvl="1"/>
            <a:r>
              <a:rPr lang="ru-RU" sz="2400"/>
              <a:t>Проверки пост-условий исполнения команды.</a:t>
            </a:r>
          </a:p>
          <a:p>
            <a:pPr lvl="1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Циклы и вложенность</a:t>
            </a:r>
            <a:endParaRPr lang="ru-RU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844675"/>
            <a:ext cx="7772400" cy="4114800"/>
          </a:xfrm>
        </p:spPr>
        <p:txBody>
          <a:bodyPr>
            <a:normAutofit/>
          </a:bodyPr>
          <a:lstStyle/>
          <a:p>
            <a:pPr>
              <a:spcAft>
                <a:spcPct val="20000"/>
              </a:spcAft>
            </a:pPr>
            <a:r>
              <a:rPr lang="ru-RU" sz="2800" dirty="0" smtClean="0"/>
              <a:t>SQL </a:t>
            </a:r>
            <a:r>
              <a:rPr lang="ru-RU" sz="2800" dirty="0" err="1" smtClean="0"/>
              <a:t>Server</a:t>
            </a:r>
            <a:r>
              <a:rPr lang="ru-RU" sz="2800" dirty="0" smtClean="0"/>
              <a:t> позволяет использовать вложенные триггеры, до 32 уровней вложенности. Если любой из вложенных триггеров выполняет операцию ROLLBACK, то последующие триггеры не запускаются. </a:t>
            </a:r>
          </a:p>
          <a:p>
            <a:pPr>
              <a:spcAft>
                <a:spcPct val="20000"/>
              </a:spcAft>
            </a:pPr>
            <a:r>
              <a:rPr lang="ru-RU" sz="2800" dirty="0" smtClean="0"/>
              <a:t>Запуск триггеров отменяется, если формируется бесконечный цикл.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Триггер INSTEAD OF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929222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Триггер INSTEAD OF выполняется вместо запуска оператора SQL. Тем самым переопределяется действие запускающего оператора. </a:t>
            </a:r>
          </a:p>
          <a:p>
            <a:r>
              <a:rPr lang="ru-RU" dirty="0" smtClean="0"/>
              <a:t>Можно задать по одному триггеру INSTEAD OF на один оператор INSERT, UPDATE или DELETE. </a:t>
            </a:r>
          </a:p>
          <a:p>
            <a:r>
              <a:rPr lang="ru-RU" dirty="0" smtClean="0"/>
              <a:t>Триггер INSTEAD OF можно задать для таблицы и/или представления </a:t>
            </a:r>
          </a:p>
          <a:p>
            <a:r>
              <a:rPr lang="ru-RU" dirty="0" smtClean="0"/>
              <a:t>Можно использовать каскады триггеров INSTEAD OF, определяя представления поверх представлений, где каждое представление имеет отдельный триггер INSTEAD OF. </a:t>
            </a:r>
          </a:p>
          <a:p>
            <a:r>
              <a:rPr lang="ru-RU" dirty="0" smtClean="0"/>
              <a:t>Триггеры INSTEAD OF не разрешается применять для модифицируемых представлений, содержащих опцию WITH CHECK. </a:t>
            </a: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Триггер AFTER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Триггеры AFTER могут быть определены только в таблицах.</a:t>
            </a:r>
          </a:p>
          <a:p>
            <a:r>
              <a:rPr lang="ru-RU" dirty="0" smtClean="0"/>
              <a:t>Триггер AFTER активизируется после успешного выполнения всех операций, указанных в запускающем операторе или операторах SQL. Сюда включается весь каскад действий по ссылкам и все проверки ограничений.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Триггер AFTER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Если у вас имеется несколько триггеров AFTER, определенных по таблице для определенного оператора или набора операторов, то вы можете задать, какой триггер будет активизирован первым и какой триггер – последним. </a:t>
            </a:r>
          </a:p>
          <a:p>
            <a:r>
              <a:rPr lang="ru-RU" dirty="0" smtClean="0"/>
              <a:t>Если у вас определено больше двух триггеров, то вы можете задать порядок активизации только первого и последнего триггера. Все остальные триггеры активизируются случайным образом.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Порядок </a:t>
            </a:r>
            <a:r>
              <a:rPr lang="en-US" dirty="0" smtClean="0"/>
              <a:t>AFTER</a:t>
            </a:r>
            <a:r>
              <a:rPr lang="ru-RU" dirty="0" smtClean="0"/>
              <a:t>-триггеров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sp_settriggerorder</a:t>
            </a:r>
            <a:r>
              <a:rPr lang="en-US" dirty="0" smtClean="0"/>
              <a:t> @</a:t>
            </a:r>
            <a:r>
              <a:rPr lang="en-US" dirty="0" err="1" smtClean="0"/>
              <a:t>triggername</a:t>
            </a:r>
            <a:r>
              <a:rPr lang="en-US" dirty="0" smtClean="0"/>
              <a:t> = '</a:t>
            </a:r>
            <a:r>
              <a:rPr lang="en-US" dirty="0" err="1" smtClean="0"/>
              <a:t>AnotherTrigger</a:t>
            </a:r>
            <a:r>
              <a:rPr lang="en-US" dirty="0" smtClean="0"/>
              <a:t>', @order = 'first' </a:t>
            </a:r>
            <a:endParaRPr lang="ru-RU" dirty="0" smtClean="0"/>
          </a:p>
          <a:p>
            <a:r>
              <a:rPr lang="en-US" dirty="0" err="1" smtClean="0"/>
              <a:t>sp_settriggerorder</a:t>
            </a:r>
            <a:r>
              <a:rPr lang="en-US" dirty="0" smtClean="0"/>
              <a:t> @</a:t>
            </a:r>
            <a:r>
              <a:rPr lang="en-US" dirty="0" err="1" smtClean="0"/>
              <a:t>triggername</a:t>
            </a:r>
            <a:r>
              <a:rPr lang="en-US" dirty="0" smtClean="0"/>
              <a:t> = '</a:t>
            </a:r>
            <a:r>
              <a:rPr lang="en-US" dirty="0" err="1" smtClean="0"/>
              <a:t>MyTrigger</a:t>
            </a:r>
            <a:r>
              <a:rPr lang="en-US" dirty="0" smtClean="0"/>
              <a:t>', @order = 'last' </a:t>
            </a:r>
            <a:endParaRPr lang="ru-RU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sp_settriggerorder</a:t>
            </a:r>
            <a:r>
              <a:rPr lang="en-US" dirty="0" smtClean="0"/>
              <a:t> @</a:t>
            </a:r>
            <a:r>
              <a:rPr lang="en-US" dirty="0" err="1" smtClean="0"/>
              <a:t>triggername</a:t>
            </a:r>
            <a:r>
              <a:rPr lang="en-US" dirty="0" smtClean="0"/>
              <a:t> = '</a:t>
            </a:r>
            <a:r>
              <a:rPr lang="en-US" dirty="0" err="1" smtClean="0"/>
              <a:t>MyOtherTrigger</a:t>
            </a:r>
            <a:r>
              <a:rPr lang="en-US" dirty="0" smtClean="0"/>
              <a:t>', @order = 'none' </a:t>
            </a:r>
            <a:endParaRPr lang="ru-RU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sp_settriggerorder</a:t>
            </a:r>
            <a:r>
              <a:rPr lang="en-US" dirty="0" smtClean="0"/>
              <a:t> @</a:t>
            </a:r>
            <a:r>
              <a:rPr lang="en-US" dirty="0" err="1" smtClean="0"/>
              <a:t>triggername</a:t>
            </a:r>
            <a:r>
              <a:rPr lang="en-US" dirty="0" smtClean="0"/>
              <a:t> = '</a:t>
            </a:r>
            <a:r>
              <a:rPr lang="en-US" dirty="0" err="1" smtClean="0"/>
              <a:t>YetAnotherTrigger</a:t>
            </a:r>
            <a:r>
              <a:rPr lang="en-US" dirty="0" smtClean="0"/>
              <a:t>', @order = 'none'</a:t>
            </a:r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Использование таблиц </a:t>
            </a:r>
            <a:r>
              <a:rPr lang="ru-RU" b="1" dirty="0" err="1" smtClean="0"/>
              <a:t>deleted</a:t>
            </a:r>
            <a:r>
              <a:rPr lang="ru-RU" b="1" dirty="0" smtClean="0"/>
              <a:t> и </a:t>
            </a:r>
            <a:r>
              <a:rPr lang="ru-RU" b="1" dirty="0" err="1" smtClean="0"/>
              <a:t>inserted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 создании триггера вы имеете доступ к двум временным таблицам с именами </a:t>
            </a:r>
            <a:r>
              <a:rPr lang="ru-RU" dirty="0" err="1" smtClean="0"/>
              <a:t>deleted</a:t>
            </a:r>
            <a:r>
              <a:rPr lang="ru-RU" dirty="0" smtClean="0"/>
              <a:t> и </a:t>
            </a:r>
            <a:r>
              <a:rPr lang="ru-RU" dirty="0" err="1" smtClean="0"/>
              <a:t>inserted</a:t>
            </a:r>
            <a:r>
              <a:rPr lang="ru-RU" dirty="0" smtClean="0"/>
              <a:t>. Они хранятся в памяти, а не на диске.</a:t>
            </a:r>
          </a:p>
          <a:p>
            <a:r>
              <a:rPr lang="ru-RU" dirty="0" smtClean="0"/>
              <a:t>Эти две таблицы имеют одинаковую структуру с таблицей (одинаковые колонки и типы данных), по которой определяется данный триггер.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Использование </a:t>
            </a:r>
            <a:r>
              <a:rPr lang="en-US"/>
              <a:t>inserted, deleted</a:t>
            </a:r>
            <a:endParaRPr lang="ru-RU"/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39750" y="2852738"/>
            <a:ext cx="8064500" cy="3322637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inserted</a:t>
            </a:r>
            <a:r>
              <a:rPr lang="en-US" sz="2800"/>
              <a:t> – </a:t>
            </a:r>
            <a:r>
              <a:rPr lang="ru-RU" sz="2800"/>
              <a:t>вставленные значения (для </a:t>
            </a:r>
            <a:r>
              <a:rPr lang="en-US" sz="2800"/>
              <a:t>INSERT, UPDATE</a:t>
            </a:r>
            <a:r>
              <a:rPr lang="ru-RU" sz="2800"/>
              <a:t>)</a:t>
            </a:r>
          </a:p>
          <a:p>
            <a:r>
              <a:rPr lang="en-US" sz="2800">
                <a:solidFill>
                  <a:schemeClr val="folHlink"/>
                </a:solidFill>
              </a:rPr>
              <a:t>deleted</a:t>
            </a:r>
            <a:r>
              <a:rPr lang="en-US" sz="2800"/>
              <a:t> – </a:t>
            </a:r>
            <a:r>
              <a:rPr lang="ru-RU" sz="2800"/>
              <a:t>удаленные значения</a:t>
            </a:r>
            <a:r>
              <a:rPr lang="en-US" sz="2800"/>
              <a:t> (</a:t>
            </a:r>
            <a:r>
              <a:rPr lang="ru-RU" sz="2800"/>
              <a:t>для </a:t>
            </a:r>
            <a:r>
              <a:rPr lang="en-US" sz="2800"/>
              <a:t>UPDATE, DELETE)</a:t>
            </a:r>
            <a:endParaRPr lang="ru-RU" sz="2800"/>
          </a:p>
        </p:txBody>
      </p:sp>
      <p:sp>
        <p:nvSpPr>
          <p:cNvPr id="65542" name="Rectangle 6"/>
          <p:cNvSpPr>
            <a:spLocks noChangeArrowheads="1"/>
          </p:cNvSpPr>
          <p:nvPr/>
        </p:nvSpPr>
        <p:spPr bwMode="auto">
          <a:xfrm>
            <a:off x="468313" y="1989138"/>
            <a:ext cx="74326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r>
              <a:rPr lang="ru-RU" sz="3200">
                <a:solidFill>
                  <a:schemeClr val="tx2"/>
                </a:solidFill>
              </a:rPr>
              <a:t>Специальные таблицы: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Использование таблиц </a:t>
            </a:r>
            <a:r>
              <a:rPr lang="ru-RU" b="1" dirty="0" err="1" smtClean="0"/>
              <a:t>deleted</a:t>
            </a:r>
            <a:r>
              <a:rPr lang="ru-RU" b="1" dirty="0" smtClean="0"/>
              <a:t> и </a:t>
            </a:r>
            <a:r>
              <a:rPr lang="ru-RU" b="1" dirty="0" err="1" smtClean="0"/>
              <a:t>inserted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 smtClean="0"/>
              <a:t>Таблица </a:t>
            </a:r>
            <a:r>
              <a:rPr lang="ru-RU" dirty="0" err="1" smtClean="0"/>
              <a:t>deleted</a:t>
            </a:r>
            <a:r>
              <a:rPr lang="ru-RU" dirty="0" smtClean="0"/>
              <a:t> содержит копии строк, на которые повлиял оператор</a:t>
            </a:r>
            <a:r>
              <a:rPr lang="en-US" dirty="0" smtClean="0"/>
              <a:t> </a:t>
            </a:r>
            <a:r>
              <a:rPr lang="ru-RU" dirty="0" smtClean="0"/>
              <a:t>DELETE или UPDATE. Строки, удаляемые из таблицы данного триггера, перемещаются в таблицу </a:t>
            </a:r>
            <a:r>
              <a:rPr lang="ru-RU" dirty="0" err="1" smtClean="0"/>
              <a:t>deleted</a:t>
            </a:r>
            <a:r>
              <a:rPr lang="ru-RU" dirty="0" smtClean="0"/>
              <a:t>. После этого к данным таблицы </a:t>
            </a:r>
            <a:r>
              <a:rPr lang="ru-RU" dirty="0" err="1" smtClean="0"/>
              <a:t>deleted</a:t>
            </a:r>
            <a:r>
              <a:rPr lang="ru-RU" dirty="0" smtClean="0"/>
              <a:t> можно осуществлять доступ из данного триггера. </a:t>
            </a:r>
          </a:p>
          <a:p>
            <a:r>
              <a:rPr lang="ru-RU" dirty="0" smtClean="0"/>
              <a:t>Таблица </a:t>
            </a:r>
            <a:r>
              <a:rPr lang="ru-RU" dirty="0" err="1" smtClean="0"/>
              <a:t>inserted</a:t>
            </a:r>
            <a:r>
              <a:rPr lang="ru-RU" dirty="0" smtClean="0"/>
              <a:t> содержит копии строк, добавленных к таблице данного триггера при выполнении оператора INSERT или UPDATE. Эти строки добавляются одновременно в таблицу триггера и в таблицу </a:t>
            </a:r>
            <a:r>
              <a:rPr lang="ru-RU" dirty="0" err="1" smtClean="0"/>
              <a:t>inserted</a:t>
            </a:r>
            <a:r>
              <a:rPr lang="ru-RU" dirty="0" smtClean="0"/>
              <a:t>. </a:t>
            </a:r>
            <a:endParaRPr lang="en-US" dirty="0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Использование таблиц </a:t>
            </a:r>
            <a:r>
              <a:rPr lang="ru-RU" b="1" dirty="0" err="1" smtClean="0"/>
              <a:t>deleted</a:t>
            </a:r>
            <a:r>
              <a:rPr lang="ru-RU" b="1" dirty="0" smtClean="0"/>
              <a:t> и </a:t>
            </a:r>
            <a:r>
              <a:rPr lang="ru-RU" b="1" dirty="0" err="1" smtClean="0"/>
              <a:t>inserted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Поскольку оператор UPDATE обрабатывается как DELETE, после которого следует INSERT, то при использовании оператора UPDATE старые значения строк копируются в таблицу </a:t>
            </a:r>
            <a:r>
              <a:rPr lang="ru-RU" dirty="0" err="1" smtClean="0"/>
              <a:t>deleted</a:t>
            </a:r>
            <a:r>
              <a:rPr lang="ru-RU" dirty="0" smtClean="0"/>
              <a:t>, а новые значения строк – в таблицу триггера и в таблицу </a:t>
            </a:r>
            <a:r>
              <a:rPr lang="ru-RU" dirty="0" err="1" smtClean="0"/>
              <a:t>inserted</a:t>
            </a:r>
            <a:r>
              <a:rPr lang="ru-RU" dirty="0" smtClean="0"/>
              <a:t>.</a:t>
            </a:r>
          </a:p>
          <a:p>
            <a:r>
              <a:rPr lang="ru-RU" dirty="0" smtClean="0"/>
              <a:t>Триггер INSERT =</a:t>
            </a:r>
            <a:r>
              <a:rPr lang="en-US" dirty="0" smtClean="0"/>
              <a:t>&gt; </a:t>
            </a:r>
            <a:r>
              <a:rPr lang="ru-RU" dirty="0" err="1" smtClean="0"/>
              <a:t>delete</a:t>
            </a:r>
            <a:r>
              <a:rPr lang="en-US" dirty="0" smtClean="0"/>
              <a:t>d</a:t>
            </a:r>
            <a:r>
              <a:rPr lang="ru-RU" dirty="0" smtClean="0"/>
              <a:t> пуст</a:t>
            </a:r>
          </a:p>
          <a:p>
            <a:r>
              <a:rPr lang="ru-RU" dirty="0" smtClean="0"/>
              <a:t>Триггер DELETE =</a:t>
            </a:r>
            <a:r>
              <a:rPr lang="en-US" dirty="0" smtClean="0"/>
              <a:t>&gt; </a:t>
            </a:r>
            <a:r>
              <a:rPr lang="ru-RU" dirty="0" err="1" smtClean="0"/>
              <a:t>inserted</a:t>
            </a:r>
            <a:r>
              <a:rPr lang="ru-RU" dirty="0" smtClean="0"/>
              <a:t> пуст</a:t>
            </a:r>
          </a:p>
          <a:p>
            <a:r>
              <a:rPr lang="ru-RU" dirty="0" smtClean="0"/>
              <a:t>но сообщение об ошибке не возникнет !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http://www.intuit.ru/department/database/olap/11/11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642918"/>
            <a:ext cx="6805704" cy="53201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Создание триггера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95488"/>
            <a:ext cx="8435975" cy="39544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ru-RU" sz="2800" dirty="0">
                <a:solidFill>
                  <a:schemeClr val="folHlink"/>
                </a:solidFill>
              </a:rPr>
              <a:t>CREATE TRIGGER</a:t>
            </a:r>
            <a:r>
              <a:rPr lang="ru-RU" sz="2800" dirty="0"/>
              <a:t> [ </a:t>
            </a:r>
            <a:r>
              <a:rPr lang="ru-RU" sz="2800" dirty="0" err="1"/>
              <a:t>schema_name</a:t>
            </a:r>
            <a:r>
              <a:rPr lang="en-US" sz="2800" dirty="0"/>
              <a:t>.</a:t>
            </a:r>
            <a:r>
              <a:rPr lang="ru-RU" sz="2800" dirty="0"/>
              <a:t>]</a:t>
            </a:r>
            <a:r>
              <a:rPr lang="ru-RU" sz="2800" dirty="0" err="1"/>
              <a:t>trigger_name</a:t>
            </a:r>
            <a:r>
              <a:rPr lang="ru-RU" sz="2800" dirty="0"/>
              <a:t> </a:t>
            </a:r>
            <a:r>
              <a:rPr lang="ru-RU" sz="2800" dirty="0">
                <a:solidFill>
                  <a:schemeClr val="folHlink"/>
                </a:solidFill>
              </a:rPr>
              <a:t>ON</a:t>
            </a:r>
            <a:r>
              <a:rPr lang="ru-RU" sz="2800" dirty="0"/>
              <a:t>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ru-RU" sz="2800" dirty="0" smtClean="0"/>
              <a:t>{ </a:t>
            </a:r>
            <a:r>
              <a:rPr lang="ru-RU" sz="2800" dirty="0" err="1"/>
              <a:t>table</a:t>
            </a:r>
            <a:r>
              <a:rPr lang="ru-RU" sz="2800" dirty="0"/>
              <a:t> | </a:t>
            </a:r>
            <a:r>
              <a:rPr lang="ru-RU" sz="2800" dirty="0" err="1"/>
              <a:t>view</a:t>
            </a:r>
            <a:r>
              <a:rPr lang="ru-RU" sz="2800" dirty="0"/>
              <a:t> }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ru-RU" sz="2800" dirty="0" smtClean="0"/>
              <a:t>{ </a:t>
            </a:r>
            <a:r>
              <a:rPr lang="ru-RU" sz="2800" dirty="0">
                <a:solidFill>
                  <a:schemeClr val="folHlink"/>
                </a:solidFill>
              </a:rPr>
              <a:t>FOR</a:t>
            </a:r>
            <a:r>
              <a:rPr lang="ru-RU" sz="2800" dirty="0"/>
              <a:t> | </a:t>
            </a:r>
            <a:r>
              <a:rPr lang="ru-RU" sz="2800" dirty="0">
                <a:solidFill>
                  <a:schemeClr val="folHlink"/>
                </a:solidFill>
              </a:rPr>
              <a:t>AFTER</a:t>
            </a:r>
            <a:r>
              <a:rPr lang="ru-RU" sz="2800" dirty="0"/>
              <a:t> | </a:t>
            </a:r>
            <a:r>
              <a:rPr lang="ru-RU" sz="2800" dirty="0">
                <a:solidFill>
                  <a:schemeClr val="folHlink"/>
                </a:solidFill>
              </a:rPr>
              <a:t>INSTEAD OF</a:t>
            </a:r>
            <a:r>
              <a:rPr lang="ru-RU" sz="2800" dirty="0"/>
              <a:t> }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ru-RU" sz="2800" dirty="0"/>
              <a:t>{ [ </a:t>
            </a:r>
            <a:r>
              <a:rPr lang="ru-RU" sz="2800" dirty="0">
                <a:solidFill>
                  <a:schemeClr val="folHlink"/>
                </a:solidFill>
              </a:rPr>
              <a:t>INSERT</a:t>
            </a:r>
            <a:r>
              <a:rPr lang="ru-RU" sz="2800" dirty="0"/>
              <a:t> ] [ , ] [ </a:t>
            </a:r>
            <a:r>
              <a:rPr lang="ru-RU" sz="2800" dirty="0">
                <a:solidFill>
                  <a:schemeClr val="folHlink"/>
                </a:solidFill>
              </a:rPr>
              <a:t>UPDATE</a:t>
            </a:r>
            <a:r>
              <a:rPr lang="ru-RU" sz="2800" dirty="0"/>
              <a:t> ] [ , ] [ </a:t>
            </a:r>
            <a:r>
              <a:rPr lang="ru-RU" sz="2800" dirty="0">
                <a:solidFill>
                  <a:schemeClr val="folHlink"/>
                </a:solidFill>
              </a:rPr>
              <a:t>DELETE</a:t>
            </a:r>
            <a:r>
              <a:rPr lang="ru-RU" sz="2800" dirty="0"/>
              <a:t> ] }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ru-RU" sz="2800" dirty="0" smtClean="0">
                <a:solidFill>
                  <a:schemeClr val="folHlink"/>
                </a:solidFill>
              </a:rPr>
              <a:t>AS</a:t>
            </a:r>
            <a:r>
              <a:rPr lang="ru-RU" sz="2800" dirty="0" smtClean="0"/>
              <a:t> </a:t>
            </a:r>
            <a:r>
              <a:rPr lang="ru-RU" sz="2800" dirty="0"/>
              <a:t>{ </a:t>
            </a:r>
            <a:r>
              <a:rPr lang="ru-RU" sz="2800" dirty="0" err="1" smtClean="0"/>
              <a:t>sql_statement</a:t>
            </a:r>
            <a:r>
              <a:rPr lang="ru-RU" sz="2800" dirty="0" smtClean="0"/>
              <a:t>} </a:t>
            </a:r>
            <a:endParaRPr lang="en-US" sz="2800" dirty="0"/>
          </a:p>
          <a:p>
            <a:pPr>
              <a:buFont typeface="Wingdings" pitchFamily="2" charset="2"/>
              <a:buNone/>
            </a:pPr>
            <a:endParaRPr lang="ru-RU" sz="2800" dirty="0"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TRIGGER </a:t>
            </a:r>
            <a:r>
              <a:rPr lang="en-US" dirty="0" smtClean="0"/>
              <a:t>plus_1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ON table1 </a:t>
            </a:r>
          </a:p>
          <a:p>
            <a:pPr marL="0" indent="0">
              <a:buNone/>
            </a:pPr>
            <a:r>
              <a:rPr lang="en-US" dirty="0"/>
              <a:t>instead of insert</a:t>
            </a:r>
          </a:p>
          <a:p>
            <a:pPr marL="0" indent="0">
              <a:buNone/>
            </a:pPr>
            <a:r>
              <a:rPr lang="en-US" dirty="0"/>
              <a:t>AS </a:t>
            </a:r>
          </a:p>
          <a:p>
            <a:pPr marL="0" indent="0">
              <a:buNone/>
            </a:pPr>
            <a:r>
              <a:rPr lang="en-US" dirty="0"/>
              <a:t>insert table1 (</a:t>
            </a:r>
            <a:r>
              <a:rPr lang="en-US" dirty="0" smtClean="0"/>
              <a:t>id, </a:t>
            </a:r>
            <a:r>
              <a:rPr lang="en-US" dirty="0"/>
              <a:t>col1)  select </a:t>
            </a:r>
            <a:r>
              <a:rPr lang="en-US" dirty="0" smtClean="0"/>
              <a:t>id+1</a:t>
            </a:r>
            <a:r>
              <a:rPr lang="en-US" dirty="0"/>
              <a:t>, col1 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from </a:t>
            </a:r>
            <a:r>
              <a:rPr lang="en-US" dirty="0"/>
              <a:t>inserted;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6892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i="1" dirty="0" smtClean="0"/>
              <a:t>Триггер</a:t>
            </a:r>
            <a:r>
              <a:rPr lang="ru-RU" dirty="0"/>
              <a:t> представляет собой специальный тип хранимых процедур, запускаемых сервером автоматически при попытке изменения данных в таблицах, с которыми </a:t>
            </a:r>
            <a:r>
              <a:rPr lang="ru-RU" i="1" dirty="0"/>
              <a:t>триггеры</a:t>
            </a:r>
            <a:r>
              <a:rPr lang="ru-RU" dirty="0"/>
              <a:t> связаны. Каждый </a:t>
            </a:r>
            <a:r>
              <a:rPr lang="ru-RU" i="1" dirty="0"/>
              <a:t>триггер</a:t>
            </a:r>
            <a:r>
              <a:rPr lang="ru-RU" dirty="0"/>
              <a:t> привязывается к конкретной таблице. Все производимые им модификации данных рассматриваются как одна </a:t>
            </a:r>
            <a:r>
              <a:rPr lang="ru-RU" i="1" dirty="0"/>
              <a:t>транзакция</a:t>
            </a:r>
            <a:r>
              <a:rPr lang="ru-RU" dirty="0"/>
              <a:t>. В случае обнаружения ошибки или нарушения целостности данных происходит </a:t>
            </a:r>
            <a:r>
              <a:rPr lang="ru-RU" i="1" dirty="0"/>
              <a:t>откат</a:t>
            </a:r>
            <a:r>
              <a:rPr lang="ru-RU" dirty="0"/>
              <a:t> этой транзакции. Тем самым внесение изменений запрещается. Отменяются также все изменения, уже </a:t>
            </a:r>
            <a:r>
              <a:rPr lang="ru-RU" dirty="0" smtClean="0"/>
              <a:t>сделанные </a:t>
            </a:r>
            <a:r>
              <a:rPr lang="ru-RU" i="1" dirty="0" smtClean="0"/>
              <a:t>триггером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52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Обработка </a:t>
            </a:r>
            <a:r>
              <a:rPr lang="ru-RU" dirty="0" smtClean="0"/>
              <a:t>исключений</a:t>
            </a:r>
            <a:endParaRPr lang="ru-RU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714488"/>
            <a:ext cx="8358246" cy="4929222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Команда </a:t>
            </a:r>
            <a:r>
              <a:rPr lang="ru-RU" sz="2000" b="1" dirty="0" smtClean="0"/>
              <a:t>ROLLBACK</a:t>
            </a:r>
            <a:r>
              <a:rPr lang="ru-RU" sz="2000" dirty="0" smtClean="0"/>
              <a:t> указывает серверу остановить обработку модификации и запретить транзакцию.</a:t>
            </a:r>
          </a:p>
          <a:p>
            <a:r>
              <a:rPr lang="ru-RU" sz="2000" dirty="0" smtClean="0"/>
              <a:t>Существует также команда </a:t>
            </a:r>
            <a:r>
              <a:rPr lang="ru-RU" sz="2000" b="1" dirty="0" smtClean="0"/>
              <a:t>RAISEERROR,</a:t>
            </a:r>
            <a:r>
              <a:rPr lang="ru-RU" sz="2000" dirty="0" smtClean="0"/>
              <a:t> с помощью которой вы можете отправить сообщение об ошибке пользователю.</a:t>
            </a:r>
          </a:p>
          <a:p>
            <a:r>
              <a:rPr lang="en-US" sz="2000" dirty="0"/>
              <a:t>TRY…CATCH 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Обработка </a:t>
            </a:r>
            <a:r>
              <a:rPr lang="ru-RU" dirty="0" smtClean="0"/>
              <a:t>исключений</a:t>
            </a:r>
            <a:br>
              <a:rPr lang="ru-RU" dirty="0" smtClean="0"/>
            </a:br>
            <a:r>
              <a:rPr lang="ru-RU" dirty="0" smtClean="0"/>
              <a:t>сообщение об ошибке</a:t>
            </a:r>
            <a:endParaRPr lang="ru-RU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714488"/>
            <a:ext cx="8358246" cy="492922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/>
              <a:t>  </a:t>
            </a:r>
            <a:r>
              <a:rPr lang="ru-RU" sz="2000" dirty="0">
                <a:solidFill>
                  <a:schemeClr val="folHlink"/>
                </a:solidFill>
              </a:rPr>
              <a:t>RAISERROR</a:t>
            </a:r>
            <a:r>
              <a:rPr lang="ru-RU" sz="2000" dirty="0"/>
              <a:t> ('</a:t>
            </a:r>
            <a:r>
              <a:rPr lang="ru-RU" sz="2000" dirty="0" err="1"/>
              <a:t>Error</a:t>
            </a:r>
            <a:r>
              <a:rPr lang="ru-RU" sz="2000" dirty="0"/>
              <a:t> </a:t>
            </a:r>
            <a:r>
              <a:rPr lang="ru-RU" sz="2000" dirty="0" err="1"/>
              <a:t>raised</a:t>
            </a:r>
            <a:r>
              <a:rPr lang="ru-RU" sz="2000" dirty="0"/>
              <a:t> </a:t>
            </a:r>
            <a:r>
              <a:rPr lang="en-US" sz="2000" dirty="0"/>
              <a:t>because of wrong data</a:t>
            </a:r>
            <a:r>
              <a:rPr lang="ru-RU" sz="2000" dirty="0"/>
              <a:t>.', -- </a:t>
            </a:r>
            <a:r>
              <a:rPr lang="ru-RU" sz="2000" dirty="0" err="1"/>
              <a:t>Message</a:t>
            </a:r>
            <a:r>
              <a:rPr lang="ru-RU" sz="2000" dirty="0"/>
              <a:t> </a:t>
            </a:r>
            <a:r>
              <a:rPr lang="ru-RU" sz="2000" dirty="0" err="1"/>
              <a:t>text</a:t>
            </a:r>
            <a:r>
              <a:rPr lang="ru-RU" sz="2000" dirty="0"/>
              <a:t>.   </a:t>
            </a:r>
            <a:endParaRPr lang="en-US" sz="20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/>
              <a:t>         </a:t>
            </a:r>
            <a:r>
              <a:rPr lang="ru-RU" sz="2000" dirty="0"/>
              <a:t>             16, -- </a:t>
            </a:r>
            <a:r>
              <a:rPr lang="ru-RU" sz="2000" dirty="0" err="1"/>
              <a:t>Severity</a:t>
            </a:r>
            <a:r>
              <a:rPr lang="ru-RU" sz="2000" dirty="0"/>
              <a:t>.</a:t>
            </a:r>
            <a:endParaRPr lang="en-US" sz="20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/>
              <a:t>      </a:t>
            </a:r>
            <a:r>
              <a:rPr lang="ru-RU" sz="2000" dirty="0"/>
              <a:t>                1 -- </a:t>
            </a:r>
            <a:r>
              <a:rPr lang="ru-RU" sz="2000" dirty="0" err="1"/>
              <a:t>State</a:t>
            </a:r>
            <a:r>
              <a:rPr lang="ru-RU" sz="2000" dirty="0"/>
              <a:t>.); </a:t>
            </a:r>
            <a:endParaRPr lang="en-US" sz="2000" dirty="0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 err="1" smtClean="0"/>
              <a:t>Severity</a:t>
            </a:r>
            <a:r>
              <a:rPr lang="en-US" sz="2000" dirty="0" smtClean="0"/>
              <a:t> </a:t>
            </a:r>
            <a:r>
              <a:rPr lang="ru-RU" sz="2000" dirty="0" smtClean="0"/>
              <a:t>– число от 0 до 25</a:t>
            </a:r>
            <a:br>
              <a:rPr lang="ru-RU" sz="2000" dirty="0" smtClean="0"/>
            </a:br>
            <a:r>
              <a:rPr lang="ru-RU" sz="2000" dirty="0" smtClean="0"/>
              <a:t>Определенный пользователем уровень серьезности ошибки. </a:t>
            </a:r>
            <a:br>
              <a:rPr lang="ru-RU" sz="2000" dirty="0" smtClean="0"/>
            </a:br>
            <a:r>
              <a:rPr lang="ru-RU" sz="2000" dirty="0" smtClean="0"/>
              <a:t>0 до 18 может указать любой пользователь. </a:t>
            </a:r>
            <a:br>
              <a:rPr lang="ru-RU" sz="2000" dirty="0" smtClean="0"/>
            </a:br>
            <a:r>
              <a:rPr lang="ru-RU" sz="2000" dirty="0" smtClean="0"/>
              <a:t>19 до 25 могут быть указаны только  </a:t>
            </a:r>
            <a:r>
              <a:rPr lang="ru-RU" sz="2000" dirty="0" err="1" smtClean="0"/>
              <a:t>sysadmin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20 до 25 считаются неустранимыми - соединение с клиентом обрывается и регистрируется сообщение об ошибке в журналах приложений и ошибок. </a:t>
            </a:r>
            <a:endParaRPr lang="en-US" sz="2000" dirty="0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 err="1" smtClean="0"/>
              <a:t>State</a:t>
            </a:r>
            <a:r>
              <a:rPr lang="en-US" sz="2000" dirty="0" smtClean="0"/>
              <a:t> </a:t>
            </a:r>
            <a:r>
              <a:rPr lang="ru-RU" sz="2000" dirty="0" smtClean="0"/>
              <a:t>Целое число от 0 до 255. Отрицательные значения или значения больше 255 приводят к формированию ошибки. Если одна и та же пользовательская ошибка возникает в нескольких местах, то при помощи уникального номера состояния для каждого местоположения можно определить, в каком месте кода появилась ошибка.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Функции об ошибках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072098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Функция ERROR_LINE() возвращает номер строки, в которой произошла ошибка.</a:t>
            </a:r>
          </a:p>
          <a:p>
            <a:r>
              <a:rPr lang="ru-RU" dirty="0" smtClean="0"/>
              <a:t>Функция ERROR_MESSAGE() возвращает текст сообщения, которое будет возвращено приложению. Текст содержит значения таких подставляемых параметров, как длина, имена объектов или время.</a:t>
            </a:r>
          </a:p>
          <a:p>
            <a:r>
              <a:rPr lang="ru-RU" dirty="0" smtClean="0"/>
              <a:t>ERROR_NUMBER() возвращает номер ошибки.</a:t>
            </a:r>
          </a:p>
          <a:p>
            <a:r>
              <a:rPr lang="ru-RU" dirty="0" smtClean="0"/>
              <a:t>Функция ERROR_PROCEDURE() возвращает имя хранимой процедуры или триггера, в котором произошла ошибка. Эта функция возвращает значение NULL, если данная ошибка не была совершена внутри хранимой процедуры или триггера.</a:t>
            </a:r>
          </a:p>
          <a:p>
            <a:r>
              <a:rPr lang="ru-RU" dirty="0" smtClean="0"/>
              <a:t>ERROR_SEVERITY() возвращает уровень серьезности ошибки.</a:t>
            </a:r>
          </a:p>
          <a:p>
            <a:r>
              <a:rPr lang="ru-RU" dirty="0" smtClean="0"/>
              <a:t>ERROR_STATE() возвращает состояние.</a:t>
            </a:r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Пример триггера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978025"/>
            <a:ext cx="7772400" cy="43307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1800" dirty="0">
                <a:solidFill>
                  <a:schemeClr val="folHlink"/>
                </a:solidFill>
              </a:rPr>
              <a:t>CREATE TRIGGER</a:t>
            </a:r>
            <a:r>
              <a:rPr lang="ru-RU" sz="1800" dirty="0"/>
              <a:t> </a:t>
            </a:r>
            <a:r>
              <a:rPr lang="ru-RU" sz="1800" dirty="0" err="1"/>
              <a:t>LowCredit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folHlink"/>
                </a:solidFill>
              </a:rPr>
              <a:t>ON</a:t>
            </a:r>
            <a:r>
              <a:rPr lang="ru-RU" sz="1800" dirty="0"/>
              <a:t> </a:t>
            </a: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1800" dirty="0" err="1"/>
              <a:t>Purchasing.PurchaseOrderHeader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folHlink"/>
                </a:solidFill>
              </a:rPr>
              <a:t>AFTER INSERT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folHlink"/>
                </a:solidFill>
              </a:rPr>
              <a:t>AS </a:t>
            </a:r>
            <a:endParaRPr lang="en-US" sz="1800" dirty="0">
              <a:solidFill>
                <a:schemeClr val="folHlink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1800" dirty="0" smtClean="0">
                <a:solidFill>
                  <a:schemeClr val="folHlink"/>
                </a:solidFill>
              </a:rPr>
              <a:t>BEGIN</a:t>
            </a:r>
            <a:endParaRPr lang="en-US" sz="1800" dirty="0">
              <a:solidFill>
                <a:schemeClr val="folHlink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1800" dirty="0">
                <a:solidFill>
                  <a:schemeClr val="folHlink"/>
                </a:solidFill>
              </a:rPr>
              <a:t>DECLARE</a:t>
            </a:r>
            <a:r>
              <a:rPr lang="ru-RU" sz="1800" dirty="0"/>
              <a:t> @</a:t>
            </a:r>
            <a:r>
              <a:rPr lang="ru-RU" sz="1800" dirty="0" err="1"/>
              <a:t>creditrating</a:t>
            </a:r>
            <a:r>
              <a:rPr lang="ru-RU" sz="1800" dirty="0"/>
              <a:t> </a:t>
            </a:r>
            <a:r>
              <a:rPr lang="ru-RU" sz="1800" dirty="0" err="1"/>
              <a:t>tinyint</a:t>
            </a:r>
            <a:r>
              <a:rPr lang="ru-RU" sz="1800" dirty="0"/>
              <a:t>, @</a:t>
            </a:r>
            <a:r>
              <a:rPr lang="ru-RU" sz="1800" dirty="0" err="1"/>
              <a:t>vendorid</a:t>
            </a:r>
            <a:r>
              <a:rPr lang="ru-RU" sz="1800" dirty="0"/>
              <a:t> </a:t>
            </a:r>
            <a:r>
              <a:rPr lang="ru-RU" sz="1800" dirty="0" err="1"/>
              <a:t>int</a:t>
            </a:r>
            <a:r>
              <a:rPr lang="ru-RU" sz="1800" dirty="0"/>
              <a:t> </a:t>
            </a:r>
            <a:r>
              <a:rPr lang="ru-RU" sz="1800" dirty="0" smtClean="0"/>
              <a:t>;</a:t>
            </a: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1800" dirty="0">
                <a:solidFill>
                  <a:schemeClr val="folHlink"/>
                </a:solidFill>
              </a:rPr>
              <a:t>SELECT</a:t>
            </a:r>
            <a:r>
              <a:rPr lang="ru-RU" sz="1800" dirty="0"/>
              <a:t> @</a:t>
            </a:r>
            <a:r>
              <a:rPr lang="ru-RU" sz="1800" dirty="0" err="1"/>
              <a:t>creditrating</a:t>
            </a:r>
            <a:r>
              <a:rPr lang="ru-RU" sz="1800" dirty="0"/>
              <a:t> = </a:t>
            </a:r>
            <a:r>
              <a:rPr lang="ru-RU" sz="1800" dirty="0" err="1"/>
              <a:t>v.CreditRating</a:t>
            </a:r>
            <a:r>
              <a:rPr lang="ru-RU" sz="1800" dirty="0"/>
              <a:t>, @</a:t>
            </a:r>
            <a:r>
              <a:rPr lang="ru-RU" sz="1800" dirty="0" err="1"/>
              <a:t>vendorid</a:t>
            </a:r>
            <a:r>
              <a:rPr lang="ru-RU" sz="1800" dirty="0"/>
              <a:t> = </a:t>
            </a:r>
            <a:r>
              <a:rPr lang="ru-RU" sz="1800" dirty="0" err="1"/>
              <a:t>p.VendorID</a:t>
            </a:r>
            <a:r>
              <a:rPr lang="ru-RU" sz="1800" dirty="0"/>
              <a:t> </a:t>
            </a: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1800" dirty="0">
                <a:solidFill>
                  <a:schemeClr val="folHlink"/>
                </a:solidFill>
              </a:rPr>
              <a:t>FROM</a:t>
            </a:r>
            <a:r>
              <a:rPr lang="ru-RU" sz="1800" dirty="0"/>
              <a:t> </a:t>
            </a:r>
            <a:r>
              <a:rPr lang="ru-RU" sz="1800" dirty="0" err="1"/>
              <a:t>Purchasing.PurchaseOrderHeader</a:t>
            </a:r>
            <a:r>
              <a:rPr lang="ru-RU" sz="1800" dirty="0"/>
              <a:t> </a:t>
            </a:r>
            <a:r>
              <a:rPr lang="ru-RU" sz="1800" dirty="0" err="1"/>
              <a:t>p</a:t>
            </a:r>
            <a:r>
              <a:rPr lang="ru-RU" sz="1800" dirty="0"/>
              <a:t> 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ru-RU" sz="1800" dirty="0" smtClean="0">
                <a:solidFill>
                  <a:schemeClr val="folHlink"/>
                </a:solidFill>
              </a:rPr>
              <a:t> </a:t>
            </a:r>
            <a:r>
              <a:rPr lang="ru-RU" sz="1800" dirty="0">
                <a:solidFill>
                  <a:schemeClr val="folHlink"/>
                </a:solidFill>
              </a:rPr>
              <a:t>JOIN</a:t>
            </a:r>
            <a:r>
              <a:rPr lang="ru-RU" sz="1800" dirty="0"/>
              <a:t> </a:t>
            </a:r>
            <a:r>
              <a:rPr lang="ru-RU" sz="1800" dirty="0" err="1">
                <a:solidFill>
                  <a:schemeClr val="folHlink"/>
                </a:solidFill>
              </a:rPr>
              <a:t>inserted</a:t>
            </a:r>
            <a:r>
              <a:rPr lang="ru-RU" sz="1800" dirty="0"/>
              <a:t> </a:t>
            </a:r>
            <a:r>
              <a:rPr lang="ru-RU" sz="1800" dirty="0" err="1"/>
              <a:t>i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folHlink"/>
                </a:solidFill>
              </a:rPr>
              <a:t>ON</a:t>
            </a:r>
            <a:r>
              <a:rPr lang="ru-RU" sz="1800" dirty="0"/>
              <a:t> </a:t>
            </a:r>
            <a:r>
              <a:rPr lang="ru-RU" sz="1800" dirty="0" err="1"/>
              <a:t>p.PurchaseOrderID</a:t>
            </a:r>
            <a:r>
              <a:rPr lang="ru-RU" sz="1800" dirty="0"/>
              <a:t> = </a:t>
            </a:r>
            <a:r>
              <a:rPr lang="ru-RU" sz="1800" dirty="0" err="1"/>
              <a:t>i.PurchaseOrderID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folHlink"/>
                </a:solidFill>
              </a:rPr>
              <a:t>JOIN</a:t>
            </a:r>
            <a:r>
              <a:rPr lang="ru-RU" sz="1800" dirty="0"/>
              <a:t> </a:t>
            </a:r>
            <a:r>
              <a:rPr lang="ru-RU" sz="1800" dirty="0" err="1"/>
              <a:t>Purchasing.Vendor</a:t>
            </a:r>
            <a:r>
              <a:rPr lang="ru-RU" sz="1800" dirty="0"/>
              <a:t> </a:t>
            </a:r>
            <a:r>
              <a:rPr lang="ru-RU" sz="1800" dirty="0" err="1"/>
              <a:t>v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folHlink"/>
                </a:solidFill>
              </a:rPr>
              <a:t>ON</a:t>
            </a:r>
            <a:r>
              <a:rPr lang="ru-RU" sz="1800" dirty="0"/>
              <a:t> </a:t>
            </a:r>
            <a:r>
              <a:rPr lang="ru-RU" sz="1800" dirty="0" err="1"/>
              <a:t>v.VendorID</a:t>
            </a:r>
            <a:r>
              <a:rPr lang="ru-RU" sz="1800" dirty="0"/>
              <a:t> = </a:t>
            </a:r>
            <a:r>
              <a:rPr lang="ru-RU" sz="1800" dirty="0" err="1"/>
              <a:t>i.VendorID</a:t>
            </a:r>
            <a:r>
              <a:rPr lang="ru-RU" sz="1800" dirty="0"/>
              <a:t> </a:t>
            </a:r>
            <a:r>
              <a:rPr lang="ru-RU" sz="1800" dirty="0" smtClean="0"/>
              <a:t>;</a:t>
            </a: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1800" dirty="0">
                <a:solidFill>
                  <a:schemeClr val="folHlink"/>
                </a:solidFill>
              </a:rPr>
              <a:t>IF</a:t>
            </a:r>
            <a:r>
              <a:rPr lang="ru-RU" sz="1800" dirty="0"/>
              <a:t> @</a:t>
            </a:r>
            <a:r>
              <a:rPr lang="ru-RU" sz="1800" dirty="0" err="1"/>
              <a:t>creditrating</a:t>
            </a:r>
            <a:r>
              <a:rPr lang="ru-RU" sz="1800" dirty="0"/>
              <a:t> = 5 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ru-RU" sz="1800" dirty="0">
                <a:solidFill>
                  <a:schemeClr val="folHlink"/>
                </a:solidFill>
              </a:rPr>
              <a:t>RAISERROR</a:t>
            </a:r>
            <a:r>
              <a:rPr lang="ru-RU" sz="1800" dirty="0"/>
              <a:t> ('</a:t>
            </a:r>
            <a:r>
              <a:rPr lang="ru-RU" sz="1800" dirty="0" err="1"/>
              <a:t>This</a:t>
            </a:r>
            <a:r>
              <a:rPr lang="ru-RU" sz="1800" dirty="0"/>
              <a:t> </a:t>
            </a:r>
            <a:r>
              <a:rPr lang="ru-RU" sz="1800" dirty="0" err="1"/>
              <a:t>vendor''s</a:t>
            </a:r>
            <a:r>
              <a:rPr lang="ru-RU" sz="1800" dirty="0"/>
              <a:t> </a:t>
            </a:r>
            <a:r>
              <a:rPr lang="ru-RU" sz="1800" dirty="0" err="1"/>
              <a:t>credit</a:t>
            </a:r>
            <a:r>
              <a:rPr lang="ru-RU" sz="1800" dirty="0"/>
              <a:t> </a:t>
            </a:r>
            <a:r>
              <a:rPr lang="ru-RU" sz="1800" dirty="0" err="1"/>
              <a:t>rating</a:t>
            </a:r>
            <a:r>
              <a:rPr lang="ru-RU" sz="1800" dirty="0"/>
              <a:t> </a:t>
            </a:r>
            <a:r>
              <a:rPr lang="ru-RU" sz="1800" dirty="0" err="1"/>
              <a:t>is</a:t>
            </a:r>
            <a:r>
              <a:rPr lang="ru-RU" sz="1800" dirty="0"/>
              <a:t> </a:t>
            </a:r>
            <a:r>
              <a:rPr lang="ru-RU" sz="1800" dirty="0" err="1"/>
              <a:t>too</a:t>
            </a:r>
            <a:r>
              <a:rPr lang="ru-RU" sz="1800" dirty="0"/>
              <a:t> </a:t>
            </a:r>
            <a:r>
              <a:rPr lang="ru-RU" sz="1800" dirty="0" err="1"/>
              <a:t>low</a:t>
            </a:r>
            <a:r>
              <a:rPr lang="ru-RU" sz="1800" dirty="0"/>
              <a:t> </a:t>
            </a:r>
            <a:r>
              <a:rPr lang="ru-RU" sz="1800" dirty="0" err="1"/>
              <a:t>to</a:t>
            </a:r>
            <a:r>
              <a:rPr lang="ru-RU" sz="1800" dirty="0"/>
              <a:t> </a:t>
            </a:r>
            <a:r>
              <a:rPr lang="ru-RU" sz="1800" dirty="0" err="1"/>
              <a:t>accept</a:t>
            </a:r>
            <a:r>
              <a:rPr lang="ru-RU" sz="1800" dirty="0"/>
              <a:t> </a:t>
            </a:r>
            <a:r>
              <a:rPr lang="ru-RU" sz="1800" dirty="0" err="1"/>
              <a:t>new</a:t>
            </a:r>
            <a:r>
              <a:rPr lang="ru-RU" sz="1800" dirty="0"/>
              <a:t> </a:t>
            </a:r>
            <a:r>
              <a:rPr lang="ru-RU" sz="1800" dirty="0" err="1"/>
              <a:t>purchase</a:t>
            </a:r>
            <a:r>
              <a:rPr lang="ru-RU" sz="1800" dirty="0"/>
              <a:t> </a:t>
            </a:r>
            <a:r>
              <a:rPr lang="ru-RU" sz="1800" dirty="0" err="1"/>
              <a:t>orders</a:t>
            </a:r>
            <a:r>
              <a:rPr lang="ru-RU" sz="1800" dirty="0"/>
              <a:t>.', 16, 1) </a:t>
            </a:r>
            <a:r>
              <a:rPr lang="ru-RU" sz="1800" dirty="0" smtClean="0"/>
              <a:t>;</a:t>
            </a: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1800" dirty="0">
                <a:solidFill>
                  <a:schemeClr val="folHlink"/>
                </a:solidFill>
              </a:rPr>
              <a:t>END</a:t>
            </a:r>
            <a:r>
              <a:rPr lang="ru-RU" sz="1800" dirty="0"/>
              <a:t>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Управление триггерами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7772400" cy="4608513"/>
          </a:xfrm>
        </p:spPr>
        <p:txBody>
          <a:bodyPr/>
          <a:lstStyle/>
          <a:p>
            <a:r>
              <a:rPr lang="ru-RU" sz="2800"/>
              <a:t>Отключение/включение триггера</a:t>
            </a:r>
            <a:r>
              <a:rPr lang="en-US" sz="2800"/>
              <a:t>:</a:t>
            </a:r>
          </a:p>
          <a:p>
            <a:pPr lvl="1"/>
            <a:r>
              <a:rPr lang="en-US" sz="2400">
                <a:solidFill>
                  <a:schemeClr val="folHlink"/>
                </a:solidFill>
              </a:rPr>
              <a:t>DISABLE</a:t>
            </a:r>
            <a:r>
              <a:rPr lang="en-US" sz="2400"/>
              <a:t>/</a:t>
            </a:r>
            <a:r>
              <a:rPr lang="en-US" sz="2400">
                <a:solidFill>
                  <a:schemeClr val="folHlink"/>
                </a:solidFill>
              </a:rPr>
              <a:t>ENABLE TRIGGER</a:t>
            </a:r>
            <a:r>
              <a:rPr lang="en-US" sz="2400"/>
              <a:t> trigger_name </a:t>
            </a:r>
            <a:r>
              <a:rPr lang="en-US" sz="2400">
                <a:solidFill>
                  <a:schemeClr val="folHlink"/>
                </a:solidFill>
              </a:rPr>
              <a:t>ON </a:t>
            </a:r>
            <a:r>
              <a:rPr lang="en-US" sz="2400"/>
              <a:t>object_name</a:t>
            </a:r>
          </a:p>
          <a:p>
            <a:r>
              <a:rPr lang="ru-RU" sz="2800"/>
              <a:t>Отключение/включение всех триггеров таблицы:</a:t>
            </a:r>
          </a:p>
          <a:p>
            <a:pPr lvl="1"/>
            <a:r>
              <a:rPr lang="en-US" sz="2400">
                <a:solidFill>
                  <a:schemeClr val="folHlink"/>
                </a:solidFill>
              </a:rPr>
              <a:t>DISABLE</a:t>
            </a:r>
            <a:r>
              <a:rPr lang="en-US" sz="2400"/>
              <a:t>/</a:t>
            </a:r>
            <a:r>
              <a:rPr lang="en-US" sz="2400">
                <a:solidFill>
                  <a:schemeClr val="folHlink"/>
                </a:solidFill>
              </a:rPr>
              <a:t>ENABLE TRIGGER ALL ON </a:t>
            </a:r>
            <a:r>
              <a:rPr lang="en-US" sz="2400"/>
              <a:t>object_name</a:t>
            </a:r>
          </a:p>
          <a:p>
            <a:r>
              <a:rPr lang="ru-RU" sz="2800"/>
              <a:t>Изменение триггера:</a:t>
            </a:r>
          </a:p>
          <a:p>
            <a:pPr lvl="1"/>
            <a:r>
              <a:rPr lang="en-US" sz="2400">
                <a:solidFill>
                  <a:schemeClr val="folHlink"/>
                </a:solidFill>
              </a:rPr>
              <a:t>ALTER TRIGGER</a:t>
            </a:r>
            <a:r>
              <a:rPr lang="en-US" sz="2400"/>
              <a:t> trigger_name …</a:t>
            </a:r>
          </a:p>
          <a:p>
            <a:r>
              <a:rPr lang="ru-RU" sz="2800"/>
              <a:t>Удаление триггера:</a:t>
            </a:r>
          </a:p>
          <a:p>
            <a:pPr lvl="1"/>
            <a:r>
              <a:rPr lang="en-US" sz="2400">
                <a:solidFill>
                  <a:schemeClr val="folHlink"/>
                </a:solidFill>
              </a:rPr>
              <a:t>DROP TRIGGER</a:t>
            </a:r>
            <a:r>
              <a:rPr lang="en-US" sz="2400"/>
              <a:t> trigger_name</a:t>
            </a:r>
            <a:endParaRPr lang="ru-RU"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Изменение триггера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ALTER TRIGGER </a:t>
            </a:r>
            <a:r>
              <a:rPr lang="en-US" dirty="0" err="1" smtClean="0"/>
              <a:t>tr_name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ON </a:t>
            </a:r>
            <a:r>
              <a:rPr lang="en-US" dirty="0" err="1" smtClean="0"/>
              <a:t>on_board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after   UPDATE </a:t>
            </a:r>
          </a:p>
          <a:p>
            <a:pPr>
              <a:buNone/>
            </a:pPr>
            <a:r>
              <a:rPr lang="en-US" dirty="0" smtClean="0"/>
              <a:t>AS </a:t>
            </a:r>
          </a:p>
          <a:p>
            <a:pPr>
              <a:buNone/>
            </a:pPr>
            <a:r>
              <a:rPr lang="en-US" dirty="0" smtClean="0"/>
              <a:t>update </a:t>
            </a:r>
            <a:r>
              <a:rPr lang="en-US" dirty="0" err="1" smtClean="0"/>
              <a:t>on_board</a:t>
            </a:r>
            <a:r>
              <a:rPr lang="en-US" dirty="0" smtClean="0"/>
              <a:t> set </a:t>
            </a:r>
            <a:r>
              <a:rPr lang="en-US" dirty="0" err="1" smtClean="0"/>
              <a:t>iks</a:t>
            </a:r>
            <a:r>
              <a:rPr lang="en-US" dirty="0" smtClean="0"/>
              <a:t>='b' where id in (select id from inserted)</a:t>
            </a:r>
            <a:endParaRPr lang="ru-R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Удаление триггера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00106"/>
          </a:xfrm>
        </p:spPr>
        <p:txBody>
          <a:bodyPr/>
          <a:lstStyle/>
          <a:p>
            <a:r>
              <a:rPr lang="en-US" dirty="0" smtClean="0"/>
              <a:t>DROP TRIGGER </a:t>
            </a:r>
            <a:r>
              <a:rPr lang="en-US" dirty="0" err="1" smtClean="0"/>
              <a:t>tr_name</a:t>
            </a:r>
            <a:r>
              <a:rPr lang="en-US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Активация/деактивация триггера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5"/>
          </a:xfrm>
        </p:spPr>
        <p:txBody>
          <a:bodyPr/>
          <a:lstStyle/>
          <a:p>
            <a:r>
              <a:rPr lang="en-US" dirty="0" smtClean="0"/>
              <a:t>DISABLE TRIGGER {</a:t>
            </a:r>
            <a:r>
              <a:rPr lang="en-US" dirty="0" err="1" smtClean="0"/>
              <a:t>trigger_name</a:t>
            </a:r>
            <a:r>
              <a:rPr lang="en-US" dirty="0" smtClean="0"/>
              <a:t> [ ,...n ] | ALL } ON { </a:t>
            </a:r>
            <a:r>
              <a:rPr lang="en-US" dirty="0" err="1" smtClean="0"/>
              <a:t>object_name</a:t>
            </a:r>
            <a:r>
              <a:rPr lang="en-US" dirty="0" smtClean="0"/>
              <a:t>} ;</a:t>
            </a:r>
            <a:endParaRPr lang="ru-RU" dirty="0" smtClean="0"/>
          </a:p>
          <a:p>
            <a:r>
              <a:rPr lang="en-US" dirty="0" smtClean="0"/>
              <a:t>ENABLE TRIGGER {</a:t>
            </a:r>
            <a:r>
              <a:rPr lang="en-US" dirty="0" err="1" smtClean="0"/>
              <a:t>trigger_name</a:t>
            </a:r>
            <a:r>
              <a:rPr lang="en-US" dirty="0" smtClean="0"/>
              <a:t> [ ,...n ] | ALL } ON { </a:t>
            </a:r>
            <a:r>
              <a:rPr lang="en-US" dirty="0" err="1" smtClean="0"/>
              <a:t>object_name</a:t>
            </a:r>
            <a:r>
              <a:rPr lang="en-US" dirty="0" smtClean="0"/>
              <a:t>}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Применение триггеров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786" y="1643050"/>
            <a:ext cx="7772400" cy="4752975"/>
          </a:xfrm>
        </p:spPr>
        <p:txBody>
          <a:bodyPr/>
          <a:lstStyle/>
          <a:p>
            <a:r>
              <a:rPr lang="ru-RU" sz="2800" dirty="0"/>
              <a:t>Защита</a:t>
            </a:r>
          </a:p>
          <a:p>
            <a:pPr lvl="1"/>
            <a:r>
              <a:rPr lang="ru-RU" sz="2400" dirty="0"/>
              <a:t>Запрещение доступа в зависимости от значений данных</a:t>
            </a:r>
          </a:p>
          <a:p>
            <a:r>
              <a:rPr lang="ru-RU" sz="2800" dirty="0"/>
              <a:t>Учет</a:t>
            </a:r>
          </a:p>
          <a:p>
            <a:pPr lvl="1"/>
            <a:r>
              <a:rPr lang="ru-RU" sz="2400" dirty="0"/>
              <a:t>Ведение журналов изменений</a:t>
            </a:r>
          </a:p>
          <a:p>
            <a:r>
              <a:rPr lang="ru-RU" sz="2800" dirty="0"/>
              <a:t>Целостность данных</a:t>
            </a:r>
          </a:p>
          <a:p>
            <a:pPr lvl="1"/>
            <a:r>
              <a:rPr lang="ru-RU" sz="2400" dirty="0"/>
              <a:t>Сложные правила целостности</a:t>
            </a:r>
          </a:p>
          <a:p>
            <a:pPr lvl="1"/>
            <a:r>
              <a:rPr lang="ru-RU" sz="2400" dirty="0"/>
              <a:t>Сложная ссылочная целостность</a:t>
            </a:r>
          </a:p>
          <a:p>
            <a:r>
              <a:rPr lang="ru-RU" sz="2800" dirty="0"/>
              <a:t>Производные данные</a:t>
            </a:r>
          </a:p>
          <a:p>
            <a:pPr lvl="1"/>
            <a:r>
              <a:rPr lang="ru-RU" sz="2400" dirty="0"/>
              <a:t>автоматическое вычисление значений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63" name="Rectangle 5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Типы триггеров</a:t>
            </a:r>
          </a:p>
        </p:txBody>
      </p:sp>
      <p:graphicFrame>
        <p:nvGraphicFramePr>
          <p:cNvPr id="72855" name="Group 151"/>
          <p:cNvGraphicFramePr>
            <a:graphicFrameLocks noGrp="1"/>
          </p:cNvGraphicFramePr>
          <p:nvPr>
            <p:ph idx="1"/>
          </p:nvPr>
        </p:nvGraphicFramePr>
        <p:xfrm>
          <a:off x="251520" y="1484784"/>
          <a:ext cx="8713788" cy="4724400"/>
        </p:xfrm>
        <a:graphic>
          <a:graphicData uri="http://schemas.openxmlformats.org/drawingml/2006/table">
            <a:tbl>
              <a:tblPr/>
              <a:tblGrid>
                <a:gridCol w="2305050"/>
                <a:gridCol w="2879725"/>
                <a:gridCol w="3529013"/>
              </a:tblGrid>
              <a:tr h="2540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Функция 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Триггер AFTER 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Триггер INSTEAD OF 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Сущности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Таблицы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Таблицы и представления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Количество триггеров на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таблицу/представление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Несколько на одно событие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Один триггер на одно событие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Каскадные ссылки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Нет ограничений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INSTEAD OF UPDATE и DELETE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нельзя определять для таблиц, на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которые распространяются каскадные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ограничения ссылочной целостности.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16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Выполнение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После следующих операций: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Обработка ограничений.</a:t>
                      </a:r>
                      <a:b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Декларативные ссылочные действия.</a:t>
                      </a:r>
                      <a:b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Создание таблиц </a:t>
                      </a: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inserted</a:t>
                      </a: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и </a:t>
                      </a: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deleted</a:t>
                      </a: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  <a:b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Действие, запускающее триггер.</a:t>
                      </a:r>
                      <a:b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Перед следующей операцией: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Обработка ограничений.</a:t>
                      </a:r>
                      <a:br>
                        <a:rPr kumimoji="0" 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Вместо следующей операции: 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Действие, запускающее триггер.</a:t>
                      </a:r>
                      <a:br>
                        <a:rPr kumimoji="0" 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После следующих операций: 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Создание таблиц </a:t>
                      </a:r>
                      <a:r>
                        <a:rPr kumimoji="0" lang="ru-RU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inserted</a:t>
                      </a:r>
                      <a:r>
                        <a:rPr kumimoji="0" 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и </a:t>
                      </a:r>
                      <a:r>
                        <a:rPr kumimoji="0" lang="ru-RU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deleted</a:t>
                      </a:r>
                      <a:r>
                        <a:rPr kumimoji="0" 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  <a:br>
                        <a:rPr kumimoji="0" lang="ru-RU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ru-R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DDL -</a:t>
            </a:r>
            <a:r>
              <a:rPr lang="ru-RU" dirty="0" smtClean="0"/>
              <a:t> </a:t>
            </a:r>
            <a:r>
              <a:rPr lang="en-US" dirty="0" smtClean="0"/>
              <a:t>trigger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Триггеры DDL могут быть использованы в административных задачах, таких как аудит и регулирование операций базы данных</a:t>
            </a:r>
            <a:r>
              <a:rPr lang="ru-RU" dirty="0" smtClean="0"/>
              <a:t>.</a:t>
            </a:r>
          </a:p>
          <a:p>
            <a:r>
              <a:rPr lang="ru-RU" dirty="0" smtClean="0"/>
              <a:t>Действие </a:t>
            </a:r>
            <a:r>
              <a:rPr lang="ru-RU" dirty="0"/>
              <a:t>этих триггеров распространяется на все команды одного типа во всей базе данных или на всем сервере.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DDL -</a:t>
            </a:r>
            <a:r>
              <a:rPr lang="ru-RU" dirty="0" smtClean="0"/>
              <a:t> триггеры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Триггеры DDL, как и обычные триггеры, вызывают срабатывание хранимых процедур в ответ на событие. </a:t>
            </a:r>
            <a:endParaRPr lang="ru-RU" dirty="0" smtClean="0"/>
          </a:p>
          <a:p>
            <a:r>
              <a:rPr lang="ru-RU" dirty="0" smtClean="0"/>
              <a:t>Срабатывают </a:t>
            </a:r>
            <a:r>
              <a:rPr lang="ru-RU" dirty="0"/>
              <a:t>в ответ на разнообразные события языка определения данных (DDL). </a:t>
            </a:r>
            <a:endParaRPr lang="ru-RU" dirty="0" smtClean="0"/>
          </a:p>
          <a:p>
            <a:r>
              <a:rPr lang="ru-RU" dirty="0" smtClean="0"/>
              <a:t>Эти </a:t>
            </a:r>
            <a:r>
              <a:rPr lang="ru-RU" dirty="0"/>
              <a:t>события в основном соответствуют инструкциям языка </a:t>
            </a:r>
            <a:r>
              <a:rPr lang="ru-RU" dirty="0" err="1"/>
              <a:t>Transact</a:t>
            </a:r>
            <a:r>
              <a:rPr lang="ru-RU" dirty="0"/>
              <a:t>-SQL, начинающимся ключевыми словами CREATE, ALTER или DROP. </a:t>
            </a:r>
          </a:p>
        </p:txBody>
      </p:sp>
    </p:spTree>
    <p:extLst>
      <p:ext uri="{BB962C8B-B14F-4D97-AF65-F5344CB8AC3E}">
        <p14:creationId xmlns:p14="http://schemas.microsoft.com/office/powerpoint/2010/main" val="31716095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для </a:t>
            </a:r>
            <a:r>
              <a:rPr lang="en-US" dirty="0" smtClean="0"/>
              <a:t>DDL - </a:t>
            </a:r>
            <a:r>
              <a:rPr lang="ru-RU" dirty="0" smtClean="0"/>
              <a:t>триггеров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Предотвратить внесение определенных изменений в схему базы данных.</a:t>
            </a:r>
          </a:p>
          <a:p>
            <a:r>
              <a:rPr lang="ru-RU" dirty="0"/>
              <a:t>Выполнить в базе данных некоторые действия в ответ на изменения в схеме базы данных.</a:t>
            </a:r>
          </a:p>
          <a:p>
            <a:r>
              <a:rPr lang="ru-RU" dirty="0"/>
              <a:t>Записывать изменения или события схемы базы данных.</a:t>
            </a:r>
          </a:p>
          <a:p>
            <a:r>
              <a:rPr lang="ru-RU" dirty="0"/>
              <a:t>Триггеры DDL срабатывают только после выполнения соответствующих инструкций DDL. Триггеры DDL нельзя использовать в качестве триггеров INSTEAD OF.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01558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TRIGGER </a:t>
            </a:r>
            <a:r>
              <a:rPr lang="en-US" dirty="0" err="1"/>
              <a:t>trigger_name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ON { </a:t>
            </a:r>
            <a:r>
              <a:rPr lang="en-US" dirty="0" smtClean="0"/>
              <a:t>DATABASE</a:t>
            </a:r>
            <a:r>
              <a:rPr lang="ru-RU" dirty="0" smtClean="0"/>
              <a:t> </a:t>
            </a:r>
            <a:r>
              <a:rPr lang="en-US" dirty="0" smtClean="0"/>
              <a:t>| </a:t>
            </a:r>
            <a:r>
              <a:rPr lang="en-US" dirty="0"/>
              <a:t>ALL SERVER</a:t>
            </a:r>
            <a:r>
              <a:rPr lang="en-US" dirty="0" smtClean="0"/>
              <a:t> 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 smtClean="0"/>
              <a:t>{ </a:t>
            </a:r>
            <a:r>
              <a:rPr lang="en-US" dirty="0"/>
              <a:t>FOR | AFTER } { </a:t>
            </a:r>
            <a:r>
              <a:rPr lang="en-US" dirty="0" err="1" smtClean="0"/>
              <a:t>event_type</a:t>
            </a:r>
            <a:r>
              <a:rPr lang="en-US" dirty="0" smtClean="0"/>
              <a:t> | </a:t>
            </a:r>
            <a:r>
              <a:rPr lang="en-US" dirty="0" err="1" smtClean="0"/>
              <a:t>event_group</a:t>
            </a:r>
            <a:r>
              <a:rPr lang="en-US" dirty="0" smtClean="0"/>
              <a:t> }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AS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{ </a:t>
            </a:r>
            <a:r>
              <a:rPr lang="en-US" dirty="0" err="1"/>
              <a:t>sql_statement</a:t>
            </a:r>
            <a:r>
              <a:rPr lang="en-US" dirty="0"/>
              <a:t>  [ ; ] [ ,...n ]  [ ; ] 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54806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Создание/удаление </a:t>
            </a:r>
            <a:r>
              <a:rPr lang="en-US" dirty="0" smtClean="0"/>
              <a:t>DDL-</a:t>
            </a:r>
            <a:r>
              <a:rPr lang="ru-RU" dirty="0" err="1" smtClean="0"/>
              <a:t>тр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CREATE TRIGGER </a:t>
            </a:r>
            <a:r>
              <a:rPr lang="en-US" dirty="0" err="1"/>
              <a:t>ddl_trig_database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ON ALL SERVER </a:t>
            </a:r>
          </a:p>
          <a:p>
            <a:pPr marL="0" indent="0">
              <a:buNone/>
            </a:pPr>
            <a:r>
              <a:rPr lang="en-US" dirty="0"/>
              <a:t>FOR CREATE_DATABASE </a:t>
            </a:r>
          </a:p>
          <a:p>
            <a:pPr marL="0" indent="0">
              <a:buNone/>
            </a:pPr>
            <a:r>
              <a:rPr lang="en-US" dirty="0"/>
              <a:t>AS </a:t>
            </a:r>
          </a:p>
          <a:p>
            <a:pPr marL="0" indent="0">
              <a:buNone/>
            </a:pPr>
            <a:r>
              <a:rPr lang="en-US" dirty="0"/>
              <a:t>    PRINT 'Database Created.'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 smtClean="0"/>
              <a:t>DROP </a:t>
            </a:r>
            <a:r>
              <a:rPr lang="en-US" dirty="0"/>
              <a:t>TRIGGER </a:t>
            </a:r>
            <a:r>
              <a:rPr lang="en-US" dirty="0" err="1"/>
              <a:t>ddl_trig_database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ON ALL SERVER;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40185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DDL -</a:t>
            </a:r>
            <a:r>
              <a:rPr lang="ru-RU" dirty="0" smtClean="0"/>
              <a:t> </a:t>
            </a:r>
            <a:r>
              <a:rPr lang="en-US" dirty="0" smtClean="0"/>
              <a:t>trigger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CREATE TRIGGER safety </a:t>
            </a:r>
            <a:br>
              <a:rPr lang="en-US" dirty="0" smtClean="0"/>
            </a:br>
            <a:r>
              <a:rPr lang="en-US" dirty="0" smtClean="0"/>
              <a:t>ON DATABASE </a:t>
            </a:r>
            <a:br>
              <a:rPr lang="en-US" dirty="0" smtClean="0"/>
            </a:br>
            <a:r>
              <a:rPr lang="en-US" dirty="0" smtClean="0"/>
              <a:t>FOR DROP_TABLE, ALTER_TABLE AS </a:t>
            </a:r>
            <a:br>
              <a:rPr lang="en-US" dirty="0" smtClean="0"/>
            </a:br>
            <a:r>
              <a:rPr lang="en-US" dirty="0" smtClean="0"/>
              <a:t>PRINT 'You must disable Trigger "safety" to drop or alter tables!' </a:t>
            </a:r>
            <a:br>
              <a:rPr lang="en-US" dirty="0" smtClean="0"/>
            </a:br>
            <a:r>
              <a:rPr lang="en-US" dirty="0" smtClean="0"/>
              <a:t>ROLLBACK 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69437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417638"/>
            <a:ext cx="8363272" cy="4708525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Для </a:t>
            </a:r>
            <a:r>
              <a:rPr lang="ru-RU" dirty="0"/>
              <a:t>одной инструкции </a:t>
            </a:r>
            <a:r>
              <a:rPr lang="ru-RU" dirty="0" err="1"/>
              <a:t>Transact</a:t>
            </a:r>
            <a:r>
              <a:rPr lang="ru-RU" dirty="0"/>
              <a:t>-SQL можно создать несколько триггеров DDL. </a:t>
            </a:r>
            <a:endParaRPr lang="ru-RU" dirty="0" smtClean="0"/>
          </a:p>
          <a:p>
            <a:r>
              <a:rPr lang="ru-RU" dirty="0" smtClean="0"/>
              <a:t>Триггер </a:t>
            </a:r>
            <a:r>
              <a:rPr lang="ru-RU" dirty="0"/>
              <a:t>DDL и инструкция, приводящая к его срабатыванию, выполняются в одной транзакции. </a:t>
            </a:r>
            <a:endParaRPr lang="ru-RU" dirty="0" smtClean="0"/>
          </a:p>
          <a:p>
            <a:r>
              <a:rPr lang="ru-RU" dirty="0" smtClean="0"/>
              <a:t>Откат </a:t>
            </a:r>
            <a:r>
              <a:rPr lang="ru-RU" dirty="0"/>
              <a:t>событий ALTER DATABASE, возникших внутри триггера DDL, невозможен.</a:t>
            </a:r>
          </a:p>
          <a:p>
            <a:r>
              <a:rPr lang="ru-RU" dirty="0" smtClean="0"/>
              <a:t>Триггеры </a:t>
            </a:r>
            <a:r>
              <a:rPr lang="ru-RU" dirty="0"/>
              <a:t>DDL выполняются только после завершения инструкции </a:t>
            </a:r>
            <a:r>
              <a:rPr lang="ru-RU" dirty="0" err="1"/>
              <a:t>Transact</a:t>
            </a:r>
            <a:r>
              <a:rPr lang="ru-RU" dirty="0"/>
              <a:t>-SQL. Триггеры DDL нельзя использовать в качестве триггеров INSTEAD OF.</a:t>
            </a:r>
          </a:p>
          <a:p>
            <a:r>
              <a:rPr lang="ru-RU" dirty="0"/>
              <a:t>Триггеры DDL не создают таблицы </a:t>
            </a:r>
            <a:r>
              <a:rPr lang="ru-RU" dirty="0" err="1"/>
              <a:t>inserted</a:t>
            </a:r>
            <a:r>
              <a:rPr lang="ru-RU" dirty="0"/>
              <a:t> и </a:t>
            </a:r>
            <a:r>
              <a:rPr lang="ru-RU" dirty="0" err="1"/>
              <a:t>deleted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386384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Logon - trigger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Триггеры входа выполняют хранимые процедуры в ответ на событие LOGON. Это событие вызывается при установке пользовательского сеанса с экземпляром SQL </a:t>
            </a:r>
            <a:r>
              <a:rPr lang="ru-RU" dirty="0" err="1"/>
              <a:t>Server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Триггеры </a:t>
            </a:r>
            <a:r>
              <a:rPr lang="ru-RU" dirty="0"/>
              <a:t>входа срабатывают после завершения этапа проверки подлинности при входе, но перед тем, как пользовательский сеанс реально устанавливается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00215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Logon - trigger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TRIGGER </a:t>
            </a:r>
            <a:r>
              <a:rPr lang="en-US" dirty="0" err="1"/>
              <a:t>trigger_name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ON ALL SERVER </a:t>
            </a:r>
          </a:p>
          <a:p>
            <a:pPr marL="0" indent="0">
              <a:buNone/>
            </a:pPr>
            <a:r>
              <a:rPr lang="en-US" dirty="0" smtClean="0"/>
              <a:t>{ </a:t>
            </a:r>
            <a:r>
              <a:rPr lang="en-US" dirty="0"/>
              <a:t>FOR| AFTER } LOGON  </a:t>
            </a:r>
          </a:p>
          <a:p>
            <a:pPr marL="0" indent="0">
              <a:buNone/>
            </a:pPr>
            <a:r>
              <a:rPr lang="en-US" dirty="0"/>
              <a:t>AS { </a:t>
            </a:r>
            <a:r>
              <a:rPr lang="en-US" dirty="0" err="1" smtClean="0"/>
              <a:t>sql_statement</a:t>
            </a:r>
            <a:r>
              <a:rPr lang="en-US" smtClean="0"/>
              <a:t>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77718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6929</TotalTime>
  <Words>1486</Words>
  <Application>Microsoft Office PowerPoint</Application>
  <PresentationFormat>Экран (4:3)</PresentationFormat>
  <Paragraphs>271</Paragraphs>
  <Slides>52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9" baseType="lpstr">
      <vt:lpstr>Arial</vt:lpstr>
      <vt:lpstr>Calibri</vt:lpstr>
      <vt:lpstr>Lucida Console</vt:lpstr>
      <vt:lpstr>Tahoma</vt:lpstr>
      <vt:lpstr>Verdana</vt:lpstr>
      <vt:lpstr>Wingdings</vt:lpstr>
      <vt:lpstr>Тема Office</vt:lpstr>
      <vt:lpstr>Триггеры в MS SQL Server</vt:lpstr>
      <vt:lpstr>Что такое триггер</vt:lpstr>
      <vt:lpstr>Виды триггеров</vt:lpstr>
      <vt:lpstr>Назначение триггеров</vt:lpstr>
      <vt:lpstr>Когда нужны триггеры</vt:lpstr>
      <vt:lpstr>DML-триггеры</vt:lpstr>
      <vt:lpstr>DML - trigger</vt:lpstr>
      <vt:lpstr>DML-триггеры</vt:lpstr>
      <vt:lpstr>Когда нужны триггеры</vt:lpstr>
      <vt:lpstr>Еще…</vt:lpstr>
      <vt:lpstr>Когда не надо использовать триггеры</vt:lpstr>
      <vt:lpstr>Советы</vt:lpstr>
      <vt:lpstr>Основные параметры триггера</vt:lpstr>
      <vt:lpstr>Группировка событий</vt:lpstr>
      <vt:lpstr>Правила работы триггера</vt:lpstr>
      <vt:lpstr>Правила работы триггера</vt:lpstr>
      <vt:lpstr>Пример</vt:lpstr>
      <vt:lpstr>Рекурсия</vt:lpstr>
      <vt:lpstr>Презентация PowerPoint</vt:lpstr>
      <vt:lpstr>Выбор типа триггера</vt:lpstr>
      <vt:lpstr>Циклы и вложенность</vt:lpstr>
      <vt:lpstr>Триггер INSTEAD OF</vt:lpstr>
      <vt:lpstr>Триггер AFTER</vt:lpstr>
      <vt:lpstr>Триггер AFTER</vt:lpstr>
      <vt:lpstr>Порядок AFTER-триггеров</vt:lpstr>
      <vt:lpstr>Использование таблиц deleted и inserted</vt:lpstr>
      <vt:lpstr>Использование inserted, deleted</vt:lpstr>
      <vt:lpstr>Использование таблиц deleted и inserted</vt:lpstr>
      <vt:lpstr>Использование таблиц deleted и inserted</vt:lpstr>
      <vt:lpstr>Презентация PowerPoint</vt:lpstr>
      <vt:lpstr>Создание триггера</vt:lpstr>
      <vt:lpstr>Презентация PowerPoint</vt:lpstr>
      <vt:lpstr>Презентация PowerPoint</vt:lpstr>
      <vt:lpstr>Обработка исключений</vt:lpstr>
      <vt:lpstr>Обработка исключений сообщение об ошибке</vt:lpstr>
      <vt:lpstr>Функции об ошибках</vt:lpstr>
      <vt:lpstr>Пример триггера</vt:lpstr>
      <vt:lpstr>Управление триггерами</vt:lpstr>
      <vt:lpstr>Изменение триггера</vt:lpstr>
      <vt:lpstr>Удаление триггера</vt:lpstr>
      <vt:lpstr>Активация/деактивация триггера</vt:lpstr>
      <vt:lpstr>Применение триггеров</vt:lpstr>
      <vt:lpstr>Типы триггеров</vt:lpstr>
      <vt:lpstr>DDL - trigger</vt:lpstr>
      <vt:lpstr>DDL - триггеры</vt:lpstr>
      <vt:lpstr>Задачи для DDL - триггеров</vt:lpstr>
      <vt:lpstr>Презентация PowerPoint</vt:lpstr>
      <vt:lpstr>Создание/удаление DDL-тр</vt:lpstr>
      <vt:lpstr>DDL - trigger</vt:lpstr>
      <vt:lpstr>Презентация PowerPoint</vt:lpstr>
      <vt:lpstr>Logon - trigger</vt:lpstr>
      <vt:lpstr>Logon - trigger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Элементы PL/SQL</dc:title>
  <dc:creator>Nata</dc:creator>
  <cp:lastModifiedBy>Elena</cp:lastModifiedBy>
  <cp:revision>573</cp:revision>
  <dcterms:created xsi:type="dcterms:W3CDTF">2004-11-17T20:03:00Z</dcterms:created>
  <dcterms:modified xsi:type="dcterms:W3CDTF">2016-03-28T20:09:15Z</dcterms:modified>
</cp:coreProperties>
</file>