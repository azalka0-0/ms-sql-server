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2" r:id="rId7"/>
    <p:sldId id="257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8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 varScale="1">
        <p:scale>
          <a:sx n="105" d="100"/>
          <a:sy n="105" d="100"/>
        </p:scale>
        <p:origin x="17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ru-RU" dirty="0"/>
              <a:t>Базы данных и возможности оконных функций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1772816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Оконные функции в той или иной степени поддерживаются во всех современных реляционных СУБД. </a:t>
            </a:r>
          </a:p>
          <a:p>
            <a:pPr algn="just"/>
            <a:endParaRPr lang="ru-RU" dirty="0"/>
          </a:p>
          <a:p>
            <a:r>
              <a:rPr lang="ru-RU" dirty="0"/>
              <a:t>Задачи, которые непринужденно решаются с помощью оконных функций в SQL:</a:t>
            </a:r>
          </a:p>
          <a:p>
            <a:r>
              <a:rPr lang="ru-RU" dirty="0"/>
              <a:t>-    Ранжирование (всевозможные рейтинги)</a:t>
            </a:r>
          </a:p>
          <a:p>
            <a:r>
              <a:rPr lang="ru-RU" dirty="0"/>
              <a:t>-    Сравнение со смещением (соседние элементы и границы)</a:t>
            </a:r>
          </a:p>
          <a:p>
            <a:r>
              <a:rPr lang="ru-RU" dirty="0"/>
              <a:t>-    Агрегация (сумма и среднее)</a:t>
            </a:r>
          </a:p>
          <a:p>
            <a:r>
              <a:rPr lang="ru-RU" dirty="0"/>
              <a:t>-    Скользящие агрегаты (сумма и среднее в динамике)</a:t>
            </a:r>
          </a:p>
          <a:p>
            <a:r>
              <a:rPr lang="ru-RU" dirty="0"/>
              <a:t>Конечно, это не исчерпывающий список.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757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r>
              <a:rPr lang="ru-RU" dirty="0"/>
              <a:t>Ранжирование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412776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Ранжирование — это всевозможные рейтинги, начиная от призеров чемпионата мира по плаванию и заканчивая </a:t>
            </a:r>
            <a:r>
              <a:rPr lang="ru-RU" dirty="0" err="1"/>
              <a:t>Forbes</a:t>
            </a:r>
            <a:r>
              <a:rPr lang="ru-RU" dirty="0"/>
              <a:t> 500.</a:t>
            </a:r>
          </a:p>
          <a:p>
            <a:endParaRPr lang="ru-RU" dirty="0"/>
          </a:p>
          <a:p>
            <a:r>
              <a:rPr lang="ru-RU" dirty="0"/>
              <a:t>Мы же будем ранжировать сотрудников в игрушечной таблице </a:t>
            </a:r>
            <a:r>
              <a:rPr lang="ru-RU" dirty="0" err="1"/>
              <a:t>employees</a:t>
            </a:r>
            <a:r>
              <a:rPr lang="ru-RU" dirty="0"/>
              <a:t>, вот такой: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714" y="2613105"/>
            <a:ext cx="6349864" cy="3912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2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ru-RU" dirty="0"/>
              <a:t>Оконная функция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666" y="1454374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Составим рейтинг сотрудников по размеру заработной платы: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00" y="1795463"/>
            <a:ext cx="8772275" cy="3577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520" y="5589240"/>
            <a:ext cx="8622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Обратите внимание — сотрудники с одинаковой зарплатой получили один и тот же ранг (Леонид и Марина, Вероника и Григорий).</a:t>
            </a:r>
          </a:p>
          <a:p>
            <a:r>
              <a:rPr lang="ru-RU" dirty="0"/>
              <a:t>Как перейти от «было» к «стало»?</a:t>
            </a:r>
          </a:p>
        </p:txBody>
      </p:sp>
    </p:spTree>
    <p:extLst>
      <p:ext uri="{BB962C8B-B14F-4D97-AF65-F5344CB8AC3E}">
        <p14:creationId xmlns:p14="http://schemas.microsoft.com/office/powerpoint/2010/main" val="106381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26064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Сначала отсортируем таблицу по убыванию зарплаты: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565" y="629981"/>
            <a:ext cx="4948870" cy="5210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520" y="5733256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Теперь пройдем от первой строчки до последней и проставим ранг каждой записи. Начнем с 1 и будем увеличивать ранг каждый раз, когда значение </a:t>
            </a:r>
            <a:r>
              <a:rPr lang="ru-RU" b="1" dirty="0" err="1"/>
              <a:t>salary</a:t>
            </a:r>
            <a:r>
              <a:rPr lang="ru-RU" dirty="0"/>
              <a:t> меньше, чем у предыдущей записи:</a:t>
            </a:r>
          </a:p>
        </p:txBody>
      </p:sp>
    </p:spTree>
    <p:extLst>
      <p:ext uri="{BB962C8B-B14F-4D97-AF65-F5344CB8AC3E}">
        <p14:creationId xmlns:p14="http://schemas.microsoft.com/office/powerpoint/2010/main" val="2705947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260648"/>
            <a:ext cx="86409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Чтобы проставить ранг, достаточно на каждом шаге смотреть только на значения из столбца </a:t>
            </a:r>
            <a:r>
              <a:rPr lang="ru-RU" b="1" dirty="0" err="1"/>
              <a:t>salary</a:t>
            </a:r>
            <a:r>
              <a:rPr lang="en-US" dirty="0"/>
              <a:t>. </a:t>
            </a:r>
            <a:r>
              <a:rPr lang="ru-RU" dirty="0"/>
              <a:t>Назовем эти значения </a:t>
            </a:r>
            <a:r>
              <a:rPr lang="ru-RU" i="1" dirty="0"/>
              <a:t>окном</a:t>
            </a:r>
            <a:r>
              <a:rPr lang="ru-RU" dirty="0"/>
              <a:t>.</a:t>
            </a:r>
          </a:p>
          <a:p>
            <a:r>
              <a:rPr lang="ru-RU" dirty="0"/>
              <a:t>    Попробуем описать содержимое </a:t>
            </a:r>
            <a:r>
              <a:rPr lang="ru-RU" i="1" dirty="0"/>
              <a:t>окна</a:t>
            </a:r>
            <a:r>
              <a:rPr lang="ru-RU" dirty="0"/>
              <a:t> словами:</a:t>
            </a:r>
          </a:p>
          <a:p>
            <a:r>
              <a:rPr lang="ru-RU" dirty="0"/>
              <a:t>   1.  Это значения столбца </a:t>
            </a:r>
            <a:r>
              <a:rPr lang="ru-RU" b="1" dirty="0" err="1"/>
              <a:t>salary</a:t>
            </a:r>
            <a:r>
              <a:rPr lang="ru-RU" dirty="0"/>
              <a:t>.</a:t>
            </a:r>
          </a:p>
          <a:p>
            <a:r>
              <a:rPr lang="ru-RU" dirty="0"/>
              <a:t>   2. Они упорядочены от большего значения к меньшему.</a:t>
            </a:r>
          </a:p>
          <a:p>
            <a:endParaRPr lang="ru-RU" dirty="0"/>
          </a:p>
          <a:p>
            <a:r>
              <a:rPr lang="ru-RU" dirty="0"/>
              <a:t>Сформулируем то же самое на SQL:</a:t>
            </a:r>
          </a:p>
          <a:p>
            <a:endParaRPr lang="ru-RU" dirty="0"/>
          </a:p>
          <a:p>
            <a:pPr algn="ctr"/>
            <a:r>
              <a:rPr lang="ru-RU" dirty="0"/>
              <a:t>    </a:t>
            </a:r>
            <a:r>
              <a:rPr lang="ru-RU" b="1" dirty="0" err="1"/>
              <a:t>window</a:t>
            </a:r>
            <a:r>
              <a:rPr lang="ru-RU" b="1" dirty="0"/>
              <a:t> w </a:t>
            </a:r>
            <a:r>
              <a:rPr lang="ru-RU" b="1" dirty="0" err="1"/>
              <a:t>as</a:t>
            </a:r>
            <a:r>
              <a:rPr lang="ru-RU" b="1" dirty="0"/>
              <a:t> (</a:t>
            </a:r>
            <a:r>
              <a:rPr lang="ru-RU" b="1" dirty="0" err="1"/>
              <a:t>order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salary</a:t>
            </a:r>
            <a:r>
              <a:rPr lang="ru-RU" b="1" dirty="0"/>
              <a:t> </a:t>
            </a:r>
            <a:r>
              <a:rPr lang="ru-RU" b="1" dirty="0" err="1"/>
              <a:t>desc</a:t>
            </a:r>
            <a:r>
              <a:rPr lang="ru-RU" b="1" dirty="0"/>
              <a:t>)</a:t>
            </a:r>
          </a:p>
          <a:p>
            <a:endParaRPr lang="ru-RU" dirty="0"/>
          </a:p>
          <a:p>
            <a:r>
              <a:rPr lang="ru-RU" b="1" dirty="0" err="1"/>
              <a:t>window</a:t>
            </a:r>
            <a:r>
              <a:rPr lang="ru-RU" dirty="0"/>
              <a:t> — ключевое слово, которое показывает, что дальше будет определение окна;</a:t>
            </a:r>
          </a:p>
          <a:p>
            <a:r>
              <a:rPr lang="ru-RU" b="1" dirty="0"/>
              <a:t>w</a:t>
            </a:r>
            <a:r>
              <a:rPr lang="ru-RU" dirty="0"/>
              <a:t> — название окна (может быть любым);</a:t>
            </a:r>
          </a:p>
          <a:p>
            <a:pPr algn="just"/>
            <a:r>
              <a:rPr lang="ru-RU" b="1" dirty="0"/>
              <a:t>(</a:t>
            </a:r>
            <a:r>
              <a:rPr lang="ru-RU" b="1" dirty="0" err="1"/>
              <a:t>order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salary</a:t>
            </a:r>
            <a:r>
              <a:rPr lang="ru-RU" b="1" dirty="0"/>
              <a:t> </a:t>
            </a:r>
            <a:r>
              <a:rPr lang="ru-RU" b="1" dirty="0" err="1"/>
              <a:t>desc</a:t>
            </a:r>
            <a:r>
              <a:rPr lang="ru-RU" b="1" dirty="0"/>
              <a:t>) </a:t>
            </a:r>
            <a:r>
              <a:rPr lang="ru-RU" dirty="0"/>
              <a:t>— описание окна («значения столбца </a:t>
            </a:r>
            <a:r>
              <a:rPr lang="ru-RU" b="1" dirty="0" err="1"/>
              <a:t>salary</a:t>
            </a:r>
            <a:r>
              <a:rPr lang="ru-RU" dirty="0"/>
              <a:t>, упорядоченные по убыванию»).</a:t>
            </a:r>
          </a:p>
          <a:p>
            <a:endParaRPr lang="ru-RU" dirty="0"/>
          </a:p>
          <a:p>
            <a:r>
              <a:rPr lang="ru-RU" dirty="0"/>
              <a:t>Задача — посчитать ранг по окну </a:t>
            </a:r>
            <a:r>
              <a:rPr lang="ru-RU" b="1" dirty="0"/>
              <a:t>w</a:t>
            </a:r>
            <a:r>
              <a:rPr lang="ru-RU" dirty="0"/>
              <a:t>. На SQL это записывается как </a:t>
            </a:r>
            <a:r>
              <a:rPr lang="ru-RU" b="1" dirty="0" err="1"/>
              <a:t>dense_rank</a:t>
            </a:r>
            <a:r>
              <a:rPr lang="ru-RU" b="1" dirty="0"/>
              <a:t>() </a:t>
            </a:r>
            <a:r>
              <a:rPr lang="ru-RU" b="1" dirty="0" err="1"/>
              <a:t>over</a:t>
            </a:r>
            <a:r>
              <a:rPr lang="ru-RU" b="1" dirty="0"/>
              <a:t> w</a:t>
            </a:r>
            <a:r>
              <a:rPr lang="ru-RU" dirty="0"/>
              <a:t>.</a:t>
            </a:r>
          </a:p>
          <a:p>
            <a:endParaRPr lang="ru-RU" dirty="0"/>
          </a:p>
          <a:p>
            <a:pPr algn="just"/>
            <a:r>
              <a:rPr lang="ru-RU" b="1" dirty="0" err="1"/>
              <a:t>dense_rank</a:t>
            </a:r>
            <a:r>
              <a:rPr lang="ru-RU" b="1" dirty="0"/>
              <a:t>() </a:t>
            </a:r>
            <a:r>
              <a:rPr lang="ru-RU" dirty="0"/>
              <a:t>— это оконная функция, которая считает ранг по указанному окну. Логика </a:t>
            </a:r>
            <a:r>
              <a:rPr lang="ru-RU" b="1" dirty="0" err="1"/>
              <a:t>dense_rank</a:t>
            </a:r>
            <a:r>
              <a:rPr lang="ru-RU" b="1" dirty="0"/>
              <a:t>() </a:t>
            </a:r>
            <a:r>
              <a:rPr lang="ru-RU" dirty="0"/>
              <a:t>такая же, как была у нас при ручном подсчете — начать с 1 и увеличивать ранг каждый раз, когда очередное значение из окна отличается от предыдущего.</a:t>
            </a:r>
          </a:p>
        </p:txBody>
      </p:sp>
    </p:spTree>
    <p:extLst>
      <p:ext uri="{BB962C8B-B14F-4D97-AF65-F5344CB8AC3E}">
        <p14:creationId xmlns:p14="http://schemas.microsoft.com/office/powerpoint/2010/main" val="181792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277359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Добавим окно и оконную функцию в исходный запрос: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4"/>
          <a:stretch/>
        </p:blipFill>
        <p:spPr bwMode="auto">
          <a:xfrm>
            <a:off x="2417544" y="2350757"/>
            <a:ext cx="3988883" cy="2900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659198" y="624112"/>
            <a:ext cx="347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 err="1"/>
              <a:t>ClickHouse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37961" y="646691"/>
            <a:ext cx="316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/>
              <a:t>MySQL: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31055" y="5251388"/>
            <a:ext cx="8640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Вот как движок выполняет такой запрос:</a:t>
            </a:r>
          </a:p>
          <a:p>
            <a:r>
              <a:rPr lang="ru-RU" dirty="0"/>
              <a:t>    </a:t>
            </a:r>
            <a:r>
              <a:rPr lang="en-US" dirty="0"/>
              <a:t>1. </a:t>
            </a:r>
            <a:r>
              <a:rPr lang="ru-RU" dirty="0"/>
              <a:t>Берет таблицу, указанную в </a:t>
            </a:r>
            <a:r>
              <a:rPr lang="ru-RU" b="1" dirty="0" err="1"/>
              <a:t>from</a:t>
            </a:r>
            <a:r>
              <a:rPr lang="ru-RU" dirty="0"/>
              <a:t>.</a:t>
            </a:r>
          </a:p>
          <a:p>
            <a:r>
              <a:rPr lang="ru-RU" dirty="0"/>
              <a:t>    </a:t>
            </a:r>
            <a:r>
              <a:rPr lang="en-US" dirty="0"/>
              <a:t>2. </a:t>
            </a:r>
            <a:r>
              <a:rPr lang="ru-RU" dirty="0"/>
              <a:t>Выбирает из нее все записи.</a:t>
            </a:r>
          </a:p>
          <a:p>
            <a:r>
              <a:rPr lang="ru-RU" dirty="0"/>
              <a:t>    </a:t>
            </a:r>
            <a:r>
              <a:rPr lang="en-US" dirty="0"/>
              <a:t>3. </a:t>
            </a:r>
            <a:r>
              <a:rPr lang="ru-RU" dirty="0"/>
              <a:t>Для каждой записи рассчитывает значение </a:t>
            </a:r>
            <a:r>
              <a:rPr lang="ru-RU" b="1" dirty="0" err="1"/>
              <a:t>dense_rank</a:t>
            </a:r>
            <a:r>
              <a:rPr lang="ru-RU" b="1" dirty="0"/>
              <a:t>() </a:t>
            </a:r>
            <a:r>
              <a:rPr lang="ru-RU" dirty="0"/>
              <a:t>с помощью окна </a:t>
            </a:r>
            <a:r>
              <a:rPr lang="ru-RU" b="1" dirty="0"/>
              <a:t>w</a:t>
            </a:r>
            <a:r>
              <a:rPr lang="ru-RU" dirty="0"/>
              <a:t>.</a:t>
            </a:r>
          </a:p>
          <a:p>
            <a:r>
              <a:rPr lang="ru-RU" dirty="0"/>
              <a:t>    </a:t>
            </a:r>
            <a:r>
              <a:rPr lang="en-US" dirty="0"/>
              <a:t>4. </a:t>
            </a:r>
            <a:r>
              <a:rPr lang="ru-RU" dirty="0"/>
              <a:t>Сортирует результат как указано в </a:t>
            </a:r>
            <a:r>
              <a:rPr lang="ru-RU" b="1" dirty="0" err="1"/>
              <a:t>order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dirty="0"/>
              <a:t>.</a:t>
            </a: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07" y="978482"/>
            <a:ext cx="3283167" cy="1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2" t="37826" r="75489" b="47995"/>
          <a:stretch/>
        </p:blipFill>
        <p:spPr bwMode="auto">
          <a:xfrm>
            <a:off x="4659198" y="1016023"/>
            <a:ext cx="3206773" cy="1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7869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251356"/>
            <a:ext cx="5902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Вот как отрабатывает шаг 3, на котором назначается ранг: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5157192"/>
            <a:ext cx="87105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Конструкция </a:t>
            </a:r>
            <a:r>
              <a:rPr lang="ru-RU" b="1" dirty="0" err="1"/>
              <a:t>window</a:t>
            </a:r>
            <a:r>
              <a:rPr lang="ru-RU" dirty="0"/>
              <a:t> сама по себе ничего не делает с результатами запроса. Она только определяет окно, которое можно использовать (или не использовать) в запросе. Если убрать вызов </a:t>
            </a:r>
            <a:r>
              <a:rPr lang="ru-RU" b="1" dirty="0" err="1"/>
              <a:t>dense_rank</a:t>
            </a:r>
            <a:r>
              <a:rPr lang="ru-RU" b="1" dirty="0"/>
              <a:t>()</a:t>
            </a:r>
            <a:r>
              <a:rPr lang="ru-RU" dirty="0"/>
              <a:t>, запрос отработает, как будто нет никаких окон</a:t>
            </a:r>
            <a:r>
              <a:rPr lang="en-US" dirty="0"/>
              <a:t>. </a:t>
            </a:r>
            <a:r>
              <a:rPr lang="ru-RU" dirty="0"/>
              <a:t>Окно начинает работать только тогда, когда в </a:t>
            </a:r>
            <a:r>
              <a:rPr lang="ru-RU" b="1" dirty="0" err="1"/>
              <a:t>select</a:t>
            </a:r>
            <a:r>
              <a:rPr lang="ru-RU" dirty="0"/>
              <a:t> появляется оконная функция, которая его использует.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081" y="768192"/>
            <a:ext cx="5683364" cy="424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30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5736" y="271249"/>
            <a:ext cx="5050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Оконные запросы в СУБД </a:t>
            </a:r>
            <a:r>
              <a:rPr lang="ru-RU" b="1" dirty="0" err="1"/>
              <a:t>Oracle</a:t>
            </a:r>
            <a:r>
              <a:rPr lang="ru-RU" b="1" dirty="0"/>
              <a:t> и MS SQL </a:t>
            </a:r>
            <a:r>
              <a:rPr lang="ru-RU" b="1" dirty="0" err="1"/>
              <a:t>Server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908720"/>
            <a:ext cx="8712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Ни </a:t>
            </a:r>
            <a:r>
              <a:rPr lang="ru-RU" b="1" dirty="0" err="1"/>
              <a:t>Oracle</a:t>
            </a:r>
            <a:r>
              <a:rPr lang="ru-RU" dirty="0"/>
              <a:t>, ни </a:t>
            </a:r>
            <a:r>
              <a:rPr lang="ru-RU" b="1" dirty="0"/>
              <a:t>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dirty="0"/>
              <a:t>не поддерживают конструкцию </a:t>
            </a:r>
            <a:r>
              <a:rPr lang="ru-RU" b="1" dirty="0" err="1"/>
              <a:t>window</a:t>
            </a:r>
            <a:r>
              <a:rPr lang="ru-RU" dirty="0"/>
              <a:t>. Чтобы заставить работать оконный запрос в этих СУБД, перенесите описание окна внутрь инструкции </a:t>
            </a:r>
            <a:r>
              <a:rPr lang="ru-RU" b="1" dirty="0" err="1"/>
              <a:t>over</a:t>
            </a:r>
            <a:r>
              <a:rPr lang="ru-RU" dirty="0"/>
              <a:t>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499" y="1988840"/>
            <a:ext cx="3817010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461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63888" y="292006"/>
            <a:ext cx="177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Несколько окон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764704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Что делать, если понадобится использовать в запросе несколько окон? Просто перечислите их через запятую в разделе </a:t>
            </a:r>
            <a:r>
              <a:rPr lang="ru-RU" b="1" dirty="0" err="1"/>
              <a:t>window</a:t>
            </a:r>
            <a:r>
              <a:rPr lang="ru-RU" dirty="0"/>
              <a:t>: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850" y="1484783"/>
            <a:ext cx="1751253" cy="1967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11996" y="3491716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Например, </a:t>
            </a:r>
            <a:r>
              <a:rPr lang="ru-RU" dirty="0" err="1"/>
              <a:t>отранжируем</a:t>
            </a:r>
            <a:r>
              <a:rPr lang="ru-RU" dirty="0"/>
              <a:t> сотрудников по зарплате в прямом и обратном порядке: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175" y="4077072"/>
            <a:ext cx="3845025" cy="222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581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908720"/>
            <a:ext cx="4704435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32584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Результат запроса:</a:t>
            </a:r>
          </a:p>
        </p:txBody>
      </p:sp>
    </p:spTree>
    <p:extLst>
      <p:ext uri="{BB962C8B-B14F-4D97-AF65-F5344CB8AC3E}">
        <p14:creationId xmlns:p14="http://schemas.microsoft.com/office/powerpoint/2010/main" val="66919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87824" y="228877"/>
            <a:ext cx="32880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/>
              <a:t>Секции окна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974310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Теперь составим рейтинг сотрудников по размеру заработной платы независимо по каждому департаменту: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24" y="1800224"/>
            <a:ext cx="8796662" cy="357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520" y="5733256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Как перейти от «было» к «стало»?</a:t>
            </a:r>
          </a:p>
        </p:txBody>
      </p:sp>
    </p:spTree>
    <p:extLst>
      <p:ext uri="{BB962C8B-B14F-4D97-AF65-F5344CB8AC3E}">
        <p14:creationId xmlns:p14="http://schemas.microsoft.com/office/powerpoint/2010/main" val="113787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332656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Сначала отсортируем таблицу по департаментам, а внутри департамента — по убыванию зарплаты: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066" y="1124743"/>
            <a:ext cx="4335867" cy="4528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520" y="5517232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Теперь пройдем от первой строчки до последней и проставим ранг каждой записи. Начнем с 1 и будем увеличивать ранг каждый раз, когда значение </a:t>
            </a:r>
            <a:r>
              <a:rPr lang="ru-RU" b="1" dirty="0" err="1"/>
              <a:t>salary</a:t>
            </a:r>
            <a:r>
              <a:rPr lang="ru-RU" dirty="0"/>
              <a:t> меньше, чем у предыдущей записи. При переходе от департамента к департаменту будем сбрасывать ранг обратно на 1:</a:t>
            </a:r>
          </a:p>
        </p:txBody>
      </p:sp>
    </p:spTree>
    <p:extLst>
      <p:ext uri="{BB962C8B-B14F-4D97-AF65-F5344CB8AC3E}">
        <p14:creationId xmlns:p14="http://schemas.microsoft.com/office/powerpoint/2010/main" val="3037466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8640"/>
            <a:ext cx="5837640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0487" y="3501008"/>
            <a:ext cx="87259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    Чтобы проставить ранг, достаточно на каждом шаге смотреть только на значения из столбца </a:t>
            </a:r>
            <a:r>
              <a:rPr lang="ru-RU" b="1" dirty="0" err="1"/>
              <a:t>salary</a:t>
            </a:r>
            <a:r>
              <a:rPr lang="ru-RU" dirty="0"/>
              <a:t>, выделенные синей рамкой. Это и есть окно в данном случае.</a:t>
            </a:r>
          </a:p>
          <a:p>
            <a:pPr algn="just"/>
            <a:r>
              <a:rPr lang="ru-RU" dirty="0"/>
              <a:t>   Видно, что окно меняется в зависимости от того, к какому департаменту относится текущая запись. Опишем словами:</a:t>
            </a:r>
          </a:p>
          <a:p>
            <a:r>
              <a:rPr lang="ru-RU" dirty="0"/>
              <a:t>    1. Окно разбито на несколько независимых секций — по одной на департамент.</a:t>
            </a:r>
          </a:p>
          <a:p>
            <a:r>
              <a:rPr lang="ru-RU" dirty="0"/>
              <a:t>    2. Внутри секции записи упорядочены по убыванию зарплаты.</a:t>
            </a:r>
          </a:p>
          <a:p>
            <a:r>
              <a:rPr lang="ru-RU" dirty="0"/>
              <a:t>Сформулируем то же самое на SQL:</a:t>
            </a:r>
          </a:p>
          <a:p>
            <a:pPr algn="ctr"/>
            <a:r>
              <a:rPr lang="ru-RU" b="1" dirty="0" err="1"/>
              <a:t>window</a:t>
            </a:r>
            <a:r>
              <a:rPr lang="ru-RU" b="1" dirty="0"/>
              <a:t> w </a:t>
            </a:r>
            <a:r>
              <a:rPr lang="ru-RU" b="1" dirty="0" err="1"/>
              <a:t>as</a:t>
            </a:r>
            <a:r>
              <a:rPr lang="ru-RU" b="1" dirty="0"/>
              <a:t> (</a:t>
            </a:r>
            <a:r>
              <a:rPr lang="ru-RU" b="1" dirty="0" err="1"/>
              <a:t>partition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department</a:t>
            </a:r>
            <a:r>
              <a:rPr lang="ru-RU" b="1" dirty="0"/>
              <a:t>  </a:t>
            </a:r>
            <a:r>
              <a:rPr lang="ru-RU" b="1" dirty="0" err="1"/>
              <a:t>order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salary</a:t>
            </a:r>
            <a:r>
              <a:rPr lang="ru-RU" b="1" dirty="0"/>
              <a:t> </a:t>
            </a:r>
            <a:r>
              <a:rPr lang="ru-RU" b="1" dirty="0" err="1"/>
              <a:t>desc</a:t>
            </a:r>
            <a:r>
              <a:rPr lang="ru-RU" b="1" dirty="0"/>
              <a:t>)</a:t>
            </a:r>
          </a:p>
          <a:p>
            <a:r>
              <a:rPr lang="ru-RU" dirty="0"/>
              <a:t>    - </a:t>
            </a:r>
            <a:r>
              <a:rPr lang="ru-RU" b="1" dirty="0" err="1"/>
              <a:t>partition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department</a:t>
            </a:r>
            <a:r>
              <a:rPr lang="ru-RU" dirty="0"/>
              <a:t> указывает, как следует разбить окно на секции;</a:t>
            </a:r>
          </a:p>
          <a:p>
            <a:r>
              <a:rPr lang="ru-RU" dirty="0"/>
              <a:t>    - </a:t>
            </a:r>
            <a:r>
              <a:rPr lang="ru-RU" b="1" dirty="0" err="1"/>
              <a:t>order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salary</a:t>
            </a:r>
            <a:r>
              <a:rPr lang="ru-RU" b="1" dirty="0"/>
              <a:t> </a:t>
            </a:r>
            <a:r>
              <a:rPr lang="ru-RU" b="1" dirty="0" err="1"/>
              <a:t>desc</a:t>
            </a:r>
            <a:r>
              <a:rPr lang="ru-RU" b="1" dirty="0"/>
              <a:t> </a:t>
            </a:r>
            <a:r>
              <a:rPr lang="ru-RU" dirty="0"/>
              <a:t>задает сортировку внутри секции.</a:t>
            </a:r>
          </a:p>
          <a:p>
            <a:r>
              <a:rPr lang="ru-RU" dirty="0"/>
              <a:t>Функция расчета ранга остается прежней — </a:t>
            </a:r>
            <a:r>
              <a:rPr lang="ru-RU" b="1" dirty="0" err="1"/>
              <a:t>dense_rank</a:t>
            </a:r>
            <a:r>
              <a:rPr lang="ru-RU" b="1" dirty="0"/>
              <a:t>()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263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7934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Добавим окно и оконную функцию в исходный запрос: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9"/>
          <a:stretch/>
        </p:blipFill>
        <p:spPr bwMode="auto">
          <a:xfrm>
            <a:off x="2536324" y="3212976"/>
            <a:ext cx="4123908" cy="3342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07"/>
          <a:stretch/>
        </p:blipFill>
        <p:spPr bwMode="auto">
          <a:xfrm>
            <a:off x="439820" y="915238"/>
            <a:ext cx="4127500" cy="1978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9820" y="580038"/>
            <a:ext cx="415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/>
              <a:t>MySQL: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032" y="624112"/>
            <a:ext cx="347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 err="1"/>
              <a:t>ClickHouse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" t="39552" r="77489" b="37601"/>
          <a:stretch/>
        </p:blipFill>
        <p:spPr bwMode="auto">
          <a:xfrm>
            <a:off x="4860032" y="915238"/>
            <a:ext cx="2807068" cy="1978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954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Инфомаксимум\Презентация по оконным функциям\картинки\2 Окна и функции\rank-department.gif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737" y="836712"/>
            <a:ext cx="606453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257895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Вот как движок рассчитывает ранг для каждой записи:</a:t>
            </a:r>
          </a:p>
        </p:txBody>
      </p:sp>
    </p:spTree>
    <p:extLst>
      <p:ext uri="{BB962C8B-B14F-4D97-AF65-F5344CB8AC3E}">
        <p14:creationId xmlns:p14="http://schemas.microsoft.com/office/powerpoint/2010/main" val="3150441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dirty="0"/>
              <a:t>Группы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340768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Разобьем сотрудников на три группы в зависимости от размера зарплаты:</a:t>
            </a:r>
          </a:p>
          <a:p>
            <a:r>
              <a:rPr lang="ru-RU" dirty="0"/>
              <a:t>-    высокооплачиваемые,</a:t>
            </a:r>
          </a:p>
          <a:p>
            <a:r>
              <a:rPr lang="ru-RU" dirty="0"/>
              <a:t>-    средние,</a:t>
            </a:r>
          </a:p>
          <a:p>
            <a:r>
              <a:rPr lang="ru-RU" dirty="0"/>
              <a:t>-    низкооплачиваемые.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47" y="2541097"/>
            <a:ext cx="8749517" cy="3552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520" y="6286943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Как перейти от «было» к «стало»?</a:t>
            </a:r>
          </a:p>
        </p:txBody>
      </p:sp>
    </p:spTree>
    <p:extLst>
      <p:ext uri="{BB962C8B-B14F-4D97-AF65-F5344CB8AC3E}">
        <p14:creationId xmlns:p14="http://schemas.microsoft.com/office/powerpoint/2010/main" val="1588161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304654"/>
            <a:ext cx="8640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Сначала отсортируем таблицу по убыванию зарплаты.</a:t>
            </a:r>
          </a:p>
          <a:p>
            <a:r>
              <a:rPr lang="ru-RU" dirty="0"/>
              <a:t>Всего 10 записей, 3 группы — значит, две группы по 3 записи и одна 4 записи.</a:t>
            </a:r>
          </a:p>
          <a:p>
            <a:pPr algn="just"/>
            <a:r>
              <a:rPr lang="ru-RU" dirty="0"/>
              <a:t>Чтобы провести границы между группами, придется анализировать все зарплаты, отсортированные по убыванию. Поэтому окно будет таким:</a:t>
            </a:r>
          </a:p>
          <a:p>
            <a:pPr algn="ctr"/>
            <a:r>
              <a:rPr lang="ru-RU" b="1" dirty="0" err="1"/>
              <a:t>window</a:t>
            </a:r>
            <a:r>
              <a:rPr lang="ru-RU" b="1" dirty="0"/>
              <a:t> w </a:t>
            </a:r>
            <a:r>
              <a:rPr lang="ru-RU" b="1" dirty="0" err="1"/>
              <a:t>as</a:t>
            </a:r>
            <a:r>
              <a:rPr lang="ru-RU" b="1" dirty="0"/>
              <a:t> (</a:t>
            </a:r>
            <a:r>
              <a:rPr lang="ru-RU" b="1" dirty="0" err="1"/>
              <a:t>order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b="1" dirty="0"/>
              <a:t> </a:t>
            </a:r>
            <a:r>
              <a:rPr lang="ru-RU" b="1" dirty="0" err="1"/>
              <a:t>salary</a:t>
            </a:r>
            <a:r>
              <a:rPr lang="ru-RU" b="1" dirty="0"/>
              <a:t> </a:t>
            </a:r>
            <a:r>
              <a:rPr lang="ru-RU" b="1" dirty="0" err="1"/>
              <a:t>desc</a:t>
            </a:r>
            <a:r>
              <a:rPr lang="ru-RU" b="1" dirty="0"/>
              <a:t>)</a:t>
            </a:r>
          </a:p>
          <a:p>
            <a:pPr algn="just"/>
            <a:r>
              <a:rPr lang="ru-RU" dirty="0"/>
              <a:t>А вот функция потребуется другая — </a:t>
            </a:r>
            <a:r>
              <a:rPr lang="ru-RU" b="1" dirty="0" err="1"/>
              <a:t>ntile</a:t>
            </a:r>
            <a:r>
              <a:rPr lang="ru-RU" b="1" dirty="0"/>
              <a:t>(n)</a:t>
            </a:r>
            <a:r>
              <a:rPr lang="ru-RU" dirty="0"/>
              <a:t>, где n — количество групп. В нашем случае: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56" y="2636912"/>
            <a:ext cx="3722447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81156" y="2267580"/>
            <a:ext cx="415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/>
              <a:t>MySQL: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4283804"/>
            <a:ext cx="347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 err="1"/>
              <a:t>ClickHouse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3" t="39453" r="60987" b="38086"/>
          <a:stretch/>
        </p:blipFill>
        <p:spPr bwMode="auto">
          <a:xfrm>
            <a:off x="281156" y="4653136"/>
            <a:ext cx="5615259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0951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836712"/>
            <a:ext cx="4181064" cy="33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251356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Результат запроса: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4365104"/>
            <a:ext cx="8712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err="1"/>
              <a:t>ntile</a:t>
            </a:r>
            <a:r>
              <a:rPr lang="ru-RU" b="1" dirty="0"/>
              <a:t>(n)</a:t>
            </a:r>
            <a:r>
              <a:rPr lang="ru-RU" dirty="0"/>
              <a:t> разбивает все записи на </a:t>
            </a:r>
            <a:r>
              <a:rPr lang="ru-RU" b="1" dirty="0"/>
              <a:t>n</a:t>
            </a:r>
            <a:r>
              <a:rPr lang="ru-RU" dirty="0"/>
              <a:t> групп и возвращает номер группы для каждой записи. Если общее количество записей (10 в нашем случае) не делится на размер группы (3), то первые группы будут крупнее последних.</a:t>
            </a:r>
          </a:p>
        </p:txBody>
      </p:sp>
    </p:spTree>
    <p:extLst>
      <p:ext uri="{BB962C8B-B14F-4D97-AF65-F5344CB8AC3E}">
        <p14:creationId xmlns:p14="http://schemas.microsoft.com/office/powerpoint/2010/main" val="1383384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260648"/>
            <a:ext cx="8568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err="1"/>
              <a:t>ntile</a:t>
            </a:r>
            <a:r>
              <a:rPr lang="ru-RU" b="1" dirty="0"/>
              <a:t>() </a:t>
            </a:r>
            <a:r>
              <a:rPr lang="ru-RU" dirty="0"/>
              <a:t>всегда старается разбить данные так, чтобы группы были одинакового размера. Поэтому записи с одинаковым значением з/п вполне могут попасть в разные (соседние) группы: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505" y="1340768"/>
            <a:ext cx="5110559" cy="4981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517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3895" y="194024"/>
            <a:ext cx="61244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Функции ранжирования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119675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Оконные функции ранжирования: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27454"/>
              </p:ext>
            </p:extLst>
          </p:nvPr>
        </p:nvGraphicFramePr>
        <p:xfrm>
          <a:off x="323528" y="1700808"/>
          <a:ext cx="8568952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row_number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порядковый номер строки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dense_rank</a:t>
                      </a:r>
                      <a:r>
                        <a:rPr lang="en-US" dirty="0"/>
                        <a:t>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ранг строки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rank()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тоже ранг, но с пропусками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ntile</a:t>
                      </a:r>
                      <a:r>
                        <a:rPr lang="en-US" dirty="0"/>
                        <a:t>(n)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разбивает все строки на n групп и возвращает номер группы, в которую попала строка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1520" y="4149080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dense_rank</a:t>
            </a:r>
            <a:r>
              <a:rPr lang="ru-RU" b="1" dirty="0"/>
              <a:t>() </a:t>
            </a:r>
            <a:r>
              <a:rPr lang="ru-RU" dirty="0"/>
              <a:t>и </a:t>
            </a:r>
            <a:r>
              <a:rPr lang="ru-RU" b="1" dirty="0" err="1"/>
              <a:t>ntile</a:t>
            </a:r>
            <a:r>
              <a:rPr lang="ru-RU" b="1" dirty="0"/>
              <a:t>() </a:t>
            </a:r>
            <a:r>
              <a:rPr lang="ru-RU" dirty="0"/>
              <a:t>мы уже разобрали.</a:t>
            </a:r>
          </a:p>
          <a:p>
            <a:endParaRPr lang="ru-RU" dirty="0"/>
          </a:p>
          <a:p>
            <a:pPr algn="just"/>
            <a:r>
              <a:rPr lang="ru-RU" b="1" dirty="0" err="1"/>
              <a:t>row_number</a:t>
            </a:r>
            <a:r>
              <a:rPr lang="ru-RU" b="1" dirty="0"/>
              <a:t>() </a:t>
            </a:r>
            <a:r>
              <a:rPr lang="ru-RU" dirty="0"/>
              <a:t>нумерует строки в порядке, указанном в </a:t>
            </a:r>
            <a:r>
              <a:rPr lang="ru-RU" b="1" dirty="0" err="1"/>
              <a:t>order</a:t>
            </a:r>
            <a:r>
              <a:rPr lang="ru-RU" b="1" dirty="0"/>
              <a:t> </a:t>
            </a:r>
            <a:r>
              <a:rPr lang="ru-RU" b="1" dirty="0" err="1"/>
              <a:t>by</a:t>
            </a:r>
            <a:r>
              <a:rPr lang="ru-RU" dirty="0"/>
              <a:t>. Никаких неожиданностей.</a:t>
            </a:r>
          </a:p>
          <a:p>
            <a:endParaRPr lang="ru-RU" dirty="0"/>
          </a:p>
          <a:p>
            <a:r>
              <a:rPr lang="ru-RU" b="1" dirty="0" err="1"/>
              <a:t>rank</a:t>
            </a:r>
            <a:r>
              <a:rPr lang="ru-RU" b="1" dirty="0"/>
              <a:t>() </a:t>
            </a:r>
            <a:r>
              <a:rPr lang="ru-RU" dirty="0"/>
              <a:t>похож на </a:t>
            </a:r>
            <a:r>
              <a:rPr lang="ru-RU" b="1" dirty="0" err="1"/>
              <a:t>dense_rank</a:t>
            </a:r>
            <a:r>
              <a:rPr lang="ru-RU" b="1" dirty="0"/>
              <a:t>()</a:t>
            </a:r>
            <a:r>
              <a:rPr lang="ru-RU" dirty="0"/>
              <a:t>, a разницу проще всего показать на примере.</a:t>
            </a:r>
          </a:p>
        </p:txBody>
      </p:sp>
    </p:spTree>
    <p:extLst>
      <p:ext uri="{BB962C8B-B14F-4D97-AF65-F5344CB8AC3E}">
        <p14:creationId xmlns:p14="http://schemas.microsoft.com/office/powerpoint/2010/main" val="2070679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28" b="77212"/>
          <a:stretch/>
        </p:blipFill>
        <p:spPr bwMode="auto">
          <a:xfrm>
            <a:off x="1219591" y="283336"/>
            <a:ext cx="6545985" cy="1333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38709" r="1907" b="2999"/>
          <a:stretch/>
        </p:blipFill>
        <p:spPr bwMode="auto">
          <a:xfrm>
            <a:off x="1206854" y="3458531"/>
            <a:ext cx="6709951" cy="3238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1350" y="161658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одном случае вместо ••• укажем </a:t>
            </a:r>
            <a:r>
              <a:rPr lang="ru-RU" dirty="0" err="1"/>
              <a:t>dense_rank</a:t>
            </a:r>
            <a:r>
              <a:rPr lang="ru-RU" dirty="0"/>
              <a:t>(), а в другом — </a:t>
            </a:r>
            <a:r>
              <a:rPr lang="ru-RU" dirty="0" err="1"/>
              <a:t>rank</a:t>
            </a:r>
            <a:r>
              <a:rPr lang="ru-RU" dirty="0"/>
              <a:t>():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06" y="1994917"/>
            <a:ext cx="3395539" cy="1472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1350" y="1985914"/>
            <a:ext cx="447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 err="1"/>
              <a:t>ClickHouse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18467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36025"/>
              </p:ext>
            </p:extLst>
          </p:nvPr>
        </p:nvGraphicFramePr>
        <p:xfrm>
          <a:off x="1763688" y="1988840"/>
          <a:ext cx="5591944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655">
                <a:tc>
                  <a:txBody>
                    <a:bodyPr/>
                    <a:lstStyle/>
                    <a:p>
                      <a:r>
                        <a:rPr lang="en-US" b="1" dirty="0"/>
                        <a:t>row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department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salary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Иван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Леонид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Марина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Анна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Вероника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Григорий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Ксения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Елена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Борис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655">
                <a:tc>
                  <a:txBody>
                    <a:bodyPr/>
                    <a:lstStyle/>
                    <a:p>
                      <a:r>
                        <a:rPr lang="ru-RU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Дарья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7413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2" t="39692" r="55979" b="47808"/>
          <a:stretch/>
        </p:blipFill>
        <p:spPr bwMode="auto">
          <a:xfrm>
            <a:off x="1475656" y="640393"/>
            <a:ext cx="65000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520" y="18211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запроса в </a:t>
            </a:r>
            <a:r>
              <a:rPr lang="en-US" dirty="0" err="1"/>
              <a:t>ClickHouse</a:t>
            </a:r>
            <a:r>
              <a:rPr lang="ru-RU" dirty="0"/>
              <a:t> для </a:t>
            </a:r>
            <a:r>
              <a:rPr lang="en-US" dirty="0" err="1"/>
              <a:t>row_number</a:t>
            </a:r>
            <a:r>
              <a:rPr lang="en-US" dirty="0"/>
              <a:t>():</a:t>
            </a:r>
          </a:p>
        </p:txBody>
      </p:sp>
    </p:spTree>
    <p:extLst>
      <p:ext uri="{BB962C8B-B14F-4D97-AF65-F5344CB8AC3E}">
        <p14:creationId xmlns:p14="http://schemas.microsoft.com/office/powerpoint/2010/main" val="21197041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1182</Words>
  <Application>Microsoft Office PowerPoint</Application>
  <PresentationFormat>Экран (4:3)</PresentationFormat>
  <Paragraphs>149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Тема Office</vt:lpstr>
      <vt:lpstr>Базы данных и возможности оконных функций</vt:lpstr>
      <vt:lpstr>Ранжирование</vt:lpstr>
      <vt:lpstr>Оконная функция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Группы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</dc:creator>
  <cp:lastModifiedBy>teacher</cp:lastModifiedBy>
  <cp:revision>87</cp:revision>
  <dcterms:created xsi:type="dcterms:W3CDTF">2023-09-16T07:51:29Z</dcterms:created>
  <dcterms:modified xsi:type="dcterms:W3CDTF">2026-09-16T12:43:32Z</dcterms:modified>
</cp:coreProperties>
</file>