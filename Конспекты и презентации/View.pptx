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80" r:id="rId3"/>
    <p:sldId id="282" r:id="rId4"/>
    <p:sldId id="279" r:id="rId5"/>
    <p:sldId id="283" r:id="rId6"/>
    <p:sldId id="281" r:id="rId7"/>
    <p:sldId id="285" r:id="rId8"/>
    <p:sldId id="286" r:id="rId9"/>
    <p:sldId id="288" r:id="rId10"/>
    <p:sldId id="287" r:id="rId11"/>
    <p:sldId id="289" r:id="rId12"/>
    <p:sldId id="290" r:id="rId13"/>
    <p:sldId id="291" r:id="rId14"/>
    <p:sldId id="292" r:id="rId15"/>
    <p:sldId id="293" r:id="rId16"/>
    <p:sldId id="297" r:id="rId17"/>
    <p:sldId id="298" r:id="rId18"/>
    <p:sldId id="300" r:id="rId19"/>
    <p:sldId id="301" r:id="rId20"/>
    <p:sldId id="302" r:id="rId21"/>
    <p:sldId id="294" r:id="rId22"/>
    <p:sldId id="295" r:id="rId23"/>
    <p:sldId id="296" r:id="rId24"/>
    <p:sldId id="303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58564" autoAdjust="0"/>
  </p:normalViewPr>
  <p:slideViewPr>
    <p:cSldViewPr snapToGrid="0">
      <p:cViewPr varScale="1">
        <p:scale>
          <a:sx n="67" d="100"/>
          <a:sy n="67" d="100"/>
        </p:scale>
        <p:origin x="22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E779F-A925-4EA6-82CD-62ED314793D6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64945F-4A47-4F9F-B618-AEAA4F365E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118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Представление — это виртуальная таблица, содержимое которой определяется запросом. Как и таблица, представление состоит из ряда именованных столбцов и строк данных. Пока представление не будет проиндексировано, оно не существует в базе данных как хранимая совокупность значений. Строки и столбцы данных извлекаются из таблиц, указанных в определяющем представление запросе и динамически создаваемых при обращениях к представлению.</a:t>
            </a:r>
          </a:p>
          <a:p>
            <a:r>
              <a:rPr lang="ru-RU" dirty="0"/>
              <a:t>Представление выполняет функцию фильтра базовых таблиц, на которые оно ссылается. Определяющий представление запрос может быть инициирован в одной или нескольких таблицах или в других представлениях текущей или других баз данных. Кроме того, для определения представлений с данными из нескольких разнородных источников можно использовать распределенные запросы. Это полезно, например, если нужно объединить структурированные подобным образом данные, относящиеся к разным серверам, каждый из которых хранит данные конкретного отдела организации.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11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Представления обычно используются для направления, упрощения и настройки восприятия каждым пользователем информации базы данных. Представления могут использоваться как механизмы безопасности, давая возможность пользователям обращаться к данным через представления, но не предоставляя им разрешений на непосредственный доступ к базовым таблицам, лежащим в основе представлений. Представления могут использоваться для обеспечения интерфейса обратной совместимости, моделирующего таблицу, которая существует, но схема которой изменилась. Представления могут также использоваться при прямом и обратном копировании данных в SQL </a:t>
            </a:r>
            <a:r>
              <a:rPr lang="ru-RU" dirty="0" err="1"/>
              <a:t>Server</a:t>
            </a:r>
            <a:r>
              <a:rPr lang="ru-RU" dirty="0"/>
              <a:t> для повышения производительности и секционирования данных.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118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Индексированные представления</a:t>
            </a:r>
            <a:br>
              <a:rPr lang="ru-RU" dirty="0"/>
            </a:br>
            <a:r>
              <a:rPr lang="ru-RU" dirty="0"/>
              <a:t>Индексированным называется материализованное представление. Это означает, что определение представления вычисляется, а результирующие данные хранятся точно так же, как и таблица. Индексировать представление можно, создав для него уникальный </a:t>
            </a:r>
            <a:r>
              <a:rPr lang="ru-RU" dirty="0" err="1"/>
              <a:t>кластеризованный</a:t>
            </a:r>
            <a:r>
              <a:rPr lang="ru-RU" dirty="0"/>
              <a:t> индекс. Индексированные представления могут существенно повысить производительность некоторых типов запросов. Индексированные представления эффективнее всего использовать в запросах, группирующих множество строк. Они не очень хорошо подходят для часто обновляющихся базовых наборов данных.</a:t>
            </a:r>
          </a:p>
          <a:p>
            <a:endParaRPr lang="ru-RU" dirty="0"/>
          </a:p>
          <a:p>
            <a:r>
              <a:rPr lang="ru-RU" dirty="0"/>
              <a:t>Секционированные представления</a:t>
            </a:r>
            <a:br>
              <a:rPr lang="ru-RU" dirty="0"/>
            </a:br>
            <a:r>
              <a:rPr lang="ru-RU" dirty="0"/>
              <a:t>Секционированным называется представление, соединяющее горизонтально секционированные данные набора таблиц-элементов, находящихся на одном или нескольких серверах. При этом данные выглядят так, как будто находятся в одной таблице. Представление, соединяющее таблицы-элементы одного экземпляра SQL </a:t>
            </a:r>
            <a:r>
              <a:rPr lang="ru-RU" dirty="0" err="1"/>
              <a:t>Server</a:t>
            </a:r>
            <a:r>
              <a:rPr lang="ru-RU" dirty="0"/>
              <a:t> , называется локальным секционированным представлением.</a:t>
            </a:r>
          </a:p>
          <a:p>
            <a:endParaRPr lang="ru-RU" dirty="0"/>
          </a:p>
          <a:p>
            <a:r>
              <a:rPr lang="ru-RU" dirty="0"/>
              <a:t>Системные представления</a:t>
            </a:r>
            <a:br>
              <a:rPr lang="ru-RU" dirty="0"/>
            </a:br>
            <a:r>
              <a:rPr lang="ru-RU" dirty="0"/>
              <a:t>Системные представления предоставляют доступ к метаданным каталога. Системные представления можно использовать для получения сведений об экземпляре SQL </a:t>
            </a:r>
            <a:r>
              <a:rPr lang="ru-RU" dirty="0" err="1"/>
              <a:t>Server</a:t>
            </a:r>
            <a:r>
              <a:rPr lang="ru-RU" dirty="0"/>
              <a:t> или объектах, определенных в экземпляре. Например, получить сведения об определяемых пользователем базах данных, доступных в экземпляре, можно через представление каталога </a:t>
            </a:r>
            <a:r>
              <a:rPr lang="ru-RU" dirty="0" err="1"/>
              <a:t>sys.databases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31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Очевидно, что не все представления являются такими и на самом деле большая часть является </a:t>
            </a:r>
            <a:r>
              <a:rPr lang="ru-RU" dirty="0" err="1"/>
              <a:t>немодифицируемыми</a:t>
            </a:r>
            <a:r>
              <a:rPr lang="ru-RU" dirty="0"/>
              <a:t>. По причине неоднозначности: например в представлении хранятся данные из двух таблиц. Пользователь удаляет одну строку в представлении, и тут возникает вопрос — удалять ли исходные данные в таблицах, а если и удалять, то сразу из двух или только одной… В этом и состоит неоднозначность.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328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Поэтому выделили специальные критерии по которым можно определенно сказать — является ли представление SQL модифицируемым. Эти критерии представлены на слайде.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875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Поэтому выделили специальные критерии по которым можно определенно сказать — является ли представление SQL модифицируемым. Эти критерии представлены на слайде.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292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066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503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создании представлений следует учитывать, что представления, как и таблицы, должны иметь уникальные имена в рамках той же базы данных.</a:t>
            </a:r>
          </a:p>
          <a:p>
            <a:r>
              <a:rPr lang="ru-RU" dirty="0"/>
              <a:t>Представления могут иметь не более 1024 столбцов и могут обращать не более чем к 256 таблицам.</a:t>
            </a:r>
          </a:p>
          <a:p>
            <a:r>
              <a:rPr lang="ru-RU" dirty="0"/>
              <a:t>Также можно создавать представления на основе других представлений. Такие представления еще называют вложенными (</a:t>
            </a:r>
            <a:r>
              <a:rPr lang="ru-RU" dirty="0" err="1"/>
              <a:t>nested</a:t>
            </a:r>
            <a:r>
              <a:rPr lang="ru-RU" dirty="0"/>
              <a:t> </a:t>
            </a:r>
            <a:r>
              <a:rPr lang="ru-RU" dirty="0" err="1"/>
              <a:t>views</a:t>
            </a:r>
            <a:r>
              <a:rPr lang="ru-RU" dirty="0"/>
              <a:t>). Однако уровень вложенности не может быть </a:t>
            </a:r>
            <a:r>
              <a:rPr lang="ru-RU" dirty="0" err="1"/>
              <a:t>больще</a:t>
            </a:r>
            <a:r>
              <a:rPr lang="ru-RU" dirty="0"/>
              <a:t> 32-х.</a:t>
            </a:r>
          </a:p>
          <a:p>
            <a:r>
              <a:rPr lang="ru-RU" dirty="0"/>
              <a:t>Команда SELECT, используемая в представлении, не может включать выражения INTO или ORDER BY (за исключением тех случаев, когда также применяется выражение TOP или OFFSET). Если же необходима сортировка данных в представлении, то выражение ORDER BY применяется в команде SELECT, которая извлекает данные из представления.</a:t>
            </a:r>
          </a:p>
          <a:p>
            <a:r>
              <a:rPr lang="ru-RU" dirty="0"/>
              <a:t>Также при создании представления можно определить набор его столбцов:</a:t>
            </a:r>
          </a:p>
          <a:p>
            <a:endParaRPr lang="ru-RU" dirty="0"/>
          </a:p>
          <a:p>
            <a:r>
              <a:rPr lang="en-US" dirty="0"/>
              <a:t>CREATE VIEW OrdersProductsCustomers2 (</a:t>
            </a:r>
            <a:r>
              <a:rPr lang="en-US" dirty="0" err="1"/>
              <a:t>OrderDate</a:t>
            </a:r>
            <a:r>
              <a:rPr lang="en-US" dirty="0"/>
              <a:t>, </a:t>
            </a:r>
            <a:r>
              <a:rPr lang="en-US" dirty="0" err="1"/>
              <a:t>Customer,Product</a:t>
            </a:r>
            <a:r>
              <a:rPr lang="en-US" dirty="0"/>
              <a:t>)</a:t>
            </a:r>
          </a:p>
          <a:p>
            <a:r>
              <a:rPr lang="en-US" dirty="0"/>
              <a:t>AS SELECT </a:t>
            </a:r>
            <a:r>
              <a:rPr lang="en-US" dirty="0" err="1"/>
              <a:t>Orders.CreatedAt</a:t>
            </a:r>
            <a:r>
              <a:rPr lang="en-US" dirty="0"/>
              <a:t>,</a:t>
            </a:r>
          </a:p>
          <a:p>
            <a:r>
              <a:rPr lang="en-US" dirty="0"/>
              <a:t>        </a:t>
            </a:r>
            <a:r>
              <a:rPr lang="en-US" dirty="0" err="1"/>
              <a:t>Customers.FirstName</a:t>
            </a:r>
            <a:r>
              <a:rPr lang="en-US" dirty="0"/>
              <a:t>,</a:t>
            </a:r>
          </a:p>
          <a:p>
            <a:r>
              <a:rPr lang="en-US" dirty="0"/>
              <a:t>        </a:t>
            </a:r>
            <a:r>
              <a:rPr lang="en-US" dirty="0" err="1"/>
              <a:t>Products.ProductName</a:t>
            </a:r>
            <a:endParaRPr lang="en-US" dirty="0"/>
          </a:p>
          <a:p>
            <a:r>
              <a:rPr lang="en-US" dirty="0"/>
              <a:t>FROM Orders INNER JOIN Products ON </a:t>
            </a:r>
            <a:r>
              <a:rPr lang="en-US" dirty="0" err="1"/>
              <a:t>Orders.ProductId</a:t>
            </a:r>
            <a:r>
              <a:rPr lang="en-US" dirty="0"/>
              <a:t> = </a:t>
            </a:r>
            <a:r>
              <a:rPr lang="en-US" dirty="0" err="1"/>
              <a:t>Products.Id</a:t>
            </a:r>
            <a:endParaRPr lang="en-US" dirty="0"/>
          </a:p>
          <a:p>
            <a:r>
              <a:rPr lang="en-US" dirty="0"/>
              <a:t>INNER JOIN Customers ON </a:t>
            </a:r>
            <a:r>
              <a:rPr lang="en-US" dirty="0" err="1"/>
              <a:t>Orders.CustomerId</a:t>
            </a:r>
            <a:r>
              <a:rPr lang="en-US" dirty="0"/>
              <a:t> = </a:t>
            </a:r>
            <a:r>
              <a:rPr lang="en-US" dirty="0" err="1"/>
              <a:t>Customers.Id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317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То есть данное представление фактически будет возвращать сводные данные из трех таблиц. И после его создания мы сможем его увидеть в узле </a:t>
            </a:r>
            <a:r>
              <a:rPr lang="ru-RU" dirty="0" err="1"/>
              <a:t>Views</a:t>
            </a:r>
            <a:r>
              <a:rPr lang="ru-RU" dirty="0"/>
              <a:t> у выбранной базы данных в SQL </a:t>
            </a:r>
            <a:r>
              <a:rPr lang="ru-RU" dirty="0" err="1"/>
              <a:t>Server</a:t>
            </a:r>
            <a:r>
              <a:rPr lang="ru-RU" dirty="0"/>
              <a:t> </a:t>
            </a:r>
            <a:r>
              <a:rPr lang="ru-RU" dirty="0" err="1"/>
              <a:t>Management</a:t>
            </a:r>
            <a:r>
              <a:rPr lang="ru-RU" dirty="0"/>
              <a:t> </a:t>
            </a:r>
            <a:r>
              <a:rPr lang="ru-RU" dirty="0" err="1"/>
              <a:t>Studio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841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используем созданное выше представление для получения данных.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745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3185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409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0544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9818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133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7961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0160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4692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4383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648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4945F-4A47-4F9F-B618-AEAA4F365EEE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691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56880D-0D8C-4A7B-9FC2-510DB3299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84B33F-C38F-4F79-8013-5E1B71420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800D74-E15A-4891-B7D8-D4AC56A6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D403-D366-48A4-9DE1-74292A1CF339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1EFC9D-62AF-45DF-98D5-DA08356D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D76EAE-38CA-45CD-923E-0FEDDD94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03E94-7F65-4F5E-90DA-12C7E66F5F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83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6FB23-4DD3-41CB-AAB4-026BDE3C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1CF27C-C131-4DF5-AAB9-1FB36AF35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9E8453-6B7E-4018-879C-A60062A4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D403-D366-48A4-9DE1-74292A1CF339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74AA43-BFCC-4A31-BEE1-F8A16724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F8BCB8-4FCD-4C25-8609-F1AFFF0F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03E94-7F65-4F5E-90DA-12C7E66F5F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35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DA565-31AC-405D-820E-C91FF39FB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60964A-29C7-481C-BDF4-CEAF3DB01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9F559A-6334-4077-8E67-C71F8E3AB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D403-D366-48A4-9DE1-74292A1CF339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33F56D-6910-4649-94EA-36F03731B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82101E-6B96-4C69-81B0-37FA422F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03E94-7F65-4F5E-90DA-12C7E66F5F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550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6219CC-2D3E-42B2-8371-BA3CF963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CFAF40-2A67-4B1C-BAA0-D9A343FF3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72CF94-3ECE-4A15-9059-4EFF8B093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B4E2C0-C171-4EA0-813A-FEF319DD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D403-D366-48A4-9DE1-74292A1CF339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89B75E-C439-4380-A7CF-24A81DBA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231BED-D28D-4C88-BD9D-CD21D0AB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03E94-7F65-4F5E-90DA-12C7E66F5F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86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06124-C071-46F5-BCA6-F53BB706D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A3B7EF-6FCB-4B91-85D9-ED5D8D19D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962796-33F5-46EA-B87B-27F73DCD0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50A173-EB35-46C3-9620-563E58D1F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415CB1-16C0-447D-AAFC-5D333C48C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42BB866-BD65-466B-ADCC-E29CF1B69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D403-D366-48A4-9DE1-74292A1CF339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730778-6B49-4476-94F7-363E9FF7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20B320-0D53-44BF-B4D0-2A33EF8EC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03E94-7F65-4F5E-90DA-12C7E66F5F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49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2340EA-643E-41B2-89EA-53F7789B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54C500-9DE4-4CE1-9344-634EB42A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D403-D366-48A4-9DE1-74292A1CF339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E84765-F7C0-4108-8D17-0D56FA36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392537-B86D-479A-AF8F-0870711A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03E94-7F65-4F5E-90DA-12C7E66F5F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471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5918368-0A77-496A-B24E-4B9F87FE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D403-D366-48A4-9DE1-74292A1CF339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23C139D-3BC1-4399-8B9F-CE3344F6C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6D3C90-8876-4318-B57A-9D947EE68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03E94-7F65-4F5E-90DA-12C7E66F5F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434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67FBC-AB24-494C-8FAB-EB009D855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082B41-C145-47A5-AD74-9381B0991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BC5D0D-B055-403E-B6D5-642248149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C014D6-06E1-4D46-AE62-E9E8EB58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D403-D366-48A4-9DE1-74292A1CF339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BD3497-3755-4920-9F8E-46784C74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B5CD37-9CE1-4753-A3A3-71A6801E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03E94-7F65-4F5E-90DA-12C7E66F5F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13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3F5B9-C92F-413D-A58A-AB6679F52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F62B508-CDB4-48B5-A983-FCA627175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65C11B-2312-40CF-8F85-46C187281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9A53E-41DA-4EC0-8DE7-4AE219BD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D403-D366-48A4-9DE1-74292A1CF339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DB5D36-7410-456A-B27E-838115F8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FC3F8F-0B3D-4445-B2EE-1456C4D9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03E94-7F65-4F5E-90DA-12C7E66F5F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225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BAEB6-3E82-4960-ABF1-88FFCF3C8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5F25A4-19BD-4FB1-A7DE-6EE14E73D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7543BC-4A69-46B8-B5E0-CCA5B192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D403-D366-48A4-9DE1-74292A1CF339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54EF7B-FE95-4653-95B1-ED9A965D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B869CF-3A78-42A3-A322-1E1FB739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03E94-7F65-4F5E-90DA-12C7E66F5F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08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2B18596-5432-4ACA-B620-925F777BB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4BC0A6-1CB8-4B1B-84A3-300B29B49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E67FC6-1A89-4737-B707-344B73896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D403-D366-48A4-9DE1-74292A1CF339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BDAECD-16C6-42B7-94AE-FABAE8E5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BD9215-2AD0-4958-A00C-2812730A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03E94-7F65-4F5E-90DA-12C7E66F5F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74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0D9F9-37CA-4E02-8B41-9A3D9CBE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303CFA-AEF3-44FC-BAFA-7B87E0426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C4E889-901A-4E26-951A-F4BD66674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1D403-D366-48A4-9DE1-74292A1CF339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08E4FC-F207-43EA-A2A0-10CD998CE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3B5452-DF78-45E3-B07C-B17973B2C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03E94-7F65-4F5E-90DA-12C7E66F5F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36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C39A71-3BFC-4FED-804C-D38787592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11658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7</a:t>
            </a: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0A44E56-617C-4019-B535-A5CAEFD20644}"/>
              </a:ext>
            </a:extLst>
          </p:cNvPr>
          <p:cNvSpPr txBox="1">
            <a:spLocks/>
          </p:cNvSpPr>
          <p:nvPr/>
        </p:nvSpPr>
        <p:spPr>
          <a:xfrm>
            <a:off x="1524000" y="2846069"/>
            <a:ext cx="9144000" cy="11658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/>
              <a:t>Представления (</a:t>
            </a:r>
            <a:r>
              <a:rPr lang="en-US" sz="4800" b="1" dirty="0"/>
              <a:t>VIEW</a:t>
            </a:r>
            <a:r>
              <a:rPr lang="ru-RU" sz="4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44936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31292-D578-4D09-91E1-880BBF0F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dirty="0"/>
              <a:t>Представления или </a:t>
            </a:r>
            <a:r>
              <a:rPr lang="ru-RU" sz="5400" b="1" dirty="0" err="1"/>
              <a:t>Views</a:t>
            </a:r>
            <a:endParaRPr lang="ru-RU" sz="5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AB40FF-F781-4F7A-8B60-140B42CE1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15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200" dirty="0"/>
              <a:t>Представляют собой виртуальные таблицы. Но в отличии от обычных стандартных таблиц в базе данных представления содержат запросы, которые динамически извлекают используемые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279092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E48B2-8459-4578-A657-C5EAAADD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dirty="0"/>
              <a:t>Преимущества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402AC3-4B1F-47E3-90DA-EC8520612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4200" dirty="0"/>
              <a:t>Представления дают нам ряд преимуществ. Они упрощают комплексные SQL-операции. Они защищают данные, так как представления могут дать доступ к части таблицы, а не ко всей таблице. Представления также позволяют возвращать отформатированные значения из таблиц в нужной и удобной форме.</a:t>
            </a:r>
          </a:p>
        </p:txBody>
      </p:sp>
    </p:spTree>
    <p:extLst>
      <p:ext uri="{BB962C8B-B14F-4D97-AF65-F5344CB8AC3E}">
        <p14:creationId xmlns:p14="http://schemas.microsoft.com/office/powerpoint/2010/main" val="2481559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31292-D578-4D09-91E1-880BBF0F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dirty="0"/>
              <a:t>Типы представлений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AB40FF-F781-4F7A-8B60-140B42CE1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3800" dirty="0"/>
              <a:t>Кроме основных определяемых пользователем представлений, выполняющих стандартные роли, в SQL </a:t>
            </a:r>
            <a:r>
              <a:rPr lang="ru-RU" sz="3800" dirty="0" err="1"/>
              <a:t>Server</a:t>
            </a:r>
            <a:r>
              <a:rPr lang="ru-RU" sz="3800" dirty="0"/>
              <a:t> предусмотрены следующие типы представлений, которые соответствуют специальным назначениям в базе данных.</a:t>
            </a:r>
          </a:p>
          <a:p>
            <a:r>
              <a:rPr lang="ru-RU" sz="3800" dirty="0"/>
              <a:t>Индексированные представления</a:t>
            </a:r>
          </a:p>
          <a:p>
            <a:r>
              <a:rPr lang="ru-RU" sz="3800" dirty="0"/>
              <a:t>Секционированные представления</a:t>
            </a:r>
          </a:p>
          <a:p>
            <a:r>
              <a:rPr lang="ru-RU" sz="3800" dirty="0"/>
              <a:t>Системные представления</a:t>
            </a:r>
          </a:p>
        </p:txBody>
      </p:sp>
    </p:spTree>
    <p:extLst>
      <p:ext uri="{BB962C8B-B14F-4D97-AF65-F5344CB8AC3E}">
        <p14:creationId xmlns:p14="http://schemas.microsoft.com/office/powerpoint/2010/main" val="208688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CF7DA-73FB-4599-A8D8-6F6AA95C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dirty="0"/>
              <a:t>Модифицируемое представление</a:t>
            </a:r>
            <a:endParaRPr lang="ru-RU" sz="5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A8DF8F-1D2A-41E9-B9E1-8F2EB7FAE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4000" dirty="0"/>
              <a:t>В SQL есть такое понятие как модифицируемое представление — это означает, что при изменении данных в самом представлении, эти данные изменятся и в таблицах, которые эти данные хранят. То есть при использовании оператора UPDATE/INSERT/DELETE к представлению, данные обновятся и в таблицах.</a:t>
            </a:r>
          </a:p>
        </p:txBody>
      </p:sp>
    </p:spTree>
    <p:extLst>
      <p:ext uri="{BB962C8B-B14F-4D97-AF65-F5344CB8AC3E}">
        <p14:creationId xmlns:p14="http://schemas.microsoft.com/office/powerpoint/2010/main" val="116763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31292-D578-4D09-91E1-880BBF0F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dirty="0"/>
              <a:t>Критерии (1)</a:t>
            </a:r>
            <a:endParaRPr lang="ru-RU" sz="5000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104D5C3-E86A-4AAD-8E06-140B3B89C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по которые определяют, является ли представление модифицируемым:</a:t>
            </a:r>
          </a:p>
          <a:p>
            <a:r>
              <a:rPr lang="ru-RU" dirty="0"/>
              <a:t>Оно должно выводиться в одну и только в одну базовую таблицу. </a:t>
            </a:r>
          </a:p>
          <a:p>
            <a:r>
              <a:rPr lang="ru-RU" dirty="0"/>
              <a:t>Оно должно содержать первичный ключ этой таблицы ( это технически не предписывается стандартом ANSI, но было бы неплохо придерживаться этого). </a:t>
            </a:r>
          </a:p>
          <a:p>
            <a:r>
              <a:rPr lang="ru-RU" dirty="0"/>
              <a:t>Оно не должно иметь никаких полей, которые бы являлись агрегатными функциями. </a:t>
            </a:r>
          </a:p>
          <a:p>
            <a:r>
              <a:rPr lang="ru-RU" dirty="0"/>
              <a:t>Оно не должно содержать DISTINCT в своем определении.</a:t>
            </a:r>
          </a:p>
          <a:p>
            <a:r>
              <a:rPr lang="ru-RU" dirty="0"/>
              <a:t>Оно не должно использовать GROUP BY или HAVING в своем определении. </a:t>
            </a:r>
            <a:br>
              <a:rPr lang="ru-RU" sz="1100" dirty="0"/>
            </a:b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15637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31292-D578-4D09-91E1-880BBF0F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dirty="0"/>
              <a:t>Критерии (2)</a:t>
            </a:r>
            <a:endParaRPr lang="ru-RU" sz="5000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104D5C3-E86A-4AAD-8E06-140B3B89C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r>
              <a:rPr lang="ru-RU" dirty="0"/>
              <a:t>Оно не должно использовать подзапросы ( это - </a:t>
            </a:r>
            <a:r>
              <a:rPr lang="ru-RU" dirty="0" err="1"/>
              <a:t>ANSI_ограничение</a:t>
            </a:r>
            <a:r>
              <a:rPr lang="ru-RU" dirty="0"/>
              <a:t> которое не предписано для некоторых реализаций ) </a:t>
            </a:r>
          </a:p>
          <a:p>
            <a:r>
              <a:rPr lang="ru-RU" dirty="0"/>
              <a:t>Оно может быть использовано в другом представлении, но это представление должно также быть модифицируемыми. </a:t>
            </a:r>
          </a:p>
          <a:p>
            <a:r>
              <a:rPr lang="ru-RU" dirty="0"/>
              <a:t>Оно не должно использовать константы, строки, или выражения значений ( например: </a:t>
            </a:r>
            <a:r>
              <a:rPr lang="ru-RU" dirty="0" err="1"/>
              <a:t>comm</a:t>
            </a:r>
            <a:r>
              <a:rPr lang="ru-RU" dirty="0"/>
              <a:t> * 100 ) среди выбранных полей вывода. </a:t>
            </a:r>
          </a:p>
          <a:p>
            <a:r>
              <a:rPr lang="ru-RU" dirty="0"/>
              <a:t>Для INSERT, оно должно содержать любые пол основной таблицы которые имеют ограничение NOT NULL, если другое ограничение по умолчанию, не определено.</a:t>
            </a:r>
            <a:br>
              <a:rPr lang="ru-RU" sz="2400" dirty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05426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E48B2-8459-4578-A657-C5EAAADD8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12315"/>
          </a:xfrm>
        </p:spPr>
        <p:txBody>
          <a:bodyPr>
            <a:normAutofit/>
          </a:bodyPr>
          <a:lstStyle/>
          <a:p>
            <a:r>
              <a:rPr lang="ru-RU" sz="4200" dirty="0"/>
              <a:t>Например, пусть у нас есть три связанных таблицы:</a:t>
            </a:r>
            <a:endParaRPr lang="ru-RU" sz="4200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214F316-E004-489E-8EC4-A8FCAB116C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70090"/>
            <a:ext cx="5407442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TABLE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Products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IDENTITY PRIMARY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KEY,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ProductName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NVARCHAR(30) NOT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NULL,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Manufacturer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NVARCHAR(20) NOT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NULL,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ProductCount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DEFAULT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0,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MONEY NOT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224EBA5-B5D9-41BF-AAE3-04FF5A161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562" y="2381857"/>
            <a:ext cx="4952190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TABLE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Customers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IDENTITY PRIMARY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KEY,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FirstName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NVARCHAR(30) NOT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45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CCBAB86-1BC4-480A-9F1F-E4F081B21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" y="1170872"/>
            <a:ext cx="1011527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TABLE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Id INT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IDENTITY PRIMARY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KEY,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ProductId INT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REFERENCES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Products(Id) ON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DELETE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CASCADE,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CustomerId INT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REFERENCES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Customers(Id) ON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DELETE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CASCADE,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CreatedAt DATE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NULL,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ProductCount INT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DEFAULT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1,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Price MONEY NOT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endParaRPr kumimoji="0" lang="ru-RU" altLang="ru-RU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524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E48B2-8459-4578-A657-C5EAAADD8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12315"/>
          </a:xfrm>
        </p:spPr>
        <p:txBody>
          <a:bodyPr>
            <a:normAutofit fontScale="90000"/>
          </a:bodyPr>
          <a:lstStyle/>
          <a:p>
            <a:r>
              <a:rPr lang="ru-RU" sz="5400" dirty="0"/>
              <a:t>Для </a:t>
            </a:r>
            <a:r>
              <a:rPr lang="ru-RU" sz="5400" b="1" dirty="0"/>
              <a:t>создания представления </a:t>
            </a:r>
            <a:r>
              <a:rPr lang="ru-RU" sz="5400" dirty="0"/>
              <a:t>используется команда </a:t>
            </a:r>
            <a:r>
              <a:rPr lang="ru-RU" sz="5400" b="1" dirty="0"/>
              <a:t>CREATE VIEW</a:t>
            </a:r>
            <a:r>
              <a:rPr lang="ru-RU" sz="5400" dirty="0"/>
              <a:t>, которая имеет следующую форму:</a:t>
            </a:r>
            <a:endParaRPr lang="ru-RU" sz="5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584ECB-A89A-4D6B-8A3D-01E8D92674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64167"/>
            <a:ext cx="1017721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VIEW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название_представления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[(столбец_1, столбец_2, ....)]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выражение_SELECT</a:t>
            </a: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307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E48B2-8459-4578-A657-C5EAAADD8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12315"/>
          </a:xfrm>
        </p:spPr>
        <p:txBody>
          <a:bodyPr>
            <a:normAutofit fontScale="90000"/>
          </a:bodyPr>
          <a:lstStyle/>
          <a:p>
            <a:r>
              <a:rPr lang="ru-RU" sz="5400" dirty="0"/>
              <a:t>Теперь добавим в базу данных, в которой содержатся данные таблицы, следующее представление:</a:t>
            </a:r>
            <a:endParaRPr lang="ru-RU" sz="54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329E20E-C0F7-47A1-9BFD-0026AAF70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" y="3021311"/>
            <a:ext cx="7661072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VIEW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OrdersProductsCustomers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AS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Orders.CreatedAt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OrderDate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   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Customers.FirstName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   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Products.ProductName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 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INNER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JOIN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Orders.ProductId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Products.Id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INNER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JOIN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Orders.CustomerId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Customers.Id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8BC7CB-4338-4FD6-8AFB-93C6194FB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852" y="2260245"/>
            <a:ext cx="3662958" cy="4440632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3D857D1-6391-4F80-813B-607082D1054C}"/>
              </a:ext>
            </a:extLst>
          </p:cNvPr>
          <p:cNvSpPr/>
          <p:nvPr/>
        </p:nvSpPr>
        <p:spPr>
          <a:xfrm>
            <a:off x="8686800" y="4777740"/>
            <a:ext cx="2979420" cy="777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271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4EDCB367-39B1-4751-B132-B41BB134C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66298"/>
            <a:ext cx="53062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 FROM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OrdersProductsCustomers</a:t>
            </a:r>
            <a:endPara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2E81BB4-4AD5-4418-8A0B-E671245B6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464" y="2353627"/>
            <a:ext cx="5369071" cy="336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68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8FE627-20E1-4EBB-A40E-1773A1C3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dirty="0"/>
              <a:t>Изменение представления</a:t>
            </a:r>
            <a:endParaRPr lang="ru-RU" sz="54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B34016-0AE7-4BC4-B653-2659B94739D6}"/>
              </a:ext>
            </a:extLst>
          </p:cNvPr>
          <p:cNvSpPr/>
          <p:nvPr/>
        </p:nvSpPr>
        <p:spPr>
          <a:xfrm>
            <a:off x="838200" y="1690688"/>
            <a:ext cx="105156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Для изменения представления используется команда </a:t>
            </a:r>
            <a:r>
              <a:rPr lang="ru-RU" sz="3200" b="1" dirty="0"/>
              <a:t>ALTER VIEW</a:t>
            </a:r>
            <a:r>
              <a:rPr lang="ru-RU" sz="3200" dirty="0"/>
              <a:t>. Эта команда имеет практически тот же самый синтаксис, то и CREATE VIEW:</a:t>
            </a:r>
          </a:p>
          <a:p>
            <a:endParaRPr lang="ru-RU" sz="32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0FC2283-5337-4076-B2AF-EA29DD1B8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91236"/>
            <a:ext cx="992072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ALTER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VIEW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название_представления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[(столбец_1, столбец_2, ....)]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выражение_SELECT</a:t>
            </a: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282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8FE627-20E1-4EBB-A40E-1773A1C3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Например, изменим выше созданное представление </a:t>
            </a:r>
            <a:r>
              <a:rPr lang="ru-RU" dirty="0" err="1"/>
              <a:t>OrdersProductsCustomers</a:t>
            </a:r>
            <a:r>
              <a:rPr lang="ru-RU" dirty="0"/>
              <a:t>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A424A9-1962-4A4D-8F09-29D1B07ED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32587"/>
            <a:ext cx="879760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ALTER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VIEW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OrdersProductsCustomers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Orders.CreatedAt AS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OrderDate, 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    Customers.FirstName AS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Customer,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    Products.ProductName AS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Product,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       Products.Manufacturer AS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Manufacturer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 INNER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JOIN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Products ON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Orders.ProductId = Products.Id</a:t>
            </a:r>
            <a:endParaRPr kumimoji="0" lang="ru-RU" altLang="ru-R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INNER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JOIN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Customers ON</a:t>
            </a:r>
            <a:r>
              <a:rPr kumimoji="0" lang="ru-RU" altLang="ru-RU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Orders.CustomerId = Customers.Id</a:t>
            </a:r>
            <a:endParaRPr kumimoji="0" lang="ru-RU" altLang="ru-RU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005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8FE627-20E1-4EBB-A40E-1773A1C3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dirty="0"/>
              <a:t>Удаление представления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B34016-0AE7-4BC4-B653-2659B94739D6}"/>
              </a:ext>
            </a:extLst>
          </p:cNvPr>
          <p:cNvSpPr/>
          <p:nvPr/>
        </p:nvSpPr>
        <p:spPr>
          <a:xfrm>
            <a:off x="838200" y="1690688"/>
            <a:ext cx="10515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Для удаления представления вызывается команда</a:t>
            </a:r>
            <a:br>
              <a:rPr lang="ru-RU" sz="3200" dirty="0"/>
            </a:br>
            <a:r>
              <a:rPr lang="ru-RU" sz="3200" b="1" dirty="0"/>
              <a:t>DROP VIEW</a:t>
            </a:r>
            <a:r>
              <a:rPr lang="ru-RU" sz="3200" dirty="0"/>
              <a:t>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50AF1A-F113-4B20-A9EE-3FD37275C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311397"/>
            <a:ext cx="569098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DROP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VIEW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OrdersProductsCustomers</a:t>
            </a: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3466D6-31D5-4B21-8175-AF403C6BC342}"/>
              </a:ext>
            </a:extLst>
          </p:cNvPr>
          <p:cNvSpPr/>
          <p:nvPr/>
        </p:nvSpPr>
        <p:spPr>
          <a:xfrm>
            <a:off x="838200" y="4439663"/>
            <a:ext cx="10515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Также стоит отметить, что при удалении таблиц также следует удалить и представления, которые используют эти таблицы.</a:t>
            </a:r>
          </a:p>
        </p:txBody>
      </p:sp>
    </p:spTree>
    <p:extLst>
      <p:ext uri="{BB962C8B-B14F-4D97-AF65-F5344CB8AC3E}">
        <p14:creationId xmlns:p14="http://schemas.microsoft.com/office/powerpoint/2010/main" val="2678638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8FE627-20E1-4EBB-A40E-1773A1C3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400" b="1" dirty="0"/>
              <a:t>Представления в </a:t>
            </a:r>
            <a:r>
              <a:rPr lang="en-US" sz="5400" b="1" dirty="0"/>
              <a:t>Management Studio </a:t>
            </a:r>
            <a:endParaRPr lang="ru-RU" sz="54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A124B4-A97F-4A90-B135-58F9613E8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687" y="1690688"/>
            <a:ext cx="5075873" cy="44481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A101F2-F716-402D-8B04-03E78986761E}"/>
              </a:ext>
            </a:extLst>
          </p:cNvPr>
          <p:cNvSpPr txBox="1"/>
          <p:nvPr/>
        </p:nvSpPr>
        <p:spPr>
          <a:xfrm>
            <a:off x="1417320" y="274320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/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1082874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DA101F2-F716-402D-8B04-03E78986761E}"/>
              </a:ext>
            </a:extLst>
          </p:cNvPr>
          <p:cNvSpPr txBox="1"/>
          <p:nvPr/>
        </p:nvSpPr>
        <p:spPr>
          <a:xfrm>
            <a:off x="1417320" y="274320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/>
              <a:t>2)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D6606F-078C-4CB4-BCCA-14E5CDF47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487" y="600075"/>
            <a:ext cx="782002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98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DA101F2-F716-402D-8B04-03E78986761E}"/>
              </a:ext>
            </a:extLst>
          </p:cNvPr>
          <p:cNvSpPr txBox="1"/>
          <p:nvPr/>
        </p:nvSpPr>
        <p:spPr>
          <a:xfrm>
            <a:off x="1417320" y="274320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/>
              <a:t>3)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00BDEC-BCAD-40D2-8067-F995A87C8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702" y="2038945"/>
            <a:ext cx="8928994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63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DA101F2-F716-402D-8B04-03E78986761E}"/>
              </a:ext>
            </a:extLst>
          </p:cNvPr>
          <p:cNvSpPr txBox="1"/>
          <p:nvPr/>
        </p:nvSpPr>
        <p:spPr>
          <a:xfrm>
            <a:off x="1417320" y="274320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/>
              <a:t>4)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8F117D-F1AC-4F0D-A81E-F85FF8E16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530" y="590550"/>
            <a:ext cx="781050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38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DA101F2-F716-402D-8B04-03E78986761E}"/>
              </a:ext>
            </a:extLst>
          </p:cNvPr>
          <p:cNvSpPr txBox="1"/>
          <p:nvPr/>
        </p:nvSpPr>
        <p:spPr>
          <a:xfrm>
            <a:off x="1417320" y="2743200"/>
            <a:ext cx="777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/>
              <a:t>5)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31E6B0-5552-4F69-97B3-623BC9F61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783" y="381000"/>
            <a:ext cx="4503068" cy="151463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61D388-2270-4351-9C00-0ED3459899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912" y="3285965"/>
            <a:ext cx="4454854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E88C7F-73FB-4BFF-9DDD-A4A1A208AA3A}"/>
              </a:ext>
            </a:extLst>
          </p:cNvPr>
          <p:cNvSpPr txBox="1"/>
          <p:nvPr/>
        </p:nvSpPr>
        <p:spPr>
          <a:xfrm>
            <a:off x="5345690" y="2362635"/>
            <a:ext cx="15640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или</a:t>
            </a:r>
          </a:p>
        </p:txBody>
      </p:sp>
    </p:spTree>
    <p:extLst>
      <p:ext uri="{BB962C8B-B14F-4D97-AF65-F5344CB8AC3E}">
        <p14:creationId xmlns:p14="http://schemas.microsoft.com/office/powerpoint/2010/main" val="1924898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8FE627-20E1-4EBB-A40E-1773A1C3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b="1" dirty="0"/>
              <a:t>Задания к защите лабораторной работы 7: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CFA3C091-3DB1-4794-9CFF-188BCF60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ru-RU" sz="4000" dirty="0"/>
              <a:t>Создать представление для своей БД.</a:t>
            </a:r>
          </a:p>
          <a:p>
            <a:pPr marL="0" indent="0">
              <a:buNone/>
            </a:pPr>
            <a:r>
              <a:rPr lang="ru-RU" sz="4000" dirty="0"/>
              <a:t>Требования: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4000" dirty="0"/>
              <a:t>Не менее 2-х таблиц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4000" dirty="0"/>
              <a:t>Для столбцов псевдонимы на русском языке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4000" dirty="0"/>
              <a:t>Использовать группировку и</a:t>
            </a:r>
            <a:r>
              <a:rPr lang="en-US" sz="4000" dirty="0"/>
              <a:t>/</a:t>
            </a:r>
            <a:r>
              <a:rPr lang="ru-RU" sz="4000" dirty="0"/>
              <a:t>или несколько фильтров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4000" dirty="0"/>
              <a:t>Сортировка</a:t>
            </a:r>
          </a:p>
          <a:p>
            <a:pPr marL="0" indent="0">
              <a:buNone/>
            </a:pP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176285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8FE627-20E1-4EBB-A40E-1773A1C3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b="1" dirty="0"/>
              <a:t>Задания к защите лабораторной работы 7: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CFA3C091-3DB1-4794-9CFF-188BCF60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742950" indent="-742950">
              <a:buFont typeface="+mj-lt"/>
              <a:buAutoNum type="arabicPeriod" startAt="2"/>
            </a:pPr>
            <a:r>
              <a:rPr lang="ru-RU" sz="4000" dirty="0"/>
              <a:t>Определить какое из этих представлений - модифицируемое и объяснить почему.</a:t>
            </a:r>
          </a:p>
          <a:p>
            <a:pPr marL="0" indent="0">
              <a:buNone/>
            </a:pPr>
            <a:endParaRPr lang="ru-RU" sz="4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58F9EA-3AEC-418E-AA8B-2A5D5CC6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579" y="3063241"/>
            <a:ext cx="6652301" cy="161128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E3625D-306D-4A7D-B6D7-B34348AA5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978" y="4931738"/>
            <a:ext cx="7109501" cy="156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70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549B6A3-EDAE-4B55-80FD-3F4E4A6B7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005" y="466101"/>
            <a:ext cx="5644516" cy="156528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FB3810A-9D9C-4599-863B-DF925BACE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652" y="2346960"/>
            <a:ext cx="8420695" cy="15621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E9B0F48-BD59-4598-B7D0-6B9B5C5916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141" y="4181770"/>
            <a:ext cx="7077715" cy="249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32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E297B5-3F52-452E-B479-49BF658C0CD7}"/>
              </a:ext>
            </a:extLst>
          </p:cNvPr>
          <p:cNvSpPr txBox="1"/>
          <p:nvPr/>
        </p:nvSpPr>
        <p:spPr>
          <a:xfrm>
            <a:off x="771525" y="371475"/>
            <a:ext cx="532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Дз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9D3F2E-E706-4109-B070-E8AA08F51272}"/>
              </a:ext>
            </a:extLst>
          </p:cNvPr>
          <p:cNvSpPr txBox="1"/>
          <p:nvPr/>
        </p:nvSpPr>
        <p:spPr>
          <a:xfrm>
            <a:off x="600075" y="1828800"/>
            <a:ext cx="5324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Вам потребуется проанализировать способы </a:t>
            </a:r>
            <a:r>
              <a:rPr lang="ru-RU" dirty="0" err="1"/>
              <a:t>групировки</a:t>
            </a:r>
            <a:r>
              <a:rPr lang="ru-RU" dirty="0"/>
              <a:t> и сравнить их. В </a:t>
            </a:r>
            <a:r>
              <a:rPr lang="ru-RU" dirty="0" err="1"/>
              <a:t>дз</a:t>
            </a:r>
            <a:r>
              <a:rPr lang="ru-RU" dirty="0"/>
              <a:t> отправить результат сравнения через </a:t>
            </a:r>
            <a:r>
              <a:rPr lang="ru-RU" dirty="0" err="1"/>
              <a:t>гитхаб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64687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1631</Words>
  <Application>Microsoft Office PowerPoint</Application>
  <PresentationFormat>Широкоэкранный</PresentationFormat>
  <Paragraphs>140</Paragraphs>
  <Slides>24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 Unicode MS</vt:lpstr>
      <vt:lpstr>Arial</vt:lpstr>
      <vt:lpstr>Calibri</vt:lpstr>
      <vt:lpstr>Calibri Light</vt:lpstr>
      <vt:lpstr>Wingdings</vt:lpstr>
      <vt:lpstr>Тема Office</vt:lpstr>
      <vt:lpstr>Лабораторная работа 7</vt:lpstr>
      <vt:lpstr>Представления или Views</vt:lpstr>
      <vt:lpstr>Преимущества</vt:lpstr>
      <vt:lpstr>Типы представлений</vt:lpstr>
      <vt:lpstr>Модифицируемое представление</vt:lpstr>
      <vt:lpstr>Критерии (1)</vt:lpstr>
      <vt:lpstr>Критерии (2)</vt:lpstr>
      <vt:lpstr>Например, пусть у нас есть три связанных таблицы:</vt:lpstr>
      <vt:lpstr>Презентация PowerPoint</vt:lpstr>
      <vt:lpstr>Для создания представления используется команда CREATE VIEW, которая имеет следующую форму:</vt:lpstr>
      <vt:lpstr>Теперь добавим в базу данных, в которой содержатся данные таблицы, следующее представление:</vt:lpstr>
      <vt:lpstr>SELECT * FROM OrdersProductsCustomers</vt:lpstr>
      <vt:lpstr>Изменение представления</vt:lpstr>
      <vt:lpstr>Например, изменим выше созданное представление OrdersProductsCustomers:</vt:lpstr>
      <vt:lpstr>Удаление представления</vt:lpstr>
      <vt:lpstr>Представления в Management Studio 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Задания к защите лабораторной работы 7:</vt:lpstr>
      <vt:lpstr>Задания к защите лабораторной работы 7: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Наталья Лагерева</dc:creator>
  <cp:lastModifiedBy>teacher</cp:lastModifiedBy>
  <cp:revision>26</cp:revision>
  <dcterms:created xsi:type="dcterms:W3CDTF">2020-09-02T09:11:07Z</dcterms:created>
  <dcterms:modified xsi:type="dcterms:W3CDTF">2026-09-17T12:17:07Z</dcterms:modified>
</cp:coreProperties>
</file>