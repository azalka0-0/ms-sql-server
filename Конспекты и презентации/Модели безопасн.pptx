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1"/>
  </p:sldMasterIdLst>
  <p:notesMasterIdLst>
    <p:notesMasterId r:id="rId85"/>
  </p:notesMasterIdLst>
  <p:handoutMasterIdLst>
    <p:handoutMasterId r:id="rId86"/>
  </p:handoutMasterIdLst>
  <p:sldIdLst>
    <p:sldId id="804" r:id="rId2"/>
    <p:sldId id="808" r:id="rId3"/>
    <p:sldId id="706" r:id="rId4"/>
    <p:sldId id="713" r:id="rId5"/>
    <p:sldId id="809" r:id="rId6"/>
    <p:sldId id="745" r:id="rId7"/>
    <p:sldId id="746" r:id="rId8"/>
    <p:sldId id="747" r:id="rId9"/>
    <p:sldId id="748" r:id="rId10"/>
    <p:sldId id="749" r:id="rId11"/>
    <p:sldId id="750" r:id="rId12"/>
    <p:sldId id="717" r:id="rId13"/>
    <p:sldId id="752" r:id="rId14"/>
    <p:sldId id="718" r:id="rId15"/>
    <p:sldId id="720" r:id="rId16"/>
    <p:sldId id="719" r:id="rId17"/>
    <p:sldId id="810" r:id="rId18"/>
    <p:sldId id="811" r:id="rId19"/>
    <p:sldId id="721" r:id="rId20"/>
    <p:sldId id="722" r:id="rId21"/>
    <p:sldId id="812" r:id="rId22"/>
    <p:sldId id="753" r:id="rId23"/>
    <p:sldId id="754" r:id="rId24"/>
    <p:sldId id="755" r:id="rId25"/>
    <p:sldId id="756" r:id="rId26"/>
    <p:sldId id="813" r:id="rId27"/>
    <p:sldId id="814" r:id="rId28"/>
    <p:sldId id="815" r:id="rId29"/>
    <p:sldId id="767" r:id="rId30"/>
    <p:sldId id="816" r:id="rId31"/>
    <p:sldId id="817" r:id="rId32"/>
    <p:sldId id="768" r:id="rId33"/>
    <p:sldId id="769" r:id="rId34"/>
    <p:sldId id="770" r:id="rId35"/>
    <p:sldId id="771" r:id="rId36"/>
    <p:sldId id="772" r:id="rId37"/>
    <p:sldId id="773" r:id="rId38"/>
    <p:sldId id="774" r:id="rId39"/>
    <p:sldId id="775" r:id="rId40"/>
    <p:sldId id="806" r:id="rId41"/>
    <p:sldId id="807" r:id="rId42"/>
    <p:sldId id="725" r:id="rId43"/>
    <p:sldId id="726" r:id="rId44"/>
    <p:sldId id="729" r:id="rId45"/>
    <p:sldId id="730" r:id="rId46"/>
    <p:sldId id="731" r:id="rId47"/>
    <p:sldId id="822" r:id="rId48"/>
    <p:sldId id="780" r:id="rId49"/>
    <p:sldId id="818" r:id="rId50"/>
    <p:sldId id="819" r:id="rId51"/>
    <p:sldId id="820" r:id="rId52"/>
    <p:sldId id="779" r:id="rId53"/>
    <p:sldId id="821" r:id="rId54"/>
    <p:sldId id="735" r:id="rId55"/>
    <p:sldId id="737" r:id="rId56"/>
    <p:sldId id="742" r:id="rId57"/>
    <p:sldId id="784" r:id="rId58"/>
    <p:sldId id="738" r:id="rId59"/>
    <p:sldId id="739" r:id="rId60"/>
    <p:sldId id="741" r:id="rId61"/>
    <p:sldId id="785" r:id="rId62"/>
    <p:sldId id="786" r:id="rId63"/>
    <p:sldId id="787" r:id="rId64"/>
    <p:sldId id="790" r:id="rId65"/>
    <p:sldId id="788" r:id="rId66"/>
    <p:sldId id="789" r:id="rId67"/>
    <p:sldId id="791" r:id="rId68"/>
    <p:sldId id="792" r:id="rId69"/>
    <p:sldId id="794" r:id="rId70"/>
    <p:sldId id="793" r:id="rId71"/>
    <p:sldId id="795" r:id="rId72"/>
    <p:sldId id="796" r:id="rId73"/>
    <p:sldId id="797" r:id="rId74"/>
    <p:sldId id="798" r:id="rId75"/>
    <p:sldId id="799" r:id="rId76"/>
    <p:sldId id="823" r:id="rId77"/>
    <p:sldId id="800" r:id="rId78"/>
    <p:sldId id="801" r:id="rId79"/>
    <p:sldId id="824" r:id="rId80"/>
    <p:sldId id="802" r:id="rId81"/>
    <p:sldId id="825" r:id="rId82"/>
    <p:sldId id="826" r:id="rId83"/>
    <p:sldId id="803" r:id="rId84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F87"/>
    <a:srgbClr val="FFFF00"/>
    <a:srgbClr val="6633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6" autoAdjust="0"/>
    <p:restoredTop sz="94700" autoAdjust="0"/>
  </p:normalViewPr>
  <p:slideViewPr>
    <p:cSldViewPr snapToObjects="1">
      <p:cViewPr varScale="1">
        <p:scale>
          <a:sx n="73" d="100"/>
          <a:sy n="73" d="100"/>
        </p:scale>
        <p:origin x="78" y="6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3260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320"/>
    </p:cViewPr>
  </p:sorterViewPr>
  <p:notesViewPr>
    <p:cSldViewPr snapToObjects="1">
      <p:cViewPr varScale="1">
        <p:scale>
          <a:sx n="60" d="100"/>
          <a:sy n="60" d="100"/>
        </p:scale>
        <p:origin x="-1890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263A4159-9C74-42BE-880C-4C3C8541C36A}" type="datetimeFigureOut">
              <a:rPr lang="ru-RU"/>
              <a:pPr>
                <a:defRPr/>
              </a:pPr>
              <a:t>04.09.2016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2BDE716B-58A5-4EDD-91FE-BC6D928D844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1406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32A3C1A4-5600-45BD-8E3E-56ADE8A975B4}" type="datetimeFigureOut">
              <a:rPr lang="ru-RU"/>
              <a:pPr>
                <a:defRPr/>
              </a:pPr>
              <a:t>04.09.2016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E1D5D2B2-EC82-4B9B-91F4-436E390EBCB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01700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lIns="45720" tIns="0" rIns="45720" bIns="0" anchor="b">
            <a:scene3d>
              <a:camera prst="orthographicFront"/>
              <a:lightRig rig="soft" dir="t">
                <a:rot lat="0" lon="0" rev="17220000"/>
              </a:lightRig>
            </a:scene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4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91EFB0-2103-43A0-9628-4C32D2BABDC1}" type="datetime1">
              <a:rPr lang="ru-RU" smtClean="0"/>
              <a:pPr>
                <a:defRPr/>
              </a:pPr>
              <a:t>04.09.2016</a:t>
            </a:fld>
            <a:endParaRPr lang="ru-RU"/>
          </a:p>
        </p:txBody>
      </p:sp>
      <p:sp>
        <p:nvSpPr>
          <p:cNvPr id="5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CBD51F-2E8E-46EB-A006-1C615CA967D1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Tx/>
              <a:defRPr sz="2400" baseline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>
              <a:defRPr sz="2200" baseline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 baseline="0"/>
            </a:lvl1pPr>
          </a:lstStyle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921076-48DD-4BB3-A4C7-C192F88C7A39}" type="datetime1">
              <a:rPr lang="ru-RU" smtClean="0"/>
              <a:pPr>
                <a:defRPr/>
              </a:pPr>
              <a:t>04.09.2016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F02E3-F42B-4B16-95F2-2DEC4D70F494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/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A40198-E63A-42B1-8BDE-B4D6BEC17168}" type="datetime1">
              <a:rPr lang="ru-RU" smtClean="0"/>
              <a:pPr>
                <a:defRPr/>
              </a:pPr>
              <a:t>04.09.2016</a:t>
            </a:fld>
            <a:endParaRPr lang="ru-RU"/>
          </a:p>
        </p:txBody>
      </p:sp>
      <p:sp>
        <p:nvSpPr>
          <p:cNvPr id="5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6EF971-4010-4197-8790-E33A36920DD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716526-FD19-4866-BD7C-85DB040148C6}" type="datetime1">
              <a:rPr lang="ru-RU" smtClean="0"/>
              <a:pPr>
                <a:defRPr/>
              </a:pPr>
              <a:t>04.09.2016</a:t>
            </a:fld>
            <a:endParaRPr lang="ru-RU"/>
          </a:p>
        </p:txBody>
      </p:sp>
      <p:sp>
        <p:nvSpPr>
          <p:cNvPr id="6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F7329D-B103-414E-BC88-B2409B6734E1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6067ED-B26C-400D-98A1-A0642698DBCF}" type="datetime1">
              <a:rPr lang="ru-RU" smtClean="0"/>
              <a:pPr>
                <a:defRPr/>
              </a:pPr>
              <a:t>04.09.2016</a:t>
            </a:fld>
            <a:endParaRPr lang="ru-RU"/>
          </a:p>
        </p:txBody>
      </p:sp>
      <p:sp>
        <p:nvSpPr>
          <p:cNvPr id="8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2E224-ECF2-4A7C-9AF3-A8756DA41EB2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CF7611-F094-4A05-A21B-F14FC460F7AA}" type="datetime1">
              <a:rPr lang="ru-RU" smtClean="0"/>
              <a:pPr>
                <a:defRPr/>
              </a:pPr>
              <a:t>04.09.2016</a:t>
            </a:fld>
            <a:endParaRPr lang="ru-RU"/>
          </a:p>
        </p:txBody>
      </p:sp>
      <p:sp>
        <p:nvSpPr>
          <p:cNvPr id="4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2C42C7-A82A-41A5-9F8F-E2253C175A8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37A624-11AE-40A7-AF68-68A2E2AD6576}" type="datetime1">
              <a:rPr lang="ru-RU" smtClean="0"/>
              <a:pPr>
                <a:defRPr/>
              </a:pPr>
              <a:t>04.09.2016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4DE54F-F715-4D57-9291-0D874A413902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CB0DED-A2F9-40C3-929E-49D191F2DE2D}" type="datetime1">
              <a:rPr lang="ru-RU" smtClean="0"/>
              <a:pPr>
                <a:defRPr/>
              </a:pPr>
              <a:t>04.09.2016</a:t>
            </a:fld>
            <a:endParaRPr lang="ru-RU"/>
          </a:p>
        </p:txBody>
      </p:sp>
      <p:sp>
        <p:nvSpPr>
          <p:cNvPr id="6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063E3C-B443-4647-8EC0-98289B6B2075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indent="0">
              <a:buNone/>
              <a:defRPr sz="3200"/>
            </a:lvl1pPr>
          </a:lstStyle>
          <a:p>
            <a:pPr lvl="0"/>
            <a:r>
              <a:rPr lang="ru-RU" noProof="0" smtClean="0"/>
              <a:t>Вставка рисунка</a:t>
            </a:r>
            <a:endParaRPr lang="en-US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rIns="45720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1256C4-C592-467A-A602-7018BA3936B4}" type="datetime1">
              <a:rPr lang="ru-RU" smtClean="0"/>
              <a:pPr>
                <a:defRPr/>
              </a:pPr>
              <a:t>04.09.2016</a:t>
            </a:fld>
            <a:endParaRPr lang="ru-RU"/>
          </a:p>
        </p:txBody>
      </p:sp>
      <p:sp>
        <p:nvSpPr>
          <p:cNvPr id="6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58274F-A8F2-4A04-97F3-CAF5D535A901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EC1E08-0CF8-4A3E-B07C-473EE1BC9F51}" type="datetime1">
              <a:rPr lang="ru-RU" smtClean="0"/>
              <a:pPr>
                <a:defRPr/>
              </a:pPr>
              <a:t>04.09.2016</a:t>
            </a:fld>
            <a:endParaRPr lang="ru-RU"/>
          </a:p>
        </p:txBody>
      </p:sp>
      <p:sp>
        <p:nvSpPr>
          <p:cNvPr id="5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26E700-D0CA-4577-B641-69E6CA55034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8B757C-3701-48A1-B34A-96E7C549DEE0}" type="datetime1">
              <a:rPr lang="ru-RU" smtClean="0"/>
              <a:pPr>
                <a:defRPr/>
              </a:pPr>
              <a:t>04.09.2016</a:t>
            </a:fld>
            <a:endParaRPr lang="ru-RU"/>
          </a:p>
        </p:txBody>
      </p:sp>
      <p:sp>
        <p:nvSpPr>
          <p:cNvPr id="5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592E6D-4D73-4980-919B-D3A7C439D98E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921076-48DD-4BB3-A4C7-C192F88C7A39}" type="datetime1">
              <a:rPr lang="ru-RU" smtClean="0"/>
              <a:pPr>
                <a:defRPr/>
              </a:pPr>
              <a:t>04.09.2016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F02E3-F42B-4B16-95F2-2DEC4D70F494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/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027" name="Текст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smtClean="0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shade val="5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5921076-48DD-4BB3-A4C7-C192F88C7A39}" type="datetime1">
              <a:rPr lang="ru-RU" smtClean="0"/>
              <a:pPr>
                <a:defRPr/>
              </a:pPr>
              <a:t>04.09.2016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shade val="5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shade val="5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2AF02E3-F42B-4B16-95F2-2DEC4D70F494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</p:sldLayoutIdLst>
  <p:transition/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00" b="1" kern="120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Arial" charset="0"/>
        </a:defRPr>
      </a:lvl9pPr>
    </p:titleStyle>
    <p:bodyStyle>
      <a:lvl1pPr marL="547688" indent="-411163" algn="l" rtl="0" eaLnBrk="1" fontAlgn="base" hangingPunct="1">
        <a:spcBef>
          <a:spcPct val="20000"/>
        </a:spcBef>
        <a:spcAft>
          <a:spcPct val="0"/>
        </a:spcAft>
        <a:buClr>
          <a:srgbClr val="F9F9F9"/>
        </a:buClr>
        <a:buSzPct val="65000"/>
        <a:buFont typeface="Wingdings 2" pitchFamily="18" charset="2"/>
        <a:buChar char="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363" indent="-2825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 2" pitchFamily="18" charset="2"/>
        <a:buChar char="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475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95000"/>
        <a:buFont typeface="Wingdings" pitchFamily="2" charset="2"/>
        <a:buChar char="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2550" indent="-18256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00000"/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4638" indent="-18256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itchFamily="18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Безопасность </a:t>
            </a:r>
            <a:br>
              <a:rPr lang="ru-RU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систем баз данных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924055"/>
            <a:ext cx="6400800" cy="1752600"/>
          </a:xfrm>
        </p:spPr>
        <p:txBody>
          <a:bodyPr/>
          <a:lstStyle/>
          <a:p>
            <a:pPr fontAlgn="auto">
              <a:spcAft>
                <a:spcPts val="0"/>
              </a:spcAft>
              <a:buClr>
                <a:schemeClr val="tx1">
                  <a:shade val="95000"/>
                </a:schemeClr>
              </a:buClr>
              <a:defRPr/>
            </a:pPr>
            <a:r>
              <a:rPr lang="ru-RU" sz="3200" b="1" smtClean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3. </a:t>
            </a:r>
            <a:r>
              <a:rPr lang="ru-RU" sz="32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Модели безопасности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574625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Субъектно-объектная модель доступа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общем случае разграничение доступа в ИС основано на использовании </a:t>
            </a:r>
            <a:r>
              <a:rPr lang="ru-RU" i="1" dirty="0"/>
              <a:t>субъектно-объектной модели доступа</a:t>
            </a:r>
            <a:r>
              <a:rPr lang="ru-RU" dirty="0"/>
              <a:t>. </a:t>
            </a:r>
            <a:endParaRPr lang="en-US" dirty="0" smtClean="0"/>
          </a:p>
          <a:p>
            <a:r>
              <a:rPr lang="ru-RU" dirty="0" smtClean="0"/>
              <a:t>В </a:t>
            </a:r>
            <a:r>
              <a:rPr lang="ru-RU" dirty="0"/>
              <a:t>этой модели ИС разделяется на субъекты (активные сущности), объекты (пассивные сущности) и порождаемые действиями субъектов процессы над объектами. При этом субъекты осуществляют доступ к </a:t>
            </a:r>
            <a:r>
              <a:rPr lang="ru-RU" dirty="0" smtClean="0"/>
              <a:t>объектам </a:t>
            </a:r>
            <a:r>
              <a:rPr lang="ru-RU" dirty="0"/>
              <a:t>путем порождения процессов над </a:t>
            </a:r>
            <a:r>
              <a:rPr lang="ru-RU" dirty="0" smtClean="0"/>
              <a:t>ними.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843565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714348" y="835010"/>
            <a:ext cx="7643866" cy="522288"/>
          </a:xfrm>
        </p:spPr>
        <p:txBody>
          <a:bodyPr>
            <a:noAutofit/>
            <a:scene3d>
              <a:camera prst="orthographicFront"/>
              <a:lightRig rig="soft" dir="t">
                <a:rot lat="0" lon="0" rev="16800000"/>
              </a:lightRig>
            </a:scene3d>
            <a:sp3d extrusionH="57150" prstMaterial="softEdge">
              <a:bevelT w="38100" h="38100"/>
            </a:sp3d>
          </a:bodyPr>
          <a:lstStyle/>
          <a:p>
            <a:pPr eaLnBrk="1" hangingPunct="1">
              <a:defRPr/>
            </a:pPr>
            <a:r>
              <a:rPr lang="ru-RU" sz="4000" dirty="0" smtClean="0">
                <a:solidFill>
                  <a:schemeClr val="accent1">
                    <a:lumMod val="75000"/>
                  </a:schemeClr>
                </a:solidFill>
              </a:rPr>
              <a:t>Субъектно-объектная модель АИС</a:t>
            </a:r>
            <a:endParaRPr lang="ru-RU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21510" name="Group 2"/>
          <p:cNvGrpSpPr>
            <a:grpSpLocks noGrp="1"/>
          </p:cNvGrpSpPr>
          <p:nvPr/>
        </p:nvGrpSpPr>
        <p:grpSpPr bwMode="auto">
          <a:xfrm>
            <a:off x="714375" y="1895492"/>
            <a:ext cx="7786688" cy="3962400"/>
            <a:chOff x="2405" y="1087"/>
            <a:chExt cx="7665" cy="3576"/>
          </a:xfrm>
        </p:grpSpPr>
        <p:sp>
          <p:nvSpPr>
            <p:cNvPr id="21511" name="Rectangle 3"/>
            <p:cNvSpPr>
              <a:spLocks noChangeAspect="1" noChangeArrowheads="1"/>
            </p:cNvSpPr>
            <p:nvPr/>
          </p:nvSpPr>
          <p:spPr bwMode="auto">
            <a:xfrm>
              <a:off x="2405" y="1087"/>
              <a:ext cx="7665" cy="3576"/>
            </a:xfrm>
            <a:prstGeom prst="rect">
              <a:avLst/>
            </a:prstGeom>
            <a:gradFill>
              <a:gsLst>
                <a:gs pos="0">
                  <a:schemeClr val="accent1">
                    <a:lumMod val="75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6200000" scaled="0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512" name="Rectangle 4"/>
            <p:cNvSpPr>
              <a:spLocks noChangeAspect="1" noChangeArrowheads="1"/>
            </p:cNvSpPr>
            <p:nvPr/>
          </p:nvSpPr>
          <p:spPr bwMode="auto">
            <a:xfrm>
              <a:off x="2588" y="1588"/>
              <a:ext cx="2281" cy="2555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513" name="Text Box 5"/>
            <p:cNvSpPr txBox="1">
              <a:spLocks noChangeAspect="1" noChangeArrowheads="1"/>
            </p:cNvSpPr>
            <p:nvPr/>
          </p:nvSpPr>
          <p:spPr bwMode="auto">
            <a:xfrm>
              <a:off x="2770" y="2045"/>
              <a:ext cx="1916" cy="501"/>
            </a:xfrm>
            <a:prstGeom prst="rect">
              <a:avLst/>
            </a:prstGeom>
            <a:gradFill>
              <a:gsLst>
                <a:gs pos="0">
                  <a:schemeClr val="accent1">
                    <a:lumMod val="75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6200000" scaled="0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ru-RU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Пользователи</a:t>
              </a:r>
              <a:endPara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514" name="Text Box 6"/>
            <p:cNvSpPr txBox="1">
              <a:spLocks noChangeAspect="1" noChangeArrowheads="1"/>
            </p:cNvSpPr>
            <p:nvPr/>
          </p:nvSpPr>
          <p:spPr bwMode="auto">
            <a:xfrm>
              <a:off x="2770" y="2591"/>
              <a:ext cx="1916" cy="456"/>
            </a:xfrm>
            <a:prstGeom prst="rect">
              <a:avLst/>
            </a:prstGeom>
            <a:gradFill>
              <a:gsLst>
                <a:gs pos="0">
                  <a:schemeClr val="accent1">
                    <a:lumMod val="75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6200000" scaled="0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ru-RU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Приложения</a:t>
              </a:r>
              <a:endPara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7895" name="Text Box 7"/>
            <p:cNvSpPr txBox="1">
              <a:spLocks noChangeAspect="1" noChangeArrowheads="1"/>
            </p:cNvSpPr>
            <p:nvPr/>
          </p:nvSpPr>
          <p:spPr bwMode="auto">
            <a:xfrm>
              <a:off x="2771" y="3091"/>
              <a:ext cx="1916" cy="731"/>
            </a:xfrm>
            <a:prstGeom prst="rect">
              <a:avLst/>
            </a:prstGeom>
            <a:gradFill>
              <a:gsLst>
                <a:gs pos="0">
                  <a:schemeClr val="accent1">
                    <a:lumMod val="75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6200000" scaled="0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spcAft>
                  <a:spcPts val="1000"/>
                </a:spcAft>
                <a:defRPr/>
              </a:pPr>
              <a:r>
                <a:rPr lang="ru-RU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cs typeface="Arial" pitchFamily="34" charset="0"/>
                </a:rPr>
                <a:t>Внешние коммуникации</a:t>
              </a:r>
            </a:p>
          </p:txBody>
        </p:sp>
        <p:sp>
          <p:nvSpPr>
            <p:cNvPr id="21516" name="Text Box 8"/>
            <p:cNvSpPr txBox="1">
              <a:spLocks noChangeAspect="1" noChangeArrowheads="1"/>
            </p:cNvSpPr>
            <p:nvPr/>
          </p:nvSpPr>
          <p:spPr bwMode="auto">
            <a:xfrm>
              <a:off x="2770" y="1634"/>
              <a:ext cx="1916" cy="410"/>
            </a:xfrm>
            <a:prstGeom prst="rect">
              <a:avLst/>
            </a:prstGeom>
            <a:solidFill>
              <a:srgbClr val="C0C0C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ru-RU" sz="200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Субъекты </a:t>
              </a:r>
              <a:r>
                <a:rPr lang="ru-RU" sz="2000" dirty="0" smtClean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ИС</a:t>
              </a:r>
              <a:endParaRPr lang="ru-RU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517" name="Rectangle 9"/>
            <p:cNvSpPr>
              <a:spLocks noChangeAspect="1" noChangeArrowheads="1"/>
            </p:cNvSpPr>
            <p:nvPr/>
          </p:nvSpPr>
          <p:spPr bwMode="auto">
            <a:xfrm>
              <a:off x="7606" y="1315"/>
              <a:ext cx="2282" cy="314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519" name="Text Box 11"/>
            <p:cNvSpPr txBox="1">
              <a:spLocks noChangeAspect="1" noChangeArrowheads="1"/>
            </p:cNvSpPr>
            <p:nvPr/>
          </p:nvSpPr>
          <p:spPr bwMode="auto">
            <a:xfrm>
              <a:off x="7789" y="2145"/>
              <a:ext cx="1916" cy="456"/>
            </a:xfrm>
            <a:prstGeom prst="rect">
              <a:avLst/>
            </a:prstGeom>
            <a:gradFill>
              <a:gsLst>
                <a:gs pos="0">
                  <a:schemeClr val="accent1">
                    <a:lumMod val="75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6200000" scaled="0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ru-RU" sz="2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Приложения</a:t>
              </a:r>
              <a:endPara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7900" name="Text Box 12"/>
            <p:cNvSpPr txBox="1">
              <a:spLocks noChangeAspect="1" noChangeArrowheads="1"/>
            </p:cNvSpPr>
            <p:nvPr/>
          </p:nvSpPr>
          <p:spPr bwMode="auto">
            <a:xfrm>
              <a:off x="7788" y="2664"/>
              <a:ext cx="1916" cy="457"/>
            </a:xfrm>
            <a:prstGeom prst="rect">
              <a:avLst/>
            </a:prstGeom>
            <a:gradFill>
              <a:gsLst>
                <a:gs pos="0">
                  <a:schemeClr val="accent1">
                    <a:lumMod val="75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6200000" scaled="0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spcAft>
                  <a:spcPts val="1000"/>
                </a:spcAft>
                <a:defRPr/>
              </a:pPr>
              <a:r>
                <a:rPr lang="ru-RU" sz="2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cs typeface="Arial" pitchFamily="34" charset="0"/>
                </a:rPr>
                <a:t>Файлы</a:t>
              </a:r>
              <a:endPara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Arial" pitchFamily="34" charset="0"/>
              </a:endParaRPr>
            </a:p>
          </p:txBody>
        </p:sp>
        <p:sp>
          <p:nvSpPr>
            <p:cNvPr id="21521" name="Text Box 13"/>
            <p:cNvSpPr txBox="1">
              <a:spLocks noChangeAspect="1" noChangeArrowheads="1"/>
            </p:cNvSpPr>
            <p:nvPr/>
          </p:nvSpPr>
          <p:spPr bwMode="auto">
            <a:xfrm>
              <a:off x="7789" y="1360"/>
              <a:ext cx="1916" cy="411"/>
            </a:xfrm>
            <a:prstGeom prst="rect">
              <a:avLst/>
            </a:prstGeom>
            <a:solidFill>
              <a:srgbClr val="C0C0C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ru-RU" sz="200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Объекты </a:t>
              </a:r>
              <a:r>
                <a:rPr lang="ru-RU" sz="2000" dirty="0" smtClean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ИС</a:t>
              </a:r>
              <a:endParaRPr lang="ru-RU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7902" name="Text Box 14"/>
            <p:cNvSpPr txBox="1">
              <a:spLocks noChangeAspect="1" noChangeArrowheads="1"/>
            </p:cNvSpPr>
            <p:nvPr/>
          </p:nvSpPr>
          <p:spPr bwMode="auto">
            <a:xfrm>
              <a:off x="7788" y="3185"/>
              <a:ext cx="1916" cy="456"/>
            </a:xfrm>
            <a:prstGeom prst="rect">
              <a:avLst/>
            </a:prstGeom>
            <a:gradFill>
              <a:gsLst>
                <a:gs pos="0">
                  <a:schemeClr val="accent1">
                    <a:lumMod val="75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6200000" scaled="0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spcAft>
                  <a:spcPts val="1000"/>
                </a:spcAft>
                <a:defRPr/>
              </a:pPr>
              <a:r>
                <a:rPr lang="ru-RU" sz="2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cs typeface="Arial" pitchFamily="34" charset="0"/>
                </a:rPr>
                <a:t>Данные БД</a:t>
              </a:r>
              <a:endPara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Arial" pitchFamily="34" charset="0"/>
              </a:endParaRPr>
            </a:p>
          </p:txBody>
        </p:sp>
        <p:sp>
          <p:nvSpPr>
            <p:cNvPr id="37903" name="AutoShape 15"/>
            <p:cNvSpPr>
              <a:spLocks noChangeAspect="1" noChangeArrowheads="1"/>
            </p:cNvSpPr>
            <p:nvPr/>
          </p:nvSpPr>
          <p:spPr bwMode="auto">
            <a:xfrm>
              <a:off x="5051" y="1634"/>
              <a:ext cx="2327" cy="2509"/>
            </a:xfrm>
            <a:prstGeom prst="hexagon">
              <a:avLst>
                <a:gd name="adj" fmla="val 25000"/>
                <a:gd name="vf" fmla="val 115470"/>
              </a:avLst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lIns="18000" tIns="36000" rIns="18000" bIns="36000"/>
            <a:lstStyle/>
            <a:p>
              <a:pPr algn="ctr">
                <a:spcAft>
                  <a:spcPts val="1000"/>
                </a:spcAft>
                <a:defRPr/>
              </a:pPr>
              <a:r>
                <a:rPr lang="ru-RU" sz="200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cs typeface="Arial" pitchFamily="34" charset="0"/>
                </a:rPr>
                <a:t>Процессы субъектов</a:t>
              </a:r>
            </a:p>
            <a:p>
              <a:pPr algn="ctr">
                <a:spcAft>
                  <a:spcPts val="1000"/>
                </a:spcAft>
                <a:defRPr/>
              </a:pPr>
              <a:endPara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Arial" pitchFamily="34" charset="0"/>
              </a:endParaRPr>
            </a:p>
            <a:p>
              <a:pPr algn="ctr">
                <a:spcAft>
                  <a:spcPts val="1000"/>
                </a:spcAft>
                <a:defRPr/>
              </a:pPr>
              <a:endPara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Arial" pitchFamily="34" charset="0"/>
              </a:endParaRPr>
            </a:p>
            <a:p>
              <a:pPr>
                <a:defRPr/>
              </a:pPr>
              <a:endPara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Arial" pitchFamily="34" charset="0"/>
              </a:endParaRPr>
            </a:p>
          </p:txBody>
        </p:sp>
        <p:sp>
          <p:nvSpPr>
            <p:cNvPr id="21524" name="Text Box 16"/>
            <p:cNvSpPr txBox="1">
              <a:spLocks noChangeAspect="1" noChangeArrowheads="1"/>
            </p:cNvSpPr>
            <p:nvPr/>
          </p:nvSpPr>
          <p:spPr bwMode="auto">
            <a:xfrm>
              <a:off x="2496" y="1118"/>
              <a:ext cx="1917" cy="4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ru-RU" sz="2000" dirty="0" smtClean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ИС</a:t>
              </a:r>
              <a:endParaRPr lang="ru-RU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525" name="AutoShape 17"/>
            <p:cNvSpPr>
              <a:spLocks noChangeArrowheads="1"/>
            </p:cNvSpPr>
            <p:nvPr/>
          </p:nvSpPr>
          <p:spPr bwMode="auto">
            <a:xfrm>
              <a:off x="5700" y="2757"/>
              <a:ext cx="990" cy="285"/>
            </a:xfrm>
            <a:prstGeom prst="leftRightArrow">
              <a:avLst>
                <a:gd name="adj1" fmla="val 50000"/>
                <a:gd name="adj2" fmla="val 69474"/>
              </a:avLst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ru-RU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820796-8EBD-4CD9-99FB-AD88B828652C}" type="slidenum">
              <a:rPr lang="ru-RU" sz="2400" smtClean="0"/>
              <a:pPr>
                <a:defRPr/>
              </a:pPr>
              <a:t>3</a:t>
            </a:fld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71340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Модели безопасности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27163"/>
            <a:ext cx="8229600" cy="4708525"/>
          </a:xfrm>
        </p:spPr>
        <p:txBody>
          <a:bodyPr/>
          <a:lstStyle/>
          <a:p>
            <a:r>
              <a:rPr lang="ru-RU" dirty="0"/>
              <a:t>Субъектно-объектная модель доступа, в свою очередь, реализуется в виде определенной </a:t>
            </a:r>
            <a:r>
              <a:rPr lang="ru-RU" i="1" dirty="0"/>
              <a:t>модели безопасности</a:t>
            </a:r>
            <a:r>
              <a:rPr lang="ru-RU" dirty="0"/>
              <a:t>. </a:t>
            </a:r>
          </a:p>
          <a:p>
            <a:r>
              <a:rPr lang="ru-RU" b="1" i="1" dirty="0" smtClean="0"/>
              <a:t>Модели </a:t>
            </a:r>
            <a:r>
              <a:rPr lang="ru-RU" b="1" i="1" dirty="0"/>
              <a:t>безопасности </a:t>
            </a:r>
            <a:r>
              <a:rPr lang="ru-RU" dirty="0"/>
              <a:t>представляют собой формализацию процедур логического управления доступом. Эти модели позволяют специфицировать и контролировать действия, которые субъекты (пользователи и процессы) могут выполнять над объектами (информацией и другими компьютерными ресурсами). </a:t>
            </a:r>
            <a:endParaRPr lang="ru-RU" dirty="0" smtClean="0"/>
          </a:p>
          <a:p>
            <a:r>
              <a:rPr lang="ru-RU" b="1" i="1" dirty="0"/>
              <a:t>Модель безопасности </a:t>
            </a:r>
            <a:r>
              <a:rPr lang="ru-RU" dirty="0"/>
              <a:t>есть формальное (математическое, схемотехническое, алгоритмическое) выражение и формулирование политики безопасности. </a:t>
            </a:r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627172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Модели безопасности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 моделях безопасности реализуются процедуры </a:t>
            </a:r>
            <a:r>
              <a:rPr lang="ru-RU" dirty="0"/>
              <a:t>логического управления </a:t>
            </a:r>
            <a:r>
              <a:rPr lang="ru-RU" dirty="0" smtClean="0"/>
              <a:t>доступом, являющиеся основным механизмом </a:t>
            </a:r>
            <a:r>
              <a:rPr lang="ru-RU" dirty="0"/>
              <a:t>многопользовательских систем, (и, прежде всего, БД</a:t>
            </a:r>
            <a:r>
              <a:rPr lang="ru-RU" dirty="0" smtClean="0"/>
              <a:t>), который призван обеспечить конфиденциальность, </a:t>
            </a:r>
            <a:r>
              <a:rPr lang="ru-RU" dirty="0"/>
              <a:t>целостность объектов и, до некоторой степени, их доступность (путем запрещения обслуживания неавторизованных пользователей).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164329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Модели безопасности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708525"/>
          </a:xfrm>
        </p:spPr>
        <p:txBody>
          <a:bodyPr/>
          <a:lstStyle/>
          <a:p>
            <a:r>
              <a:rPr lang="ru-RU" dirty="0"/>
              <a:t>Модель безопасности включает:</a:t>
            </a:r>
          </a:p>
          <a:p>
            <a:pPr marL="1339850" lvl="0" indent="-441325">
              <a:buFont typeface="Wingdings" panose="05000000000000000000" pitchFamily="2" charset="2"/>
              <a:buChar char="Ø"/>
            </a:pPr>
            <a:r>
              <a:rPr lang="ru-RU" dirty="0"/>
              <a:t>модель АИС;</a:t>
            </a:r>
          </a:p>
          <a:p>
            <a:pPr marL="1339850" lvl="0" indent="-441325">
              <a:buFont typeface="Wingdings" panose="05000000000000000000" pitchFamily="2" charset="2"/>
              <a:buChar char="Ø"/>
            </a:pPr>
            <a:r>
              <a:rPr lang="ru-RU" dirty="0"/>
              <a:t>критерии, принципы, ограничения и целевые функции защищенности информации от угроз;</a:t>
            </a:r>
          </a:p>
          <a:p>
            <a:pPr marL="1339850" lvl="0" indent="-441325">
              <a:buFont typeface="Wingdings" panose="05000000000000000000" pitchFamily="2" charset="2"/>
              <a:buChar char="Ø"/>
            </a:pPr>
            <a:r>
              <a:rPr lang="ru-RU" dirty="0"/>
              <a:t>формализованные правила, ограничения, алгоритмы, схемы и механизмы безопасного функционирования системы.</a:t>
            </a:r>
          </a:p>
          <a:p>
            <a:r>
              <a:rPr lang="ru-RU" dirty="0" smtClean="0"/>
              <a:t>Работа МБ в формальной постановке. Имеется </a:t>
            </a:r>
            <a:r>
              <a:rPr lang="ru-RU" dirty="0"/>
              <a:t>совокупность субъектов и набор объектов. Задача </a:t>
            </a:r>
            <a:r>
              <a:rPr lang="ru-RU" dirty="0" smtClean="0"/>
              <a:t>состоит </a:t>
            </a:r>
            <a:r>
              <a:rPr lang="ru-RU" dirty="0"/>
              <a:t>в том, чтобы для каждой пары «субъект-объект» определить множество допустимых </a:t>
            </a:r>
            <a:r>
              <a:rPr lang="ru-RU" dirty="0" smtClean="0"/>
              <a:t>операций и </a:t>
            </a:r>
            <a:r>
              <a:rPr lang="ru-RU" dirty="0"/>
              <a:t>контролировать выполнение установленного порядка.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796032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Типы моделей </a:t>
            </a:r>
            <a:r>
              <a:rPr lang="ru-RU" dirty="0"/>
              <a:t>безопасности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44216"/>
            <a:ext cx="8229600" cy="4061048"/>
          </a:xfrm>
        </p:spPr>
        <p:txBody>
          <a:bodyPr/>
          <a:lstStyle/>
          <a:p>
            <a:r>
              <a:rPr lang="ru-RU" sz="2600" dirty="0"/>
              <a:t>В соответствии с рассмотренными </a:t>
            </a:r>
            <a:r>
              <a:rPr lang="ru-RU" sz="2600" dirty="0" smtClean="0"/>
              <a:t>типами </a:t>
            </a:r>
            <a:r>
              <a:rPr lang="ru-RU" sz="2600" dirty="0"/>
              <a:t>политик </a:t>
            </a:r>
            <a:r>
              <a:rPr lang="ru-RU" sz="2600" dirty="0" smtClean="0"/>
              <a:t>безопасности, различают </a:t>
            </a:r>
            <a:r>
              <a:rPr lang="ru-RU" sz="2600" dirty="0"/>
              <a:t>следующие типы моделей безопасности (моделей </a:t>
            </a:r>
            <a:r>
              <a:rPr lang="ru-RU" sz="2600" dirty="0" smtClean="0"/>
              <a:t>разграничения </a:t>
            </a:r>
            <a:r>
              <a:rPr lang="ru-RU" sz="2600" dirty="0"/>
              <a:t>доступа): </a:t>
            </a:r>
          </a:p>
          <a:p>
            <a:pPr marL="1260475" indent="-457200">
              <a:buFont typeface="Wingdings" panose="05000000000000000000" pitchFamily="2" charset="2"/>
              <a:buChar char="Ø"/>
            </a:pPr>
            <a:r>
              <a:rPr lang="ru-RU" sz="2600" b="1" i="1" dirty="0" smtClean="0"/>
              <a:t>дискреционные модели; </a:t>
            </a:r>
            <a:endParaRPr lang="ru-RU" sz="2600" b="1" i="1" dirty="0"/>
          </a:p>
          <a:p>
            <a:pPr marL="1260475" indent="-457200">
              <a:buFont typeface="Wingdings" panose="05000000000000000000" pitchFamily="2" charset="2"/>
              <a:buChar char="Ø"/>
            </a:pPr>
            <a:r>
              <a:rPr lang="ru-RU" sz="2600" b="1" i="1" dirty="0" smtClean="0"/>
              <a:t>мандатные модели;</a:t>
            </a:r>
            <a:endParaRPr lang="ru-RU" sz="2600" b="1" i="1" dirty="0"/>
          </a:p>
          <a:p>
            <a:pPr marL="1260475" indent="-457200">
              <a:buFont typeface="Wingdings" panose="05000000000000000000" pitchFamily="2" charset="2"/>
              <a:buChar char="Ø"/>
            </a:pPr>
            <a:r>
              <a:rPr lang="ru-RU" sz="2600" b="1" i="1" dirty="0" smtClean="0"/>
              <a:t>ролевые модели;</a:t>
            </a:r>
            <a:endParaRPr lang="ru-RU" sz="2600" b="1" i="1" dirty="0"/>
          </a:p>
          <a:p>
            <a:pPr marL="1260475" indent="-457200">
              <a:buFont typeface="Wingdings" panose="05000000000000000000" pitchFamily="2" charset="2"/>
              <a:buChar char="Ø"/>
            </a:pPr>
            <a:r>
              <a:rPr lang="ru-RU" sz="2600" b="1" i="1" dirty="0" smtClean="0"/>
              <a:t>модели безопасности информационных потоков;</a:t>
            </a:r>
            <a:endParaRPr lang="ru-RU" sz="2600" b="1" dirty="0"/>
          </a:p>
          <a:p>
            <a:pPr marL="1260475" indent="-457200">
              <a:buFont typeface="Wingdings" panose="05000000000000000000" pitchFamily="2" charset="2"/>
              <a:buChar char="Ø"/>
            </a:pPr>
            <a:r>
              <a:rPr lang="ru-RU" sz="2600" b="1" i="1" dirty="0" smtClean="0"/>
              <a:t>модели </a:t>
            </a:r>
            <a:r>
              <a:rPr lang="ru-RU" sz="2600" b="1" i="1" dirty="0"/>
              <a:t>изолированной программной среды</a:t>
            </a:r>
            <a:r>
              <a:rPr lang="ru-RU" sz="2600" dirty="0"/>
              <a:t>.</a:t>
            </a:r>
          </a:p>
          <a:p>
            <a:pPr marL="136525" indent="0">
              <a:buNone/>
            </a:pPr>
            <a:endParaRPr lang="ru-RU" sz="2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929096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Дискреционные модели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Наибольшее </a:t>
            </a:r>
            <a:r>
              <a:rPr lang="ru-RU" dirty="0"/>
              <a:t>развитие и применение получили дискреционные модели контроля доступа (</a:t>
            </a:r>
            <a:r>
              <a:rPr lang="ru-RU" dirty="0" err="1"/>
              <a:t>Discretionary</a:t>
            </a:r>
            <a:r>
              <a:rPr lang="ru-RU" dirty="0"/>
              <a:t> </a:t>
            </a:r>
            <a:r>
              <a:rPr lang="ru-RU" dirty="0" err="1"/>
              <a:t>Access</a:t>
            </a:r>
            <a:r>
              <a:rPr lang="ru-RU" dirty="0"/>
              <a:t> </a:t>
            </a:r>
            <a:r>
              <a:rPr lang="ru-RU" dirty="0" err="1"/>
              <a:t>Control</a:t>
            </a:r>
            <a:r>
              <a:rPr lang="ru-RU" dirty="0"/>
              <a:t> – DAC), основанные на матрице </a:t>
            </a:r>
            <a:r>
              <a:rPr lang="ru-RU" dirty="0" smtClean="0"/>
              <a:t>доступа. </a:t>
            </a:r>
          </a:p>
          <a:p>
            <a:r>
              <a:rPr lang="ru-RU" dirty="0"/>
              <a:t>В </a:t>
            </a:r>
            <a:r>
              <a:rPr lang="ru-RU" dirty="0" smtClean="0"/>
              <a:t>дискреционных </a:t>
            </a:r>
            <a:r>
              <a:rPr lang="ru-RU" dirty="0"/>
              <a:t>моделях область безопасного доступа строится как прямоугольная матрица (таблица), строки которой соответствуют субъектам доступа, столбцы объектам доступа, а в ячейках матрицы записываются разрешенные операции соответствующего субъекта над соответствующим объектом. </a:t>
            </a:r>
            <a:endParaRPr lang="ru-RU" dirty="0" smtClean="0"/>
          </a:p>
          <a:p>
            <a:r>
              <a:rPr lang="ru-RU" dirty="0"/>
              <a:t>По принципу организации </a:t>
            </a:r>
            <a:r>
              <a:rPr lang="ru-RU" dirty="0" smtClean="0"/>
              <a:t>матрицы </a:t>
            </a:r>
            <a:r>
              <a:rPr lang="ru-RU" dirty="0"/>
              <a:t>доступа </a:t>
            </a:r>
            <a:r>
              <a:rPr lang="ru-RU" dirty="0" smtClean="0"/>
              <a:t>в </a:t>
            </a:r>
            <a:r>
              <a:rPr lang="ru-RU" dirty="0"/>
              <a:t>реальных системах используются два подхода – </a:t>
            </a:r>
            <a:r>
              <a:rPr lang="ru-RU" b="1" i="1" dirty="0"/>
              <a:t>централизованный </a:t>
            </a:r>
            <a:r>
              <a:rPr lang="ru-RU" dirty="0"/>
              <a:t>и </a:t>
            </a:r>
            <a:r>
              <a:rPr lang="ru-RU" b="1" i="1" dirty="0"/>
              <a:t>распределенный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309690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Централизованный подход к МД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 </a:t>
            </a:r>
            <a:r>
              <a:rPr lang="ru-RU" i="1" dirty="0"/>
              <a:t>централизованном</a:t>
            </a:r>
            <a:r>
              <a:rPr lang="ru-RU" dirty="0"/>
              <a:t> подходе матрица доступа создается как отдельный самостоятельный объект с особым порядком размещения и доступа к нему. </a:t>
            </a:r>
            <a:endParaRPr lang="ru-RU" dirty="0" smtClean="0"/>
          </a:p>
          <a:p>
            <a:r>
              <a:rPr lang="ru-RU" dirty="0" smtClean="0"/>
              <a:t>Количество </a:t>
            </a:r>
            <a:r>
              <a:rPr lang="ru-RU" dirty="0"/>
              <a:t>объектов доступа и порождаемых пользователями субъектов доступа в реальных КС может достигать очень больших величин, и, кроме того, подвержено динамическому изменению. </a:t>
            </a:r>
            <a:endParaRPr lang="ru-RU" dirty="0" smtClean="0"/>
          </a:p>
          <a:p>
            <a:r>
              <a:rPr lang="ru-RU" dirty="0" smtClean="0"/>
              <a:t>Поэтому </a:t>
            </a:r>
            <a:r>
              <a:rPr lang="ru-RU" dirty="0"/>
              <a:t>при централизованном подходе в большинстве систем строки матрицы доступа характеризуют не субъектов, а непосредственно самих пользователей и их группы, зарегистрированные для работы в системе.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054973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Централизованный подход к МД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556792"/>
            <a:ext cx="8820472" cy="4708525"/>
          </a:xfrm>
        </p:spPr>
        <p:txBody>
          <a:bodyPr/>
          <a:lstStyle/>
          <a:p>
            <a:r>
              <a:rPr lang="ru-RU" dirty="0"/>
              <a:t>Для уменьшения количества столбцов матрицы, объекты доступа КС могут </a:t>
            </a:r>
            <a:r>
              <a:rPr lang="ru-RU" dirty="0" err="1" smtClean="0"/>
              <a:t>агрегатироваться</a:t>
            </a:r>
            <a:r>
              <a:rPr lang="ru-RU" dirty="0" smtClean="0"/>
              <a:t> </a:t>
            </a:r>
            <a:r>
              <a:rPr lang="ru-RU" dirty="0"/>
              <a:t>в две группы – группу объектов, доступ к которым не ограничен (т. е. разрешен </a:t>
            </a:r>
            <a:r>
              <a:rPr lang="ru-RU" dirty="0" smtClean="0"/>
              <a:t>всем пользователям по </a:t>
            </a:r>
            <a:r>
              <a:rPr lang="ru-RU" dirty="0"/>
              <a:t>любым операциям), и группу </a:t>
            </a:r>
            <a:r>
              <a:rPr lang="ru-RU" dirty="0" smtClean="0"/>
              <a:t>объектов, собственно, </a:t>
            </a:r>
            <a:r>
              <a:rPr lang="ru-RU" dirty="0"/>
              <a:t>дискреционного </a:t>
            </a:r>
            <a:r>
              <a:rPr lang="ru-RU" dirty="0" smtClean="0"/>
              <a:t>доступа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Соответственно</a:t>
            </a:r>
            <a:r>
              <a:rPr lang="ru-RU" dirty="0"/>
              <a:t>, в матрице доступа представляются права пользователей только к объектам второй группы, что позволяет существенно уменьшить ее размерность. </a:t>
            </a:r>
            <a:endParaRPr lang="ru-RU" dirty="0" smtClean="0"/>
          </a:p>
          <a:p>
            <a:r>
              <a:rPr lang="ru-RU" dirty="0" smtClean="0"/>
              <a:t>Наличие </a:t>
            </a:r>
            <a:r>
              <a:rPr lang="ru-RU" dirty="0"/>
              <a:t>или создание в матрице доступа столбца </a:t>
            </a:r>
            <a:r>
              <a:rPr lang="ru-RU" dirty="0" smtClean="0"/>
              <a:t>(строки) для </a:t>
            </a:r>
            <a:r>
              <a:rPr lang="ru-RU" dirty="0"/>
              <a:t>какого-либо объекта фактически означает его регистрацию в системе </a:t>
            </a:r>
            <a:r>
              <a:rPr lang="ru-RU" dirty="0" smtClean="0"/>
              <a:t>дискреционного </a:t>
            </a:r>
            <a:r>
              <a:rPr lang="ru-RU" dirty="0"/>
              <a:t>доступа с соответствующими правами </a:t>
            </a:r>
            <a:r>
              <a:rPr lang="ru-RU" dirty="0" smtClean="0"/>
              <a:t>соответствующих </a:t>
            </a:r>
            <a:r>
              <a:rPr lang="ru-RU" dirty="0"/>
              <a:t>пользователей.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743847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Матрица доступа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11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40" y="1268760"/>
            <a:ext cx="8325925" cy="490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9653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Пример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матрицы доступа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6" name="Содержимое 5"/>
          <p:cNvGraphicFramePr>
            <a:graphicFrameLocks noGrp="1"/>
          </p:cNvGraphicFramePr>
          <p:nvPr>
            <p:ph idx="1"/>
          </p:nvPr>
        </p:nvGraphicFramePr>
        <p:xfrm>
          <a:off x="357158" y="1928802"/>
          <a:ext cx="8501089" cy="2286018"/>
        </p:xfrm>
        <a:graphic>
          <a:graphicData uri="http://schemas.openxmlformats.org/drawingml/2006/table">
            <a:tbl>
              <a:tblPr/>
              <a:tblGrid>
                <a:gridCol w="1810334"/>
                <a:gridCol w="1338151"/>
                <a:gridCol w="1338151"/>
                <a:gridCol w="1338151"/>
                <a:gridCol w="1338151"/>
                <a:gridCol w="1338151"/>
              </a:tblGrid>
              <a:tr h="381003">
                <a:tc rowSpan="2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b="1" kern="0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1" kern="0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/>
                          <a:cs typeface="Times New Roman"/>
                        </a:rPr>
                        <a:t>Пользователи</a:t>
                      </a:r>
                      <a:endParaRPr lang="ru-RU" sz="2000" b="1" kern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40000"/>
                            <a:lumOff val="6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40000"/>
                            <a:lumOff val="6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 gridSpan="5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/>
                          <a:cs typeface="Times New Roman"/>
                        </a:rPr>
                        <a:t>Таблицы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40000"/>
                            <a:lumOff val="6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40000"/>
                            <a:lumOff val="6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8100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40000"/>
                            <a:lumOff val="6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40000"/>
                            <a:lumOff val="6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40000"/>
                            <a:lumOff val="6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40000"/>
                            <a:lumOff val="6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40000"/>
                            <a:lumOff val="6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40000"/>
                            <a:lumOff val="6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40000"/>
                            <a:lumOff val="6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40000"/>
                            <a:lumOff val="6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40000"/>
                            <a:lumOff val="6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40000"/>
                            <a:lumOff val="6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</a:tr>
              <a:tr h="38100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/>
                          <a:cs typeface="Times New Roman"/>
                        </a:rPr>
                        <a:t>Иванов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20000"/>
                            <a:lumOff val="8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/>
                          <a:cs typeface="Times New Roman"/>
                        </a:rPr>
                        <a:t>Ч, М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20000"/>
                            <a:lumOff val="8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000" b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20000"/>
                            <a:lumOff val="8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000" b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20000"/>
                            <a:lumOff val="8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000" b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20000"/>
                            <a:lumOff val="8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000" b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20000"/>
                            <a:lumOff val="8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</a:tr>
              <a:tr h="38100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/>
                          <a:cs typeface="Times New Roman"/>
                        </a:rPr>
                        <a:t>Петров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20000"/>
                            <a:lumOff val="8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/>
                          <a:cs typeface="Times New Roman"/>
                        </a:rPr>
                        <a:t>Ч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20000"/>
                            <a:lumOff val="8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/>
                          <a:cs typeface="Times New Roman"/>
                        </a:rPr>
                        <a:t>Ч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20000"/>
                            <a:lumOff val="8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/>
                          <a:cs typeface="Times New Roman"/>
                        </a:rPr>
                        <a:t>Ч, М, С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20000"/>
                            <a:lumOff val="8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/>
                          <a:cs typeface="Times New Roman"/>
                        </a:rPr>
                        <a:t>Ч, М, С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20000"/>
                            <a:lumOff val="8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/>
                          <a:cs typeface="Times New Roman"/>
                        </a:rPr>
                        <a:t>Ч, М, С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20000"/>
                            <a:lumOff val="8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</a:tr>
              <a:tr h="38100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/>
                          <a:cs typeface="Times New Roman"/>
                        </a:rPr>
                        <a:t>Сидоров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20000"/>
                            <a:lumOff val="8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/>
                          <a:cs typeface="Times New Roman"/>
                        </a:rPr>
                        <a:t>Ч, М, С, У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20000"/>
                            <a:lumOff val="8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/>
                          <a:cs typeface="Times New Roman"/>
                        </a:rPr>
                        <a:t>Ч, М, С, У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20000"/>
                            <a:lumOff val="8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0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20000"/>
                            <a:lumOff val="8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0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20000"/>
                            <a:lumOff val="8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0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20000"/>
                            <a:lumOff val="8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</a:tr>
              <a:tr h="38100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/>
                          <a:cs typeface="Times New Roman"/>
                        </a:rPr>
                        <a:t>Михайлов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20000"/>
                            <a:lumOff val="8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/>
                          <a:cs typeface="Times New Roman"/>
                        </a:rPr>
                        <a:t>Ч, М, С, У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20000"/>
                            <a:lumOff val="8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/>
                          <a:cs typeface="Times New Roman"/>
                        </a:rPr>
                        <a:t>Ч, М, С, У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20000"/>
                            <a:lumOff val="8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/>
                          <a:cs typeface="Times New Roman"/>
                        </a:rPr>
                        <a:t>Ч, М, С, У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20000"/>
                            <a:lumOff val="8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/>
                          <a:cs typeface="Times New Roman"/>
                        </a:rPr>
                        <a:t>Ч, М, С, У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20000"/>
                            <a:lumOff val="8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/>
                          <a:cs typeface="Times New Roman"/>
                        </a:rPr>
                        <a:t>Ч, М, С, У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20000"/>
                            <a:lumOff val="8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20000"/>
                            <a:lumOff val="8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20000"/>
                            <a:lumOff val="8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</a:tr>
            </a:tbl>
          </a:graphicData>
        </a:graphic>
      </p:graphicFrame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>
          <a:xfrm>
            <a:off x="7924800" y="6357958"/>
            <a:ext cx="762000" cy="365125"/>
          </a:xfrm>
        </p:spPr>
        <p:txBody>
          <a:bodyPr/>
          <a:lstStyle/>
          <a:p>
            <a:pPr>
              <a:defRPr/>
            </a:pPr>
            <a:fld id="{70DB0770-22FC-475D-BB2A-17BC0D87DB46}" type="slidenum">
              <a:rPr lang="ru-RU" sz="2400" smtClean="0"/>
              <a:pPr>
                <a:defRPr/>
              </a:pPr>
              <a:t>12</a:t>
            </a:fld>
            <a:endParaRPr lang="ru-RU" sz="2400" dirty="0"/>
          </a:p>
        </p:txBody>
      </p:sp>
      <p:sp>
        <p:nvSpPr>
          <p:cNvPr id="57345" name="Rectangle 1"/>
          <p:cNvSpPr>
            <a:spLocks noChangeArrowheads="1"/>
          </p:cNvSpPr>
          <p:nvPr/>
        </p:nvSpPr>
        <p:spPr bwMode="auto">
          <a:xfrm>
            <a:off x="0" y="4329122"/>
            <a:ext cx="2801151" cy="178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1" i="0" u="none" strike="noStrike" cap="none" normalizeH="0" baseline="0" dirty="0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Times New Roman" pitchFamily="18" charset="0"/>
                <a:cs typeface="Arial" pitchFamily="34" charset="0"/>
              </a:rPr>
              <a:t>Виды доступа:</a:t>
            </a:r>
            <a:endParaRPr kumimoji="0" lang="ru-RU" sz="2200" b="0" i="0" u="none" strike="noStrike" cap="none" normalizeH="0" baseline="0" dirty="0" smtClean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cs typeface="Arial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Times New Roman" pitchFamily="18" charset="0"/>
                <a:cs typeface="Arial" pitchFamily="34" charset="0"/>
              </a:rPr>
              <a:t>Ч – чтение</a:t>
            </a:r>
            <a:endParaRPr kumimoji="0" lang="ru-RU" sz="2200" b="0" i="0" u="none" strike="noStrike" cap="none" normalizeH="0" baseline="0" dirty="0" smtClean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cs typeface="Arial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Times New Roman" pitchFamily="18" charset="0"/>
                <a:cs typeface="Arial" pitchFamily="34" charset="0"/>
              </a:rPr>
              <a:t>М – модификация</a:t>
            </a:r>
            <a:endParaRPr kumimoji="0" lang="ru-RU" sz="2200" b="0" i="0" u="none" strike="noStrike" cap="none" normalizeH="0" baseline="0" dirty="0" smtClean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cs typeface="Arial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Times New Roman" pitchFamily="18" charset="0"/>
                <a:cs typeface="Arial" pitchFamily="34" charset="0"/>
              </a:rPr>
              <a:t>С – создание</a:t>
            </a:r>
            <a:endParaRPr kumimoji="0" lang="ru-RU" sz="2200" b="0" i="0" u="none" strike="noStrike" cap="none" normalizeH="0" baseline="0" dirty="0" smtClean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cs typeface="Arial" pitchFamily="34" charset="0"/>
            </a:endParaRPr>
          </a:p>
          <a:p>
            <a:pPr lvl="0" indent="450850" algn="just" eaLnBrk="0" hangingPunct="0"/>
            <a:r>
              <a:rPr kumimoji="0" lang="ru-RU" sz="2200" b="0" i="0" u="none" strike="noStrike" cap="none" normalizeH="0" baseline="0" dirty="0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Times New Roman" pitchFamily="18" charset="0"/>
                <a:cs typeface="Arial" pitchFamily="34" charset="0"/>
              </a:rPr>
              <a:t>У – удаление</a:t>
            </a:r>
            <a:endParaRPr kumimoji="0" lang="ru-RU" sz="2200" b="0" i="0" u="none" strike="noStrike" cap="none" normalizeH="0" baseline="0" dirty="0" smtClean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561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Распределенный подход к МД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199" y="1448780"/>
            <a:ext cx="8363273" cy="4708525"/>
          </a:xfrm>
        </p:spPr>
        <p:txBody>
          <a:bodyPr/>
          <a:lstStyle/>
          <a:p>
            <a:r>
              <a:rPr lang="ru-RU" dirty="0"/>
              <a:t>При </a:t>
            </a:r>
            <a:r>
              <a:rPr lang="ru-RU" i="1" dirty="0"/>
              <a:t>распределенном</a:t>
            </a:r>
            <a:r>
              <a:rPr lang="ru-RU" dirty="0"/>
              <a:t> подходе матрица доступа как отдельный объект не создается, а </a:t>
            </a:r>
            <a:r>
              <a:rPr lang="ru-RU" dirty="0" smtClean="0"/>
              <a:t>представляется: </a:t>
            </a:r>
            <a:r>
              <a:rPr lang="ru-RU" dirty="0"/>
              <a:t>или </a:t>
            </a:r>
            <a:r>
              <a:rPr lang="ru-RU" dirty="0" smtClean="0"/>
              <a:t>т. н. "</a:t>
            </a:r>
            <a:r>
              <a:rPr lang="ru-RU" dirty="0"/>
              <a:t>списками доступа", распределенными по объектам системы, или </a:t>
            </a:r>
            <a:r>
              <a:rPr lang="ru-RU" dirty="0" smtClean="0"/>
              <a:t>т. н. "списками </a:t>
            </a:r>
            <a:r>
              <a:rPr lang="ru-RU" dirty="0"/>
              <a:t>возможностей", распределенными по субъектам доступа.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первом случае каждый объект системы, помимо идентифицирующих характеристик, наделяется еще своеобразной биркой, </a:t>
            </a:r>
            <a:r>
              <a:rPr lang="ru-RU" dirty="0" smtClean="0"/>
              <a:t>представляющей</a:t>
            </a:r>
            <a:r>
              <a:rPr lang="ru-RU" dirty="0"/>
              <a:t>, по сути, соответствующий столбец матрицы доступа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/>
              <a:t>Во втором случае своеобразную бирку с перечнем разрешенных для доступа объектов (по сути, строку матрицы доступа) получает каждый субъект при своей инициализации.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97665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Создание и изменение МД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500174"/>
            <a:ext cx="8229600" cy="4708525"/>
          </a:xfrm>
        </p:spPr>
        <p:txBody>
          <a:bodyPr anchor="ctr" anchorCtr="0"/>
          <a:lstStyle/>
          <a:p>
            <a:r>
              <a:rPr lang="ru-RU" sz="2800" dirty="0"/>
              <a:t>И централизованный, и распределенный принцип организации матрицы доступа имеет свои преимущества и недостатки. </a:t>
            </a:r>
          </a:p>
          <a:p>
            <a:r>
              <a:rPr lang="ru-RU" sz="2800" dirty="0" smtClean="0"/>
              <a:t>По </a:t>
            </a:r>
            <a:r>
              <a:rPr lang="ru-RU" sz="2800" i="1" dirty="0"/>
              <a:t>механизму создания и изменения </a:t>
            </a:r>
            <a:r>
              <a:rPr lang="ru-RU" sz="2800" dirty="0"/>
              <a:t>матрицы доступа, т. е</a:t>
            </a:r>
            <a:r>
              <a:rPr lang="ru-RU" sz="2800" dirty="0" smtClean="0"/>
              <a:t>., фактически </a:t>
            </a:r>
            <a:r>
              <a:rPr lang="ru-RU" sz="2800" dirty="0"/>
              <a:t>по принципу управления доступом, выделяются также два подхода:</a:t>
            </a:r>
          </a:p>
          <a:p>
            <a:pPr marL="1352550" lvl="0" indent="-361950">
              <a:buFont typeface="Wingdings" panose="05000000000000000000" pitchFamily="2" charset="2"/>
              <a:buChar char="Ø"/>
            </a:pPr>
            <a:r>
              <a:rPr lang="ru-RU" sz="2800" b="1" i="1" dirty="0"/>
              <a:t>принудительное управление доступом</a:t>
            </a:r>
            <a:r>
              <a:rPr lang="ru-RU" sz="2800" i="1" dirty="0"/>
              <a:t>;</a:t>
            </a:r>
          </a:p>
          <a:p>
            <a:pPr marL="1352550" lvl="0" indent="-361950">
              <a:buFont typeface="Wingdings" panose="05000000000000000000" pitchFamily="2" charset="2"/>
              <a:buChar char="Ø"/>
            </a:pPr>
            <a:r>
              <a:rPr lang="ru-RU" sz="2800" b="1" i="1" dirty="0"/>
              <a:t>добровольное управление доступом</a:t>
            </a:r>
            <a:r>
              <a:rPr lang="ru-RU" sz="2800" i="1" dirty="0"/>
              <a:t>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z="2400" smtClean="0"/>
              <a:pPr>
                <a:defRPr/>
              </a:pPr>
              <a:t>14</a:t>
            </a:fld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247713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 smtClean="0">
                <a:solidFill>
                  <a:schemeClr val="accent1">
                    <a:lumMod val="75000"/>
                  </a:schemeClr>
                </a:solidFill>
              </a:rPr>
              <a:t>Принудительное управление доступом </a:t>
            </a:r>
            <a:endParaRPr lang="ru-RU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5192" y="1628800"/>
            <a:ext cx="8507288" cy="4708525"/>
          </a:xfrm>
        </p:spPr>
        <p:txBody>
          <a:bodyPr anchor="ctr" anchorCtr="0"/>
          <a:lstStyle/>
          <a:p>
            <a:pPr>
              <a:buClrTx/>
            </a:pPr>
            <a:r>
              <a:rPr lang="ru-RU" sz="25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Принудительное управление доступом </a:t>
            </a:r>
            <a:r>
              <a:rPr lang="ru-RU" sz="2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(ПУД) предусматривает единое централизованное администрирование доступом. Для этого в ИС выделяется специальный доверенный субъект (администратор), который (и только он) определяет разрешения на доступ всех остальных субъектов к объектам ИС. </a:t>
            </a:r>
          </a:p>
          <a:p>
            <a:pPr>
              <a:buClrTx/>
            </a:pPr>
            <a:r>
              <a:rPr lang="ru-RU" sz="2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ПУД обеспечивает более жесткое</a:t>
            </a:r>
            <a:r>
              <a:rPr lang="ru-RU" sz="25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централизованное управление доступом, но является менее гибким и менее точным в плане настройки системы разграничения доступа на потребности и полномочия пользователей.</a:t>
            </a:r>
            <a:endParaRPr lang="ru-RU" sz="2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z="2400" smtClean="0"/>
              <a:pPr>
                <a:defRPr/>
              </a:pPr>
              <a:t>15</a:t>
            </a:fld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44660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 smtClean="0">
                <a:solidFill>
                  <a:schemeClr val="accent1">
                    <a:lumMod val="75000"/>
                  </a:schemeClr>
                </a:solidFill>
              </a:rPr>
              <a:t>Добровольное управление доступом</a:t>
            </a:r>
            <a:r>
              <a:rPr lang="ru-RU" sz="4000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ru-RU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649433"/>
            <a:ext cx="8640960" cy="4708525"/>
          </a:xfrm>
        </p:spPr>
        <p:txBody>
          <a:bodyPr/>
          <a:lstStyle/>
          <a:p>
            <a:pPr marL="536575" indent="-441325">
              <a:spcBef>
                <a:spcPts val="0"/>
              </a:spcBef>
            </a:pPr>
            <a:r>
              <a:rPr lang="ru-RU" sz="2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Принцип </a:t>
            </a:r>
            <a:r>
              <a:rPr lang="ru-RU" sz="25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добровольного управлении доступом </a:t>
            </a:r>
            <a:r>
              <a:rPr lang="ru-RU" sz="2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(ДУД)</a:t>
            </a:r>
            <a:r>
              <a:rPr lang="ru-RU" sz="25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основывается на парадигме </a:t>
            </a:r>
            <a:r>
              <a:rPr lang="ru-RU" sz="25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«владения» объектами. </a:t>
            </a:r>
            <a:r>
              <a:rPr lang="ru-RU" sz="2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Владельцами</a:t>
            </a:r>
            <a:r>
              <a:rPr lang="ru-RU" sz="25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объектов являются пользователи, которые создали эти объекты или получили права владения ими. </a:t>
            </a:r>
          </a:p>
          <a:p>
            <a:pPr marL="536575" indent="-441325">
              <a:spcBef>
                <a:spcPts val="0"/>
              </a:spcBef>
            </a:pPr>
            <a:r>
              <a:rPr lang="ru-RU" sz="2500" dirty="0"/>
              <a:t>Тем самым, в дополнение к основным положениям субъектно-объектной модели вводится специальное отображение множества объектов на множество субъектов доступа, называемое владением, ставящее в каждый фиксированный момент времени каждому объекту системы подмножество субъектов доступа, инициализированных пользователем-владельцем объекта</a:t>
            </a:r>
            <a:r>
              <a:rPr lang="ru-RU" sz="2500" dirty="0" smtClean="0"/>
              <a:t>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z="2400" smtClean="0"/>
              <a:pPr>
                <a:defRPr/>
              </a:pPr>
              <a:t>16</a:t>
            </a:fld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27135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Добровольное управление доступом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i="1" dirty="0"/>
              <a:t>Правило.</a:t>
            </a:r>
            <a:r>
              <a:rPr lang="ru-RU" dirty="0"/>
              <a:t> При ДУД  права доступа к объекту определяют их владельцы. </a:t>
            </a:r>
          </a:p>
          <a:p>
            <a:r>
              <a:rPr lang="ru-RU" dirty="0"/>
              <a:t>Из данного правила следует, что заполнение и изменение ячеек матрицы доступа осуществляют субъекты пользователей-владельцев соответствующих объектов.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большинстве систем права владения объектами могут передаваться.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результате при добровольном управлении доступом реализуется полностью децентрализованный принцип организации и управления процессом разграничения доступа.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740536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Добровольное управление доступом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28800"/>
            <a:ext cx="8496944" cy="4643859"/>
          </a:xfrm>
        </p:spPr>
        <p:txBody>
          <a:bodyPr/>
          <a:lstStyle/>
          <a:p>
            <a:r>
              <a:rPr lang="ru-RU" dirty="0" smtClean="0"/>
              <a:t>ДУД  обеспечивает большую гибкость настройки системы разграничения доступа, но затрудняет общий контроль и аудит состояния безопасности данных в системе.</a:t>
            </a:r>
          </a:p>
          <a:p>
            <a:r>
              <a:rPr lang="ru-RU" dirty="0" smtClean="0"/>
              <a:t>ДУД ориентировано на те системы, в которых количество объектов доступа является значительным или неопределенным. В этом случае перенос процесса управления доступом на владельцев объектов уменьшает общую мощность множества объектов управления, разделяя его на  подмножества объектов управления. </a:t>
            </a:r>
          </a:p>
          <a:p>
            <a:r>
              <a:rPr lang="ru-RU" dirty="0"/>
              <a:t>На практике может применяться комбинированный способ управления </a:t>
            </a:r>
            <a:r>
              <a:rPr lang="ru-RU" dirty="0" smtClean="0"/>
              <a:t>доступом, сочетающий полномочия на доступ между администратором ИС и владельцами объектами.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9344863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Достоинства и недостатки дискреционной модели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i="1" dirty="0"/>
              <a:t>Достоинством </a:t>
            </a:r>
            <a:r>
              <a:rPr lang="ru-RU" i="1" dirty="0" smtClean="0"/>
              <a:t>ДМБ </a:t>
            </a:r>
            <a:r>
              <a:rPr lang="ru-RU" dirty="0" smtClean="0"/>
              <a:t>является </a:t>
            </a:r>
            <a:r>
              <a:rPr lang="ru-RU" dirty="0"/>
              <a:t>относительно простая реализация соответствующих механизмов защиты. Этим обусловлен тот факт, что большинство </a:t>
            </a:r>
            <a:r>
              <a:rPr lang="ru-RU" dirty="0" smtClean="0"/>
              <a:t>ИС в </a:t>
            </a:r>
            <a:r>
              <a:rPr lang="ru-RU" dirty="0"/>
              <a:t>настоящее время </a:t>
            </a:r>
            <a:r>
              <a:rPr lang="ru-RU" dirty="0" smtClean="0"/>
              <a:t>обеспечивают </a:t>
            </a:r>
            <a:r>
              <a:rPr lang="ru-RU" dirty="0"/>
              <a:t>выполнение положений именно данной модели безопасности.</a:t>
            </a:r>
            <a:endParaRPr lang="ru-RU" dirty="0" smtClean="0"/>
          </a:p>
          <a:p>
            <a:r>
              <a:rPr lang="ru-RU" i="1" dirty="0" smtClean="0"/>
              <a:t>Недостатком ДМБ</a:t>
            </a:r>
            <a:r>
              <a:rPr lang="ru-RU" dirty="0" smtClean="0"/>
              <a:t> является ее статичность. Она не </a:t>
            </a:r>
            <a:r>
              <a:rPr lang="ru-RU" dirty="0"/>
              <a:t>учитывает динамику изменений состояния </a:t>
            </a:r>
            <a:r>
              <a:rPr lang="ru-RU" dirty="0" smtClean="0"/>
              <a:t>ИС</a:t>
            </a:r>
            <a:r>
              <a:rPr lang="ru-RU" dirty="0"/>
              <a:t>, не накладывает ограничений на состояния системы. Кроме этого, при использовании дискреционной политики безопасности возникает вопрос – определения правил распространения прав доступа </a:t>
            </a:r>
            <a:r>
              <a:rPr lang="ru-RU" dirty="0" smtClean="0"/>
              <a:t>и </a:t>
            </a:r>
            <a:r>
              <a:rPr lang="ru-RU" dirty="0"/>
              <a:t>анализа их влияния на безопасность </a:t>
            </a:r>
            <a:r>
              <a:rPr lang="ru-RU" dirty="0" smtClean="0"/>
              <a:t>ИС</a:t>
            </a:r>
            <a:r>
              <a:rPr lang="ru-RU" dirty="0"/>
              <a:t>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1158211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Недостатки ДМБ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03775"/>
            <a:ext cx="8229600" cy="4708525"/>
          </a:xfrm>
        </p:spPr>
        <p:txBody>
          <a:bodyPr/>
          <a:lstStyle/>
          <a:p>
            <a:r>
              <a:rPr lang="ru-RU" dirty="0"/>
              <a:t>Во многих </a:t>
            </a:r>
            <a:r>
              <a:rPr lang="ru-RU" dirty="0" smtClean="0"/>
              <a:t>ИС </a:t>
            </a:r>
            <a:r>
              <a:rPr lang="ru-RU" dirty="0"/>
              <a:t>право владения объектом его прежним владельцем может быть передано другому пользователю. Кроме того в ОС декомпозиция системы на субъекты и объекты может меняться в различные моменты </a:t>
            </a:r>
            <a:r>
              <a:rPr lang="ru-RU" dirty="0" smtClean="0"/>
              <a:t>времени. </a:t>
            </a:r>
            <a:endParaRPr lang="ru-RU" dirty="0"/>
          </a:p>
          <a:p>
            <a:r>
              <a:rPr lang="ru-RU" dirty="0"/>
              <a:t>В результате матрица доступа </a:t>
            </a:r>
            <a:r>
              <a:rPr lang="ru-RU" dirty="0" smtClean="0"/>
              <a:t>имеет </a:t>
            </a:r>
            <a:r>
              <a:rPr lang="ru-RU" dirty="0"/>
              <a:t>динамический </a:t>
            </a:r>
            <a:r>
              <a:rPr lang="ru-RU" dirty="0" smtClean="0"/>
              <a:t>характер. Права </a:t>
            </a:r>
            <a:r>
              <a:rPr lang="ru-RU" dirty="0"/>
              <a:t>доступа в таких системах могут "гулять", распространяться по субъектам системы.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этом случае возникает проблема самого понятия безопасности в смысле главного метода ее обеспечения – разграничения доступа, и требуется исследование условий и процессов распространения прав доступа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10800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 ДМБ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u="sng" dirty="0"/>
              <a:t>В общем случае, при использовании ДМБ перед монитором безопасности ИС стоит алгоритмически неразрешимая задача: проверить – приведут ли его действия к нарушению безопасности или нет. </a:t>
            </a:r>
          </a:p>
          <a:p>
            <a:r>
              <a:rPr lang="ru-RU" dirty="0"/>
              <a:t>В теоретическом плане впервые данная проблема была исследована </a:t>
            </a:r>
            <a:r>
              <a:rPr lang="ru-RU" dirty="0" err="1"/>
              <a:t>Харрисоном</a:t>
            </a:r>
            <a:r>
              <a:rPr lang="ru-RU" dirty="0"/>
              <a:t>, </a:t>
            </a:r>
            <a:r>
              <a:rPr lang="ru-RU" dirty="0" err="1"/>
              <a:t>Руззо</a:t>
            </a:r>
            <a:r>
              <a:rPr lang="ru-RU" dirty="0"/>
              <a:t> и Ульманом, которые для этого разработали специальную формальную модель дискреционного доступа, названную по их именам,  сокращенно модель  ХРУ (англ. – HRU).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343282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Модель </a:t>
            </a:r>
            <a:r>
              <a:rPr lang="ru-RU" dirty="0" err="1" smtClean="0"/>
              <a:t>Харисона</a:t>
            </a:r>
            <a:r>
              <a:rPr lang="ru-RU" dirty="0" smtClean="0"/>
              <a:t>-</a:t>
            </a:r>
            <a:r>
              <a:rPr lang="ru-RU" dirty="0" err="1" smtClean="0"/>
              <a:t>Руззо</a:t>
            </a:r>
            <a:r>
              <a:rPr lang="ru-RU" dirty="0" smtClean="0"/>
              <a:t>-Ульмана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6525" indent="0">
              <a:buNone/>
            </a:pPr>
            <a:r>
              <a:rPr lang="ru-RU" dirty="0"/>
              <a:t>1. </a:t>
            </a:r>
            <a:r>
              <a:rPr lang="ru-RU" dirty="0" smtClean="0"/>
              <a:t>КС </a:t>
            </a:r>
            <a:r>
              <a:rPr lang="ru-RU" dirty="0"/>
              <a:t>представляется тройкой сущностей:</a:t>
            </a:r>
          </a:p>
          <a:p>
            <a:pPr marL="1085850" indent="-190500">
              <a:buFont typeface="Wingdings" panose="05000000000000000000" pitchFamily="2" charset="2"/>
              <a:buChar char="§"/>
            </a:pPr>
            <a:r>
              <a:rPr lang="ru-RU" dirty="0" smtClean="0"/>
              <a:t>множеством </a:t>
            </a:r>
            <a:r>
              <a:rPr lang="ru-RU" dirty="0"/>
              <a:t>исходных объектов </a:t>
            </a:r>
            <a:r>
              <a:rPr lang="ru-RU" b="1" i="1" dirty="0"/>
              <a:t>O</a:t>
            </a:r>
            <a:r>
              <a:rPr lang="ru-RU" i="1" dirty="0"/>
              <a:t> </a:t>
            </a:r>
            <a:r>
              <a:rPr lang="ru-RU" dirty="0"/>
              <a:t>= (</a:t>
            </a:r>
            <a:r>
              <a:rPr lang="ru-RU" i="1" dirty="0"/>
              <a:t>o</a:t>
            </a:r>
            <a:r>
              <a:rPr lang="ru-RU" baseline="-25000" dirty="0"/>
              <a:t>1</a:t>
            </a:r>
            <a:r>
              <a:rPr lang="ru-RU" dirty="0"/>
              <a:t>, </a:t>
            </a:r>
            <a:r>
              <a:rPr lang="ru-RU" i="1" dirty="0"/>
              <a:t>o</a:t>
            </a:r>
            <a:r>
              <a:rPr lang="ru-RU" baseline="-25000" dirty="0"/>
              <a:t>2</a:t>
            </a:r>
            <a:r>
              <a:rPr lang="ru-RU" dirty="0"/>
              <a:t>, …, </a:t>
            </a:r>
            <a:r>
              <a:rPr lang="ru-RU" i="1" dirty="0" err="1"/>
              <a:t>o</a:t>
            </a:r>
            <a:r>
              <a:rPr lang="ru-RU" i="1" baseline="-25000" dirty="0" err="1"/>
              <a:t>M</a:t>
            </a:r>
            <a:r>
              <a:rPr lang="ru-RU" dirty="0"/>
              <a:t>);</a:t>
            </a:r>
          </a:p>
          <a:p>
            <a:pPr marL="1085850" indent="-190500">
              <a:buFont typeface="Wingdings" panose="05000000000000000000" pitchFamily="2" charset="2"/>
              <a:buChar char="§"/>
            </a:pPr>
            <a:r>
              <a:rPr lang="ru-RU" dirty="0" smtClean="0"/>
              <a:t>множеством </a:t>
            </a:r>
            <a:r>
              <a:rPr lang="ru-RU" dirty="0"/>
              <a:t>исходных субъектов </a:t>
            </a:r>
            <a:r>
              <a:rPr lang="ru-RU" b="1" i="1" dirty="0"/>
              <a:t>S</a:t>
            </a:r>
            <a:r>
              <a:rPr lang="ru-RU" dirty="0"/>
              <a:t> = (</a:t>
            </a:r>
            <a:r>
              <a:rPr lang="ru-RU" i="1" dirty="0"/>
              <a:t>s</a:t>
            </a:r>
            <a:r>
              <a:rPr lang="ru-RU" baseline="-25000" dirty="0"/>
              <a:t>1</a:t>
            </a:r>
            <a:r>
              <a:rPr lang="ru-RU" dirty="0"/>
              <a:t>, </a:t>
            </a:r>
            <a:r>
              <a:rPr lang="ru-RU" i="1" dirty="0"/>
              <a:t>s</a:t>
            </a:r>
            <a:r>
              <a:rPr lang="ru-RU" baseline="-25000" dirty="0"/>
              <a:t>2</a:t>
            </a:r>
            <a:r>
              <a:rPr lang="ru-RU" dirty="0"/>
              <a:t>, …, </a:t>
            </a:r>
            <a:r>
              <a:rPr lang="ru-RU" i="1" dirty="0" err="1"/>
              <a:t>s</a:t>
            </a:r>
            <a:r>
              <a:rPr lang="ru-RU" i="1" baseline="-25000" dirty="0" err="1"/>
              <a:t>N</a:t>
            </a:r>
            <a:r>
              <a:rPr lang="ru-RU" dirty="0"/>
              <a:t>) , при этом </a:t>
            </a:r>
            <a:r>
              <a:rPr lang="ru-RU" b="1" i="1" dirty="0"/>
              <a:t>S</a:t>
            </a:r>
            <a:r>
              <a:rPr lang="ru-RU" i="1" dirty="0"/>
              <a:t> </a:t>
            </a:r>
            <a:r>
              <a:rPr lang="ru-RU" dirty="0"/>
              <a:t>⊆ </a:t>
            </a:r>
            <a:r>
              <a:rPr lang="ru-RU" b="1" i="1" dirty="0"/>
              <a:t>O</a:t>
            </a:r>
            <a:r>
              <a:rPr lang="ru-RU" dirty="0"/>
              <a:t>;</a:t>
            </a:r>
          </a:p>
          <a:p>
            <a:pPr marL="1085850" indent="-190500">
              <a:buFont typeface="Wingdings" panose="05000000000000000000" pitchFamily="2" charset="2"/>
              <a:buChar char="§"/>
            </a:pPr>
            <a:r>
              <a:rPr lang="ru-RU" dirty="0" smtClean="0"/>
              <a:t>матрицей </a:t>
            </a:r>
            <a:r>
              <a:rPr lang="ru-RU" dirty="0"/>
              <a:t>доступа </a:t>
            </a:r>
            <a:r>
              <a:rPr lang="ru-RU" b="1" dirty="0"/>
              <a:t>A</a:t>
            </a:r>
            <a:r>
              <a:rPr lang="ru-RU" dirty="0"/>
              <a:t>, каждая ячейка которой специфицирует права доступа к объектам из конечного набора прав доступа </a:t>
            </a:r>
            <a:r>
              <a:rPr lang="ru-RU" b="1" i="1" dirty="0"/>
              <a:t>R</a:t>
            </a:r>
            <a:r>
              <a:rPr lang="ru-RU" dirty="0"/>
              <a:t> = (</a:t>
            </a:r>
            <a:r>
              <a:rPr lang="ru-RU" i="1" dirty="0"/>
              <a:t>r</a:t>
            </a:r>
            <a:r>
              <a:rPr lang="ru-RU" baseline="-25000" dirty="0"/>
              <a:t>1</a:t>
            </a:r>
            <a:r>
              <a:rPr lang="ru-RU" dirty="0"/>
              <a:t>, </a:t>
            </a:r>
            <a:r>
              <a:rPr lang="ru-RU" i="1" dirty="0"/>
              <a:t>r</a:t>
            </a:r>
            <a:r>
              <a:rPr lang="ru-RU" baseline="-25000" dirty="0"/>
              <a:t>2</a:t>
            </a:r>
            <a:r>
              <a:rPr lang="ru-RU" dirty="0"/>
              <a:t>, …, </a:t>
            </a:r>
            <a:r>
              <a:rPr lang="ru-RU" i="1" dirty="0" err="1"/>
              <a:t>r</a:t>
            </a:r>
            <a:r>
              <a:rPr lang="ru-RU" i="1" baseline="-25000" dirty="0" err="1"/>
              <a:t>K</a:t>
            </a:r>
            <a:r>
              <a:rPr lang="ru-RU" dirty="0"/>
              <a:t>), т. е. </a:t>
            </a:r>
            <a:r>
              <a:rPr lang="ru-RU" b="1" dirty="0"/>
              <a:t>A</a:t>
            </a:r>
            <a:r>
              <a:rPr lang="ru-RU" dirty="0"/>
              <a:t>[</a:t>
            </a:r>
            <a:r>
              <a:rPr lang="ru-RU" i="1" dirty="0"/>
              <a:t>s</a:t>
            </a:r>
            <a:r>
              <a:rPr lang="ru-RU" dirty="0"/>
              <a:t>, </a:t>
            </a:r>
            <a:r>
              <a:rPr lang="ru-RU" i="1" dirty="0"/>
              <a:t>o</a:t>
            </a:r>
            <a:r>
              <a:rPr lang="ru-RU" dirty="0"/>
              <a:t>] ⊆ </a:t>
            </a:r>
            <a:r>
              <a:rPr lang="ru-RU" b="1" i="1" dirty="0"/>
              <a:t>R</a:t>
            </a:r>
            <a:r>
              <a:rPr lang="ru-RU" dirty="0"/>
              <a:t>.</a:t>
            </a:r>
          </a:p>
          <a:p>
            <a:r>
              <a:rPr lang="ru-RU" dirty="0"/>
              <a:t>Условие </a:t>
            </a:r>
            <a:r>
              <a:rPr lang="ru-RU" b="1" i="1" dirty="0"/>
              <a:t>S</a:t>
            </a:r>
            <a:r>
              <a:rPr lang="ru-RU" dirty="0"/>
              <a:t> ⊆ </a:t>
            </a:r>
            <a:r>
              <a:rPr lang="ru-RU" b="1" i="1" dirty="0"/>
              <a:t>O</a:t>
            </a:r>
            <a:r>
              <a:rPr lang="ru-RU" dirty="0"/>
              <a:t> означает, что в модели HRU субъекты доступа считаются "активизированными" состояниями некоторого подмножества объектов системы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8931886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Модель </a:t>
            </a:r>
            <a:r>
              <a:rPr lang="ru-RU" dirty="0" err="1"/>
              <a:t>Харисона</a:t>
            </a:r>
            <a:r>
              <a:rPr lang="ru-RU" dirty="0"/>
              <a:t>-</a:t>
            </a:r>
            <a:r>
              <a:rPr lang="ru-RU" dirty="0" err="1"/>
              <a:t>Руззо</a:t>
            </a:r>
            <a:r>
              <a:rPr lang="ru-RU" dirty="0"/>
              <a:t>-Ульмана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6525" indent="0">
              <a:buNone/>
            </a:pPr>
            <a:r>
              <a:rPr lang="ru-RU" dirty="0"/>
              <a:t>2. Функционирование системы рассматривается </a:t>
            </a:r>
            <a:r>
              <a:rPr lang="ru-RU" dirty="0" smtClean="0"/>
              <a:t>с </a:t>
            </a:r>
            <a:r>
              <a:rPr lang="ru-RU" dirty="0"/>
              <a:t>точки зрения изменений в матрице доступа </a:t>
            </a:r>
            <a:r>
              <a:rPr lang="ru-RU" b="1" dirty="0"/>
              <a:t>A</a:t>
            </a:r>
            <a:r>
              <a:rPr lang="ru-RU" dirty="0"/>
              <a:t>, </a:t>
            </a:r>
            <a:r>
              <a:rPr lang="ru-RU" dirty="0" smtClean="0"/>
              <a:t>которые </a:t>
            </a:r>
            <a:r>
              <a:rPr lang="ru-RU" dirty="0"/>
              <a:t>определяются шестью примитивными операторами </a:t>
            </a:r>
            <a:r>
              <a:rPr lang="ru-RU" b="1" i="1" dirty="0" err="1"/>
              <a:t>O</a:t>
            </a:r>
            <a:r>
              <a:rPr lang="ru-RU" i="1" baseline="-25000" dirty="0" err="1"/>
              <a:t>p</a:t>
            </a:r>
            <a:r>
              <a:rPr lang="ru-RU" dirty="0"/>
              <a:t>:</a:t>
            </a:r>
          </a:p>
          <a:p>
            <a:pPr indent="-185738">
              <a:buFont typeface="Wingdings" panose="05000000000000000000" pitchFamily="2" charset="2"/>
              <a:buChar char="§"/>
            </a:pPr>
            <a:r>
              <a:rPr lang="ru-RU" dirty="0" err="1" smtClean="0"/>
              <a:t>Enter</a:t>
            </a:r>
            <a:r>
              <a:rPr lang="ru-RU" dirty="0" smtClean="0"/>
              <a:t> </a:t>
            </a:r>
            <a:r>
              <a:rPr lang="ru-RU" i="1" dirty="0"/>
              <a:t>r</a:t>
            </a:r>
            <a:r>
              <a:rPr lang="ru-RU" dirty="0"/>
              <a:t> </a:t>
            </a:r>
            <a:r>
              <a:rPr lang="ru-RU" dirty="0" err="1"/>
              <a:t>into</a:t>
            </a:r>
            <a:r>
              <a:rPr lang="ru-RU" dirty="0"/>
              <a:t> </a:t>
            </a:r>
            <a:r>
              <a:rPr lang="ru-RU" b="1" dirty="0"/>
              <a:t>A</a:t>
            </a:r>
            <a:r>
              <a:rPr lang="ru-RU" dirty="0"/>
              <a:t>[</a:t>
            </a:r>
            <a:r>
              <a:rPr lang="ru-RU" i="1" dirty="0"/>
              <a:t>s</a:t>
            </a:r>
            <a:r>
              <a:rPr lang="ru-RU" dirty="0"/>
              <a:t>, </a:t>
            </a:r>
            <a:r>
              <a:rPr lang="ru-RU" i="1" dirty="0"/>
              <a:t>o</a:t>
            </a:r>
            <a:r>
              <a:rPr lang="ru-RU" dirty="0"/>
              <a:t>] – ввести право </a:t>
            </a:r>
            <a:r>
              <a:rPr lang="ru-RU" i="1" dirty="0"/>
              <a:t>r</a:t>
            </a:r>
            <a:r>
              <a:rPr lang="ru-RU" dirty="0"/>
              <a:t> в ячейку </a:t>
            </a:r>
            <a:r>
              <a:rPr lang="ru-RU" b="1" dirty="0"/>
              <a:t>A</a:t>
            </a:r>
            <a:r>
              <a:rPr lang="ru-RU" dirty="0"/>
              <a:t>[</a:t>
            </a:r>
            <a:r>
              <a:rPr lang="ru-RU" i="1" dirty="0"/>
              <a:t>s</a:t>
            </a:r>
            <a:r>
              <a:rPr lang="ru-RU" dirty="0"/>
              <a:t>, </a:t>
            </a:r>
            <a:r>
              <a:rPr lang="ru-RU" i="1" dirty="0"/>
              <a:t>o</a:t>
            </a:r>
            <a:r>
              <a:rPr lang="ru-RU" dirty="0"/>
              <a:t>];</a:t>
            </a:r>
          </a:p>
          <a:p>
            <a:pPr indent="-185738">
              <a:buFont typeface="Wingdings" panose="05000000000000000000" pitchFamily="2" charset="2"/>
              <a:buChar char="§"/>
            </a:pPr>
            <a:r>
              <a:rPr lang="ru-RU" dirty="0" err="1" smtClean="0"/>
              <a:t>Delete</a:t>
            </a:r>
            <a:r>
              <a:rPr lang="ru-RU" dirty="0" smtClean="0"/>
              <a:t> </a:t>
            </a:r>
            <a:r>
              <a:rPr lang="ru-RU" i="1" dirty="0"/>
              <a:t>r</a:t>
            </a:r>
            <a:r>
              <a:rPr lang="ru-RU" dirty="0"/>
              <a:t> </a:t>
            </a:r>
            <a:r>
              <a:rPr lang="ru-RU" dirty="0" err="1"/>
              <a:t>from</a:t>
            </a:r>
            <a:r>
              <a:rPr lang="ru-RU" dirty="0"/>
              <a:t> </a:t>
            </a:r>
            <a:r>
              <a:rPr lang="ru-RU" b="1" dirty="0"/>
              <a:t>A</a:t>
            </a:r>
            <a:r>
              <a:rPr lang="ru-RU" dirty="0"/>
              <a:t>[</a:t>
            </a:r>
            <a:r>
              <a:rPr lang="ru-RU" i="1" dirty="0"/>
              <a:t>s</a:t>
            </a:r>
            <a:r>
              <a:rPr lang="ru-RU" dirty="0"/>
              <a:t>, </a:t>
            </a:r>
            <a:r>
              <a:rPr lang="ru-RU" i="1" dirty="0"/>
              <a:t>o</a:t>
            </a:r>
            <a:r>
              <a:rPr lang="ru-RU" dirty="0"/>
              <a:t>] – удалить право </a:t>
            </a:r>
            <a:r>
              <a:rPr lang="ru-RU" i="1" dirty="0"/>
              <a:t>r</a:t>
            </a:r>
            <a:r>
              <a:rPr lang="ru-RU" dirty="0"/>
              <a:t> из ячейки </a:t>
            </a:r>
            <a:r>
              <a:rPr lang="ru-RU" b="1" dirty="0"/>
              <a:t>A</a:t>
            </a:r>
            <a:r>
              <a:rPr lang="ru-RU" dirty="0"/>
              <a:t>[</a:t>
            </a:r>
            <a:r>
              <a:rPr lang="ru-RU" i="1" dirty="0"/>
              <a:t>s</a:t>
            </a:r>
            <a:r>
              <a:rPr lang="ru-RU" dirty="0"/>
              <a:t>, </a:t>
            </a:r>
            <a:r>
              <a:rPr lang="ru-RU" i="1" dirty="0"/>
              <a:t>o</a:t>
            </a:r>
            <a:r>
              <a:rPr lang="ru-RU" dirty="0"/>
              <a:t>];</a:t>
            </a:r>
          </a:p>
          <a:p>
            <a:pPr indent="-185738">
              <a:buFont typeface="Wingdings" panose="05000000000000000000" pitchFamily="2" charset="2"/>
              <a:buChar char="§"/>
            </a:pPr>
            <a:r>
              <a:rPr lang="ru-RU" dirty="0" err="1" smtClean="0"/>
              <a:t>Create</a:t>
            </a:r>
            <a:r>
              <a:rPr lang="ru-RU" dirty="0" smtClean="0"/>
              <a:t> </a:t>
            </a:r>
            <a:r>
              <a:rPr lang="ru-RU" dirty="0" err="1"/>
              <a:t>subject</a:t>
            </a:r>
            <a:r>
              <a:rPr lang="ru-RU" dirty="0"/>
              <a:t> </a:t>
            </a:r>
            <a:r>
              <a:rPr lang="ru-RU" i="1" dirty="0"/>
              <a:t>s</a:t>
            </a:r>
            <a:r>
              <a:rPr lang="ru-RU" dirty="0"/>
              <a:t> – создать субъект </a:t>
            </a:r>
            <a:r>
              <a:rPr lang="ru-RU" i="1" dirty="0"/>
              <a:t>s</a:t>
            </a:r>
            <a:r>
              <a:rPr lang="ru-RU" dirty="0"/>
              <a:t> (т. е. новую строку матрицы </a:t>
            </a:r>
            <a:r>
              <a:rPr lang="ru-RU" b="1" dirty="0"/>
              <a:t>A</a:t>
            </a:r>
            <a:r>
              <a:rPr lang="ru-RU" dirty="0"/>
              <a:t>);</a:t>
            </a:r>
          </a:p>
          <a:p>
            <a:pPr indent="-185738">
              <a:buFont typeface="Wingdings" panose="05000000000000000000" pitchFamily="2" charset="2"/>
              <a:buChar char="§"/>
            </a:pPr>
            <a:r>
              <a:rPr lang="ru-RU" dirty="0" err="1" smtClean="0"/>
              <a:t>Create</a:t>
            </a:r>
            <a:r>
              <a:rPr lang="ru-RU" dirty="0" smtClean="0"/>
              <a:t> </a:t>
            </a:r>
            <a:r>
              <a:rPr lang="ru-RU" dirty="0" err="1"/>
              <a:t>object</a:t>
            </a:r>
            <a:r>
              <a:rPr lang="ru-RU" dirty="0"/>
              <a:t> </a:t>
            </a:r>
            <a:r>
              <a:rPr lang="ru-RU" i="1" dirty="0"/>
              <a:t>o</a:t>
            </a:r>
            <a:r>
              <a:rPr lang="ru-RU" dirty="0"/>
              <a:t> – создать объект </a:t>
            </a:r>
            <a:r>
              <a:rPr lang="ru-RU" i="1" dirty="0"/>
              <a:t>o</a:t>
            </a:r>
            <a:r>
              <a:rPr lang="ru-RU" dirty="0"/>
              <a:t> (т. е. новый столбец матрицы </a:t>
            </a:r>
            <a:r>
              <a:rPr lang="ru-RU" b="1" dirty="0"/>
              <a:t>A</a:t>
            </a:r>
            <a:r>
              <a:rPr lang="ru-RU" dirty="0"/>
              <a:t>);</a:t>
            </a:r>
          </a:p>
          <a:p>
            <a:pPr indent="-185738">
              <a:buFont typeface="Wingdings" panose="05000000000000000000" pitchFamily="2" charset="2"/>
              <a:buChar char="§"/>
            </a:pPr>
            <a:r>
              <a:rPr lang="ru-RU" dirty="0" err="1" smtClean="0"/>
              <a:t>Destroy</a:t>
            </a:r>
            <a:r>
              <a:rPr lang="ru-RU" dirty="0" smtClean="0"/>
              <a:t> </a:t>
            </a:r>
            <a:r>
              <a:rPr lang="ru-RU" dirty="0" err="1"/>
              <a:t>subject</a:t>
            </a:r>
            <a:r>
              <a:rPr lang="ru-RU" dirty="0"/>
              <a:t> </a:t>
            </a:r>
            <a:r>
              <a:rPr lang="ru-RU" i="1" dirty="0"/>
              <a:t>s</a:t>
            </a:r>
            <a:r>
              <a:rPr lang="ru-RU" dirty="0"/>
              <a:t> – уничтожить субъект </a:t>
            </a:r>
            <a:r>
              <a:rPr lang="ru-RU" i="1" dirty="0"/>
              <a:t>s</a:t>
            </a:r>
            <a:r>
              <a:rPr lang="ru-RU" dirty="0"/>
              <a:t>;</a:t>
            </a:r>
          </a:p>
          <a:p>
            <a:pPr indent="-185738">
              <a:buFont typeface="Wingdings" panose="05000000000000000000" pitchFamily="2" charset="2"/>
              <a:buChar char="§"/>
            </a:pPr>
            <a:r>
              <a:rPr lang="ru-RU" dirty="0" err="1" smtClean="0"/>
              <a:t>Destroy</a:t>
            </a:r>
            <a:r>
              <a:rPr lang="ru-RU" dirty="0" smtClean="0"/>
              <a:t> </a:t>
            </a:r>
            <a:r>
              <a:rPr lang="ru-RU" dirty="0" err="1"/>
              <a:t>object</a:t>
            </a:r>
            <a:r>
              <a:rPr lang="ru-RU" dirty="0"/>
              <a:t> </a:t>
            </a:r>
            <a:r>
              <a:rPr lang="ru-RU" i="1" dirty="0"/>
              <a:t>o</a:t>
            </a:r>
            <a:r>
              <a:rPr lang="ru-RU" dirty="0"/>
              <a:t> – уничтожить объект </a:t>
            </a:r>
            <a:r>
              <a:rPr lang="ru-RU" i="1" dirty="0"/>
              <a:t>o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0699420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Модель </a:t>
            </a:r>
            <a:r>
              <a:rPr lang="ru-RU" dirty="0" err="1"/>
              <a:t>Харисона</a:t>
            </a:r>
            <a:r>
              <a:rPr lang="ru-RU" dirty="0"/>
              <a:t>-</a:t>
            </a:r>
            <a:r>
              <a:rPr lang="ru-RU" dirty="0" err="1"/>
              <a:t>Руззо</a:t>
            </a:r>
            <a:r>
              <a:rPr lang="ru-RU" dirty="0"/>
              <a:t>-Ульмана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6525" indent="0">
              <a:buNone/>
            </a:pPr>
            <a:r>
              <a:rPr lang="ru-RU" dirty="0"/>
              <a:t>3. Безопасность системы определяется некоторыми условиями на начальное состояние системы </a:t>
            </a:r>
            <a:r>
              <a:rPr lang="ru-RU" b="1" dirty="0"/>
              <a:t>Q</a:t>
            </a:r>
            <a:r>
              <a:rPr lang="ru-RU" baseline="-25000" dirty="0"/>
              <a:t>0</a:t>
            </a:r>
            <a:r>
              <a:rPr lang="ru-RU" dirty="0"/>
              <a:t>, а также особенностями системы команд α. </a:t>
            </a:r>
          </a:p>
          <a:p>
            <a:r>
              <a:rPr lang="ru-RU" b="1" i="1" dirty="0" smtClean="0"/>
              <a:t>Критерий </a:t>
            </a:r>
            <a:r>
              <a:rPr lang="ru-RU" b="1" i="1" dirty="0"/>
              <a:t>безопасности в модели </a:t>
            </a:r>
            <a:r>
              <a:rPr lang="ru-RU" b="1" dirty="0" smtClean="0"/>
              <a:t>HRU</a:t>
            </a:r>
            <a:r>
              <a:rPr lang="ru-RU" dirty="0" smtClean="0"/>
              <a:t>: </a:t>
            </a:r>
            <a:r>
              <a:rPr lang="ru-RU" dirty="0"/>
              <a:t>Система является безопасной относительно права </a:t>
            </a:r>
            <a:r>
              <a:rPr lang="ru-RU" i="1" dirty="0"/>
              <a:t>r</a:t>
            </a:r>
            <a:r>
              <a:rPr lang="ru-RU" dirty="0"/>
              <a:t>, если для заданного начального состояния </a:t>
            </a:r>
            <a:r>
              <a:rPr lang="ru-RU" b="1" dirty="0"/>
              <a:t>Q</a:t>
            </a:r>
            <a:r>
              <a:rPr lang="ru-RU" baseline="-25000" dirty="0"/>
              <a:t>0</a:t>
            </a:r>
            <a:r>
              <a:rPr lang="ru-RU" dirty="0"/>
              <a:t> = (</a:t>
            </a:r>
            <a:r>
              <a:rPr lang="ru-RU" b="1" i="1" dirty="0"/>
              <a:t>S</a:t>
            </a:r>
            <a:r>
              <a:rPr lang="ru-RU" baseline="-25000" dirty="0"/>
              <a:t>0</a:t>
            </a:r>
            <a:r>
              <a:rPr lang="ru-RU" dirty="0"/>
              <a:t>,</a:t>
            </a:r>
            <a:r>
              <a:rPr lang="ru-RU" b="1" i="1" dirty="0"/>
              <a:t>O</a:t>
            </a:r>
            <a:r>
              <a:rPr lang="ru-RU" baseline="-25000" dirty="0"/>
              <a:t>0</a:t>
            </a:r>
            <a:r>
              <a:rPr lang="ru-RU" dirty="0"/>
              <a:t>,</a:t>
            </a:r>
            <a:r>
              <a:rPr lang="ru-RU" b="1" dirty="0"/>
              <a:t>A</a:t>
            </a:r>
            <a:r>
              <a:rPr lang="ru-RU" baseline="-25000" dirty="0"/>
              <a:t>0</a:t>
            </a:r>
            <a:r>
              <a:rPr lang="ru-RU" dirty="0"/>
              <a:t>) не существует применимой к </a:t>
            </a:r>
            <a:r>
              <a:rPr lang="ru-RU" b="1" dirty="0"/>
              <a:t>Q</a:t>
            </a:r>
            <a:r>
              <a:rPr lang="ru-RU" baseline="-25000" dirty="0"/>
              <a:t>0</a:t>
            </a:r>
            <a:r>
              <a:rPr lang="ru-RU" dirty="0"/>
              <a:t> последовательности команд, в результате которой право </a:t>
            </a:r>
            <a:r>
              <a:rPr lang="ru-RU" i="1" dirty="0"/>
              <a:t>r</a:t>
            </a:r>
            <a:r>
              <a:rPr lang="ru-RU" dirty="0"/>
              <a:t> будет занесено в ячейку матрицы </a:t>
            </a:r>
            <a:r>
              <a:rPr lang="ru-RU" b="1" dirty="0"/>
              <a:t>A</a:t>
            </a:r>
            <a:r>
              <a:rPr lang="ru-RU" dirty="0"/>
              <a:t>[</a:t>
            </a:r>
            <a:r>
              <a:rPr lang="ru-RU" i="1" dirty="0"/>
              <a:t>s</a:t>
            </a:r>
            <a:r>
              <a:rPr lang="ru-RU" dirty="0"/>
              <a:t>, </a:t>
            </a:r>
            <a:r>
              <a:rPr lang="ru-RU" i="1" dirty="0"/>
              <a:t>o</a:t>
            </a:r>
            <a:r>
              <a:rPr lang="ru-RU" dirty="0"/>
              <a:t>], в которой оно отсутствовало в начальном состоянии </a:t>
            </a:r>
            <a:r>
              <a:rPr lang="ru-RU" b="1" dirty="0"/>
              <a:t>Q</a:t>
            </a:r>
            <a:r>
              <a:rPr lang="ru-RU" baseline="-25000" dirty="0"/>
              <a:t>0</a:t>
            </a:r>
            <a:r>
              <a:rPr lang="ru-RU" dirty="0"/>
              <a:t> 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7581542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Модель </a:t>
            </a:r>
            <a:r>
              <a:rPr lang="ru-RU" dirty="0" err="1"/>
              <a:t>Харисона</a:t>
            </a:r>
            <a:r>
              <a:rPr lang="ru-RU" dirty="0"/>
              <a:t>-</a:t>
            </a:r>
            <a:r>
              <a:rPr lang="ru-RU" dirty="0" err="1"/>
              <a:t>Руззо</a:t>
            </a:r>
            <a:r>
              <a:rPr lang="ru-RU" dirty="0"/>
              <a:t>-Ульмана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Неформально безопасность </a:t>
            </a:r>
            <a:r>
              <a:rPr lang="ru-RU" dirty="0"/>
              <a:t>системы будет определяться тем, возможно или нет в процессе функционирования системы получение некоторым субъектом </a:t>
            </a:r>
            <a:r>
              <a:rPr lang="ru-RU" dirty="0" smtClean="0"/>
              <a:t>определенного права </a:t>
            </a:r>
            <a:r>
              <a:rPr lang="ru-RU" dirty="0"/>
              <a:t>доступа к некоторому объекту, которым он изначально не обладал.</a:t>
            </a:r>
          </a:p>
          <a:p>
            <a:r>
              <a:rPr lang="ru-RU" dirty="0"/>
              <a:t>Для рассмотрения условий, при которых выполняется данный критерий, </a:t>
            </a:r>
            <a:r>
              <a:rPr lang="ru-RU" dirty="0" smtClean="0"/>
              <a:t>авторы HRU ввели </a:t>
            </a:r>
            <a:r>
              <a:rPr lang="ru-RU" dirty="0"/>
              <a:t>понятие </a:t>
            </a:r>
            <a:r>
              <a:rPr lang="ru-RU" i="1" dirty="0"/>
              <a:t>монооперационных </a:t>
            </a:r>
            <a:r>
              <a:rPr lang="ru-RU" i="1" dirty="0" smtClean="0"/>
              <a:t>систем, </a:t>
            </a:r>
            <a:r>
              <a:rPr lang="ru-RU" dirty="0" smtClean="0"/>
              <a:t>в которых каждая </a:t>
            </a:r>
            <a:r>
              <a:rPr lang="ru-RU" dirty="0"/>
              <a:t>команда α выполняет один примитивный </a:t>
            </a:r>
            <a:r>
              <a:rPr lang="ru-RU" dirty="0" smtClean="0"/>
              <a:t>оператор, и представили </a:t>
            </a:r>
            <a:r>
              <a:rPr lang="ru-RU" dirty="0"/>
              <a:t>теорему о существовании алгоритма, который проверяет, является ли исходное состояние монооперационной системы безопасным для данного права </a:t>
            </a:r>
            <a:r>
              <a:rPr lang="ru-RU" i="1" dirty="0"/>
              <a:t>r</a:t>
            </a:r>
            <a:r>
              <a:rPr lang="ru-RU" dirty="0"/>
              <a:t>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2028859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Модель </a:t>
            </a:r>
            <a:r>
              <a:rPr lang="ru-RU" dirty="0" err="1"/>
              <a:t>Харисона</a:t>
            </a:r>
            <a:r>
              <a:rPr lang="ru-RU" dirty="0"/>
              <a:t>-</a:t>
            </a:r>
            <a:r>
              <a:rPr lang="ru-RU" dirty="0" err="1"/>
              <a:t>Руззо</a:t>
            </a:r>
            <a:r>
              <a:rPr lang="ru-RU" dirty="0"/>
              <a:t>-Ульмана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 сожалению, теорема доказывает только само существование проверяющего алгоритма, но не дает каких-либо рекомендаций или других оснований для его разработки и построения</a:t>
            </a:r>
            <a:r>
              <a:rPr lang="ru-RU" dirty="0" smtClean="0"/>
              <a:t>.</a:t>
            </a:r>
          </a:p>
          <a:p>
            <a:r>
              <a:rPr lang="ru-RU" dirty="0" smtClean="0"/>
              <a:t>Вторая </a:t>
            </a:r>
            <a:r>
              <a:rPr lang="ru-RU" dirty="0"/>
              <a:t>теорема </a:t>
            </a:r>
            <a:r>
              <a:rPr lang="ru-RU" dirty="0" smtClean="0"/>
              <a:t>авторов ХРУ гласит</a:t>
            </a:r>
            <a:r>
              <a:rPr lang="ru-RU" dirty="0"/>
              <a:t>, что </a:t>
            </a:r>
            <a:r>
              <a:rPr lang="ru-RU" u="sng" dirty="0"/>
              <a:t>задача определения безопасности для данного права </a:t>
            </a:r>
            <a:r>
              <a:rPr lang="ru-RU" i="1" u="sng" dirty="0"/>
              <a:t>r</a:t>
            </a:r>
            <a:r>
              <a:rPr lang="ru-RU" u="sng" dirty="0"/>
              <a:t> в системах с запросами произвольного вида является алгоритмически неразрешимой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Иными </a:t>
            </a:r>
            <a:r>
              <a:rPr lang="ru-RU" dirty="0"/>
              <a:t>словами теорема утверждает, что поведение систем на основе модели HRU с точки зрения безопасности является непредсказуемым!!!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2121822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Модель </a:t>
            </a:r>
            <a:r>
              <a:rPr lang="ru-RU" dirty="0" err="1"/>
              <a:t>Харисона</a:t>
            </a:r>
            <a:r>
              <a:rPr lang="ru-RU" dirty="0"/>
              <a:t>-</a:t>
            </a:r>
            <a:r>
              <a:rPr lang="ru-RU" dirty="0" err="1"/>
              <a:t>Руззо</a:t>
            </a:r>
            <a:r>
              <a:rPr lang="ru-RU" dirty="0"/>
              <a:t>-Ульмана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Помимо проблем с неопределенностью распространения прав доступа в системах на основе модели HRU была подмечена еще одна серьезная проблема – отсутствие контроля за порождением потоков информации, и, в частности</a:t>
            </a:r>
            <a:r>
              <a:rPr lang="ru-RU" dirty="0" smtClean="0"/>
              <a:t>, – </a:t>
            </a:r>
            <a:r>
              <a:rPr lang="ru-RU" dirty="0"/>
              <a:t>за порождением субъектов, следствием чего могут возникать "троянские" программы.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модели HRU легитимность инициируемых из объектов-источников субъектов доступа никак не контролируется. В результате, злоумышленник может осуществить неправомерный доступ к информации на основе подмены свойств субъектов доступа.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8197168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Другие дискреционные модели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708525"/>
          </a:xfrm>
        </p:spPr>
        <p:txBody>
          <a:bodyPr/>
          <a:lstStyle/>
          <a:p>
            <a:r>
              <a:rPr lang="ru-RU" dirty="0" smtClean="0"/>
              <a:t>Результаты </a:t>
            </a:r>
            <a:r>
              <a:rPr lang="ru-RU" dirty="0"/>
              <a:t>по модели HRU </a:t>
            </a:r>
            <a:r>
              <a:rPr lang="ru-RU" dirty="0" smtClean="0"/>
              <a:t>стимулировали </a:t>
            </a:r>
            <a:r>
              <a:rPr lang="ru-RU" dirty="0"/>
              <a:t>поиски других </a:t>
            </a:r>
            <a:r>
              <a:rPr lang="ru-RU" dirty="0" smtClean="0"/>
              <a:t>подходов </a:t>
            </a:r>
            <a:r>
              <a:rPr lang="ru-RU" dirty="0"/>
              <a:t>к обеспечению проблемы безопасности</a:t>
            </a:r>
            <a:r>
              <a:rPr lang="ru-RU" dirty="0" smtClean="0"/>
              <a:t>.</a:t>
            </a:r>
          </a:p>
          <a:p>
            <a:r>
              <a:rPr lang="ru-RU" dirty="0" smtClean="0"/>
              <a:t>В </a:t>
            </a:r>
            <a:r>
              <a:rPr lang="ru-RU" dirty="0"/>
              <a:t>частности, </a:t>
            </a:r>
            <a:r>
              <a:rPr lang="ru-RU" dirty="0" smtClean="0"/>
              <a:t>для </a:t>
            </a:r>
            <a:r>
              <a:rPr lang="ru-RU" dirty="0"/>
              <a:t>смягчения условий, в которых можно производить формальное доказательство безопасности, а также для введения контроля за порождением объектов </a:t>
            </a:r>
            <a:r>
              <a:rPr lang="ru-RU" dirty="0" smtClean="0"/>
              <a:t>были предложены модели:</a:t>
            </a:r>
          </a:p>
          <a:p>
            <a:pPr marL="1343025" indent="-447675">
              <a:buFont typeface="Wingdings" panose="05000000000000000000" pitchFamily="2" charset="2"/>
              <a:buChar char="Ø"/>
            </a:pPr>
            <a:r>
              <a:rPr lang="ru-RU" b="1" dirty="0" smtClean="0"/>
              <a:t>Типизованной </a:t>
            </a:r>
            <a:r>
              <a:rPr lang="ru-RU" b="1" dirty="0"/>
              <a:t>матрицы </a:t>
            </a:r>
            <a:r>
              <a:rPr lang="ru-RU" b="1" dirty="0" smtClean="0"/>
              <a:t>доступа                                  </a:t>
            </a:r>
            <a:r>
              <a:rPr lang="fr-FR" dirty="0" smtClean="0"/>
              <a:t>(</a:t>
            </a:r>
            <a:r>
              <a:rPr lang="fr-FR" dirty="0" err="1" smtClean="0"/>
              <a:t>модель</a:t>
            </a:r>
            <a:r>
              <a:rPr lang="fr-FR" dirty="0" smtClean="0"/>
              <a:t> </a:t>
            </a:r>
            <a:r>
              <a:rPr lang="fr-FR" dirty="0"/>
              <a:t>Type Access Matrix – TAM</a:t>
            </a:r>
            <a:r>
              <a:rPr lang="fr-FR" dirty="0" smtClean="0"/>
              <a:t>)</a:t>
            </a:r>
            <a:r>
              <a:rPr lang="ru-RU" dirty="0" smtClean="0"/>
              <a:t>;</a:t>
            </a:r>
          </a:p>
          <a:p>
            <a:pPr marL="1343025" indent="-447675">
              <a:buFont typeface="Wingdings" panose="05000000000000000000" pitchFamily="2" charset="2"/>
              <a:buChar char="Ø"/>
            </a:pPr>
            <a:r>
              <a:rPr lang="en-US" b="1" dirty="0" smtClean="0"/>
              <a:t>TAKE-GRANT</a:t>
            </a:r>
            <a:r>
              <a:rPr lang="ru-RU" dirty="0" smtClean="0"/>
              <a:t>.</a:t>
            </a:r>
            <a:r>
              <a:rPr lang="en-US" dirty="0" smtClean="0"/>
              <a:t> </a:t>
            </a:r>
            <a:endParaRPr lang="ru-RU" dirty="0" smtClean="0"/>
          </a:p>
          <a:p>
            <a:r>
              <a:rPr lang="ru-RU" dirty="0" smtClean="0"/>
              <a:t>Однако </a:t>
            </a:r>
            <a:r>
              <a:rPr lang="ru-RU" dirty="0" smtClean="0"/>
              <a:t>и все </a:t>
            </a:r>
            <a:r>
              <a:rPr lang="ru-RU" dirty="0" smtClean="0"/>
              <a:t>эти разновидности </a:t>
            </a:r>
            <a:r>
              <a:rPr lang="ru-RU" dirty="0"/>
              <a:t>дискреционной </a:t>
            </a:r>
            <a:r>
              <a:rPr lang="ru-RU" dirty="0" smtClean="0"/>
              <a:t>модели полностью не устраняют главных ее  недостатков, связанных с сохранением безопасного состояния ИС.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754914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Предпосылки создания мандатной модели безопасности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03775"/>
            <a:ext cx="8525290" cy="4708525"/>
          </a:xfrm>
        </p:spPr>
        <p:txBody>
          <a:bodyPr/>
          <a:lstStyle/>
          <a:p>
            <a:r>
              <a:rPr lang="ru-RU" dirty="0"/>
              <a:t>Система управления безопасностью, организованная на основе </a:t>
            </a:r>
            <a:r>
              <a:rPr lang="ru-RU" dirty="0" smtClean="0"/>
              <a:t>матрицы доступа (МД)  может </a:t>
            </a:r>
            <a:r>
              <a:rPr lang="ru-RU" dirty="0"/>
              <a:t>оказаться уязвимой. Так, для рассмотренного выше примера </a:t>
            </a:r>
            <a:r>
              <a:rPr lang="ru-RU" dirty="0" smtClean="0"/>
              <a:t>МД, </a:t>
            </a:r>
            <a:r>
              <a:rPr lang="ru-RU" dirty="0"/>
              <a:t>если </a:t>
            </a:r>
            <a:r>
              <a:rPr lang="ru-RU" dirty="0" smtClean="0"/>
              <a:t>Иванову удастся </a:t>
            </a:r>
            <a:r>
              <a:rPr lang="ru-RU" dirty="0"/>
              <a:t>выдать себя за Михайлова, то он сможет </a:t>
            </a:r>
            <a:r>
              <a:rPr lang="ru-RU" dirty="0" smtClean="0"/>
              <a:t>получить максимальные полномочия в БД.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29</a:t>
            </a:fld>
            <a:endParaRPr lang="ru-RU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069322"/>
              </p:ext>
            </p:extLst>
          </p:nvPr>
        </p:nvGraphicFramePr>
        <p:xfrm>
          <a:off x="476545" y="3383995"/>
          <a:ext cx="8370931" cy="28803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82616"/>
                <a:gridCol w="1317663"/>
                <a:gridCol w="1317663"/>
                <a:gridCol w="1317663"/>
                <a:gridCol w="1317663"/>
                <a:gridCol w="1317663"/>
              </a:tblGrid>
              <a:tr h="554564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kern="0" dirty="0">
                          <a:effectLst/>
                          <a:latin typeface="+mj-lt"/>
                        </a:rPr>
                        <a:t>Субъекты доступа </a:t>
                      </a:r>
                      <a:endParaRPr lang="ru-RU" sz="2000" b="1" kern="0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</a:endParaRPr>
                    </a:p>
                  </a:txBody>
                  <a:tcPr marL="68580" marR="68580" marT="36195" marB="36195" anchor="ctr"/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+mj-lt"/>
                        </a:rPr>
                        <a:t>Объекты доступа</a:t>
                      </a:r>
                      <a:endParaRPr lang="ru-RU" sz="2000" b="1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</a:endParaRPr>
                    </a:p>
                  </a:txBody>
                  <a:tcPr marL="68580" marR="68580" marT="36195" marB="36195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56977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+mj-lt"/>
                        </a:rPr>
                        <a:t>1</a:t>
                      </a:r>
                      <a:endParaRPr lang="ru-RU" sz="20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36195" marB="3619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+mj-lt"/>
                        </a:rPr>
                        <a:t>2</a:t>
                      </a:r>
                      <a:endParaRPr lang="ru-RU" sz="20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36195" marB="3619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+mj-lt"/>
                        </a:rPr>
                        <a:t>3</a:t>
                      </a:r>
                      <a:endParaRPr lang="ru-RU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36195" marB="3619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+mj-lt"/>
                        </a:rPr>
                        <a:t>4</a:t>
                      </a:r>
                      <a:endParaRPr lang="ru-RU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36195" marB="3619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+mj-lt"/>
                        </a:rPr>
                        <a:t>5</a:t>
                      </a:r>
                      <a:endParaRPr lang="ru-RU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36195" marB="36195" anchor="ctr"/>
                </a:tc>
              </a:tr>
              <a:tr h="4389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+mj-lt"/>
                        </a:rPr>
                        <a:t>Иванов</a:t>
                      </a:r>
                      <a:endParaRPr lang="ru-RU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36195" marB="3619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+mj-lt"/>
                        </a:rPr>
                        <a:t>Ч, М</a:t>
                      </a:r>
                      <a:endParaRPr lang="ru-RU" sz="2000" b="1" dirty="0">
                        <a:solidFill>
                          <a:srgbClr val="000000"/>
                        </a:solidFill>
                        <a:effectLst/>
                        <a:latin typeface="+mj-lt"/>
                        <a:ea typeface="Times New Roman"/>
                      </a:endParaRPr>
                    </a:p>
                  </a:txBody>
                  <a:tcPr marL="68580" marR="68580" marT="36195" marB="3619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+mj-lt"/>
                        </a:rPr>
                        <a:t> </a:t>
                      </a:r>
                      <a:endParaRPr lang="ru-RU" sz="20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36195" marB="3619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+mj-lt"/>
                        </a:rPr>
                        <a:t> </a:t>
                      </a:r>
                      <a:endParaRPr lang="ru-RU" sz="20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36195" marB="3619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+mj-lt"/>
                        </a:rPr>
                        <a:t> </a:t>
                      </a:r>
                      <a:endParaRPr lang="ru-RU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36195" marB="3619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+mj-lt"/>
                        </a:rPr>
                        <a:t> </a:t>
                      </a:r>
                      <a:endParaRPr lang="ru-RU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36195" marB="36195" anchor="ctr"/>
                </a:tc>
              </a:tr>
              <a:tr h="4389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+mj-lt"/>
                        </a:rPr>
                        <a:t>Петров</a:t>
                      </a:r>
                      <a:endParaRPr lang="ru-RU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36195" marB="3619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+mj-lt"/>
                        </a:rPr>
                        <a:t>Ч</a:t>
                      </a:r>
                      <a:endParaRPr lang="ru-RU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36195" marB="3619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+mj-lt"/>
                        </a:rPr>
                        <a:t>Ч</a:t>
                      </a:r>
                      <a:endParaRPr lang="ru-RU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36195" marB="3619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+mj-lt"/>
                        </a:rPr>
                        <a:t>Ч, М, С</a:t>
                      </a:r>
                      <a:endParaRPr lang="ru-RU" sz="20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36195" marB="3619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+mj-lt"/>
                        </a:rPr>
                        <a:t>Ч, М, С</a:t>
                      </a:r>
                      <a:endParaRPr lang="ru-RU" sz="20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36195" marB="3619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+mj-lt"/>
                        </a:rPr>
                        <a:t>Ч, М, С</a:t>
                      </a:r>
                      <a:endParaRPr lang="ru-RU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36195" marB="36195" anchor="ctr"/>
                </a:tc>
              </a:tr>
              <a:tr h="4389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+mj-lt"/>
                        </a:rPr>
                        <a:t>Сидоров</a:t>
                      </a:r>
                      <a:endParaRPr lang="ru-RU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36195" marB="3619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+mj-lt"/>
                        </a:rPr>
                        <a:t>Ч, М, С, У</a:t>
                      </a:r>
                      <a:endParaRPr lang="ru-RU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36195" marB="3619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+mj-lt"/>
                        </a:rPr>
                        <a:t>Ч, М, С, У</a:t>
                      </a:r>
                      <a:endParaRPr lang="ru-RU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36195" marB="3619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+mj-lt"/>
                        </a:rPr>
                        <a:t> </a:t>
                      </a:r>
                      <a:endParaRPr lang="ru-RU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36195" marB="3619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+mj-lt"/>
                        </a:rPr>
                        <a:t> </a:t>
                      </a:r>
                      <a:endParaRPr lang="ru-RU" sz="20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36195" marB="3619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+mj-lt"/>
                        </a:rPr>
                        <a:t> </a:t>
                      </a:r>
                      <a:endParaRPr lang="ru-RU" sz="20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36195" marB="36195" anchor="ctr"/>
                </a:tc>
              </a:tr>
              <a:tr h="4389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+mj-lt"/>
                        </a:rPr>
                        <a:t>Михайлов</a:t>
                      </a:r>
                      <a:endParaRPr lang="ru-RU" sz="20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36195" marB="3619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+mj-lt"/>
                        </a:rPr>
                        <a:t>Ч, М, С, У</a:t>
                      </a:r>
                      <a:endParaRPr lang="ru-RU" sz="20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36195" marB="3619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+mj-lt"/>
                        </a:rPr>
                        <a:t>Ч, М, С, У</a:t>
                      </a:r>
                      <a:endParaRPr lang="ru-RU" sz="20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36195" marB="3619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+mj-lt"/>
                        </a:rPr>
                        <a:t>Ч, М, С, У</a:t>
                      </a:r>
                      <a:endParaRPr lang="ru-RU" sz="20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36195" marB="3619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+mj-lt"/>
                        </a:rPr>
                        <a:t>Ч, М, С, У</a:t>
                      </a:r>
                      <a:endParaRPr lang="ru-RU" sz="20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36195" marB="3619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+mj-lt"/>
                        </a:rPr>
                        <a:t>Ч, М, С, У</a:t>
                      </a:r>
                      <a:endParaRPr lang="ru-RU" sz="20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36195" marB="3619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0560284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Предпосылки создания мандатной модели безопасности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Очевидно, что одноуровневой модели безопасности данных может оказаться недостаточно для обеспечения </a:t>
            </a:r>
            <a:r>
              <a:rPr lang="ru-RU" dirty="0" smtClean="0"/>
              <a:t>надежной защиты </a:t>
            </a:r>
            <a:r>
              <a:rPr lang="ru-RU" dirty="0"/>
              <a:t>от НСД к объектам КС. Необходимы какие-то дополнительные меры, которые бы препятствовали созданию такой ситуации.</a:t>
            </a:r>
          </a:p>
          <a:p>
            <a:r>
              <a:rPr lang="ru-RU" dirty="0"/>
              <a:t>Кроме того, в дискреционных моделях существуют проблемы с контролем распространения прав доступа, и, в особенности, проблема "троянских" программ. </a:t>
            </a:r>
          </a:p>
          <a:p>
            <a:r>
              <a:rPr lang="ru-RU" dirty="0"/>
              <a:t>Исследователи в области моделей безопасности, проанализировали – каким образом подобные проблемы решаются в некомпьютерных сферах и технологиях, в частности, в </a:t>
            </a:r>
            <a:r>
              <a:rPr lang="ru-RU" i="1" dirty="0"/>
              <a:t>секретном делопроизводстве</a:t>
            </a:r>
            <a:r>
              <a:rPr lang="ru-RU" dirty="0"/>
              <a:t>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9576603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Предпосылки создания мандатной модели безопасности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Были </a:t>
            </a:r>
            <a:r>
              <a:rPr lang="ru-RU" dirty="0"/>
              <a:t>проанализированы правила и система назначений, изменений, лишений </a:t>
            </a:r>
            <a:r>
              <a:rPr lang="ru-RU" dirty="0" smtClean="0"/>
              <a:t>допусков </a:t>
            </a:r>
            <a:r>
              <a:rPr lang="ru-RU" dirty="0"/>
              <a:t>сотрудников к работе с секретными документами, правила создания, уничтожения документов, присвоения или изменения грифов их секретности, в том числе и рассекречивания, а также другие особенности работы с секретными документами.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частности было отмечено, что правила получения доступа к документам различаются в зависимости от характера работы с ними – изучение (чтение) или изменение (создание, уничтожение, внесение дополнений, редактирование, т. е. запись в них).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160867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Предпосылки создания мандатной модели безопасности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 этой основе было "выявлено" два основных правила, гарантирующих безопасность</a:t>
            </a:r>
            <a:r>
              <a:rPr lang="ru-RU" dirty="0" smtClean="0"/>
              <a:t>:</a:t>
            </a:r>
          </a:p>
          <a:p>
            <a:r>
              <a:rPr lang="ru-RU" b="1" i="1" dirty="0" smtClean="0"/>
              <a:t>Правило </a:t>
            </a:r>
            <a:r>
              <a:rPr lang="ru-RU" b="1" i="1" dirty="0"/>
              <a:t>1</a:t>
            </a:r>
            <a:r>
              <a:rPr lang="ru-RU" b="1" i="1" dirty="0" smtClean="0"/>
              <a:t>.</a:t>
            </a:r>
            <a:r>
              <a:rPr lang="ru-RU" b="1" dirty="0" smtClean="0"/>
              <a:t> </a:t>
            </a:r>
            <a:r>
              <a:rPr lang="ru-RU" dirty="0" smtClean="0"/>
              <a:t>(</a:t>
            </a:r>
            <a:r>
              <a:rPr lang="ru-RU" dirty="0" err="1"/>
              <a:t>no</a:t>
            </a:r>
            <a:r>
              <a:rPr lang="ru-RU" dirty="0"/>
              <a:t> </a:t>
            </a:r>
            <a:r>
              <a:rPr lang="ru-RU" dirty="0" err="1"/>
              <a:t>read</a:t>
            </a:r>
            <a:r>
              <a:rPr lang="ru-RU" dirty="0"/>
              <a:t> </a:t>
            </a:r>
            <a:r>
              <a:rPr lang="ru-RU" dirty="0" err="1"/>
              <a:t>up</a:t>
            </a:r>
            <a:r>
              <a:rPr lang="ru-RU" dirty="0"/>
              <a:t> (NRU) – нет чтения вверх). Работник не имеет права знакомиться с документом (читать), гриф секретности (уровень безопасности) которого выше его степени допуска (уровня безопасности).</a:t>
            </a:r>
          </a:p>
          <a:p>
            <a:r>
              <a:rPr lang="ru-RU" b="1" i="1" dirty="0"/>
              <a:t>Правило 2</a:t>
            </a:r>
            <a:r>
              <a:rPr lang="ru-RU" b="1" i="1" dirty="0" smtClean="0"/>
              <a:t>. </a:t>
            </a:r>
            <a:r>
              <a:rPr lang="ru-RU" dirty="0" smtClean="0"/>
              <a:t>(</a:t>
            </a:r>
            <a:r>
              <a:rPr lang="ru-RU" dirty="0" err="1"/>
              <a:t>no</a:t>
            </a:r>
            <a:r>
              <a:rPr lang="ru-RU" dirty="0"/>
              <a:t> </a:t>
            </a:r>
            <a:r>
              <a:rPr lang="ru-RU" dirty="0" err="1"/>
              <a:t>write</a:t>
            </a:r>
            <a:r>
              <a:rPr lang="ru-RU" dirty="0"/>
              <a:t> </a:t>
            </a:r>
            <a:r>
              <a:rPr lang="ru-RU" dirty="0" err="1"/>
              <a:t>down</a:t>
            </a:r>
            <a:r>
              <a:rPr lang="ru-RU" dirty="0"/>
              <a:t> (NWD) – нет записи вниз). Работник не имеет права вносить информацию (писать) своего уровня безопасности в документ с более низким уровнем безопасности (с более низким грифом секретности).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929398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/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Модель Белла-</a:t>
            </a:r>
            <a:r>
              <a:rPr lang="ru-R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ЛаПадулы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15235"/>
            <a:ext cx="8229600" cy="3719010"/>
          </a:xfrm>
        </p:spPr>
        <p:txBody>
          <a:bodyPr/>
          <a:lstStyle/>
          <a:p>
            <a:r>
              <a:rPr lang="ru-RU" dirty="0"/>
              <a:t>Первой формальной моделью мандатного доступа является модель, разработанная в 1972–1975 г. г. американскими специалистами – сотрудниками MITRE </a:t>
            </a:r>
            <a:r>
              <a:rPr lang="ru-RU" dirty="0" err="1"/>
              <a:t>Corporation</a:t>
            </a:r>
            <a:r>
              <a:rPr lang="ru-RU" dirty="0"/>
              <a:t> Дэвидом Беллом и Леонардом </a:t>
            </a:r>
            <a:r>
              <a:rPr lang="ru-RU" dirty="0" err="1"/>
              <a:t>ЛаПадулой</a:t>
            </a:r>
            <a:r>
              <a:rPr lang="ru-RU" dirty="0"/>
              <a:t> (D. </a:t>
            </a:r>
            <a:r>
              <a:rPr lang="ru-RU" dirty="0" err="1"/>
              <a:t>Elliott</a:t>
            </a:r>
            <a:r>
              <a:rPr lang="ru-RU" dirty="0"/>
              <a:t> </a:t>
            </a:r>
            <a:r>
              <a:rPr lang="ru-RU" dirty="0" err="1"/>
              <a:t>Bell</a:t>
            </a:r>
            <a:r>
              <a:rPr lang="ru-RU" dirty="0"/>
              <a:t>, </a:t>
            </a:r>
            <a:r>
              <a:rPr lang="ru-RU" dirty="0" err="1"/>
              <a:t>Leonard</a:t>
            </a:r>
            <a:r>
              <a:rPr lang="ru-RU" dirty="0"/>
              <a:t> J. </a:t>
            </a:r>
            <a:r>
              <a:rPr lang="ru-RU" dirty="0" err="1"/>
              <a:t>LaPadula</a:t>
            </a:r>
            <a:r>
              <a:rPr lang="ru-RU" dirty="0"/>
              <a:t>), названная по их именам и сыгравшая огромную методологическую роль в развитии теории компьютерной безопасности.</a:t>
            </a:r>
          </a:p>
          <a:p>
            <a:r>
              <a:rPr lang="ru-RU" dirty="0"/>
              <a:t>Основные положения модели Белла-</a:t>
            </a:r>
            <a:r>
              <a:rPr lang="ru-RU" dirty="0" err="1"/>
              <a:t>ЛаПадулы</a:t>
            </a:r>
            <a:r>
              <a:rPr lang="ru-RU" dirty="0"/>
              <a:t> сводятся к следующему.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6087164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Белла-</a:t>
            </a:r>
            <a:r>
              <a:rPr lang="ru-RU" dirty="0" err="1"/>
              <a:t>ЛаПадулы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493785"/>
            <a:ext cx="8686800" cy="4708525"/>
          </a:xfrm>
        </p:spPr>
        <p:txBody>
          <a:bodyPr/>
          <a:lstStyle/>
          <a:p>
            <a:pPr marL="136525" indent="0">
              <a:buNone/>
            </a:pPr>
            <a:r>
              <a:rPr lang="ru-RU" dirty="0"/>
              <a:t>1. Модель системы </a:t>
            </a:r>
            <a:r>
              <a:rPr lang="ru-RU" b="1" dirty="0"/>
              <a:t>Σ</a:t>
            </a:r>
            <a:r>
              <a:rPr lang="ru-RU" dirty="0"/>
              <a:t>(</a:t>
            </a:r>
            <a:r>
              <a:rPr lang="ru-RU" b="1" i="1" dirty="0"/>
              <a:t>v</a:t>
            </a:r>
            <a:r>
              <a:rPr lang="ru-RU" baseline="-25000" dirty="0"/>
              <a:t>0</a:t>
            </a:r>
            <a:r>
              <a:rPr lang="ru-RU" dirty="0"/>
              <a:t> ,</a:t>
            </a:r>
            <a:r>
              <a:rPr lang="ru-RU" b="1" dirty="0"/>
              <a:t>Q</a:t>
            </a:r>
            <a:r>
              <a:rPr lang="ru-RU" dirty="0"/>
              <a:t>, </a:t>
            </a:r>
            <a:r>
              <a:rPr lang="ru-RU" b="1" i="1" dirty="0"/>
              <a:t>F</a:t>
            </a:r>
            <a:r>
              <a:rPr lang="ru-RU" i="1" baseline="-25000" dirty="0"/>
              <a:t>T</a:t>
            </a:r>
            <a:r>
              <a:rPr lang="ru-RU" dirty="0"/>
              <a:t>) представляется совокупностью:</a:t>
            </a:r>
          </a:p>
          <a:p>
            <a:pPr marL="895350" lvl="0" indent="-266700">
              <a:buFont typeface="Wingdings" panose="05000000000000000000" pitchFamily="2" charset="2"/>
              <a:buChar char="§"/>
            </a:pPr>
            <a:r>
              <a:rPr lang="ru-RU" dirty="0"/>
              <a:t>множества объектов </a:t>
            </a:r>
            <a:r>
              <a:rPr lang="ru-RU" b="1" i="1" dirty="0"/>
              <a:t>O</a:t>
            </a:r>
            <a:r>
              <a:rPr lang="ru-RU" dirty="0"/>
              <a:t> доступа;</a:t>
            </a:r>
          </a:p>
          <a:p>
            <a:pPr marL="895350" lvl="0" indent="-266700">
              <a:buFont typeface="Wingdings" panose="05000000000000000000" pitchFamily="2" charset="2"/>
              <a:buChar char="§"/>
            </a:pPr>
            <a:r>
              <a:rPr lang="ru-RU" dirty="0"/>
              <a:t>множества субъектов </a:t>
            </a:r>
            <a:r>
              <a:rPr lang="ru-RU" b="1" i="1" dirty="0"/>
              <a:t>S</a:t>
            </a:r>
            <a:r>
              <a:rPr lang="ru-RU" dirty="0"/>
              <a:t> доступа;</a:t>
            </a:r>
          </a:p>
          <a:p>
            <a:pPr marL="895350" lvl="0" indent="-266700">
              <a:buFont typeface="Wingdings" panose="05000000000000000000" pitchFamily="2" charset="2"/>
              <a:buChar char="§"/>
            </a:pPr>
            <a:r>
              <a:rPr lang="ru-RU" dirty="0"/>
              <a:t>множества прав доступа </a:t>
            </a:r>
            <a:r>
              <a:rPr lang="ru-RU" b="1" i="1" dirty="0"/>
              <a:t>R </a:t>
            </a:r>
            <a:r>
              <a:rPr lang="ru-RU" dirty="0"/>
              <a:t>(в т. н. "классической" модели Белла-</a:t>
            </a:r>
            <a:r>
              <a:rPr lang="ru-RU" dirty="0" err="1"/>
              <a:t>ЛаПадулы</a:t>
            </a:r>
            <a:r>
              <a:rPr lang="ru-RU" dirty="0"/>
              <a:t>) всего два элемента – </a:t>
            </a:r>
            <a:r>
              <a:rPr lang="ru-RU" i="1" dirty="0" err="1"/>
              <a:t>read</a:t>
            </a:r>
            <a:r>
              <a:rPr lang="ru-RU" i="1" dirty="0"/>
              <a:t>-</a:t>
            </a:r>
            <a:r>
              <a:rPr lang="ru-RU" dirty="0"/>
              <a:t>чтение и </a:t>
            </a:r>
            <a:r>
              <a:rPr lang="ru-RU" i="1" dirty="0" err="1"/>
              <a:t>write</a:t>
            </a:r>
            <a:r>
              <a:rPr lang="ru-RU" i="1" dirty="0"/>
              <a:t>-</a:t>
            </a:r>
            <a:r>
              <a:rPr lang="ru-RU" dirty="0"/>
              <a:t>запись);</a:t>
            </a:r>
          </a:p>
          <a:p>
            <a:pPr marL="895350" lvl="0" indent="-266700">
              <a:buFont typeface="Wingdings" panose="05000000000000000000" pitchFamily="2" charset="2"/>
              <a:buChar char="§"/>
            </a:pPr>
            <a:r>
              <a:rPr lang="ru-RU" dirty="0"/>
              <a:t>матрицы доступа </a:t>
            </a:r>
            <a:r>
              <a:rPr lang="ru-RU" b="1" dirty="0"/>
              <a:t>A</a:t>
            </a:r>
            <a:r>
              <a:rPr lang="ru-RU" dirty="0"/>
              <a:t>[</a:t>
            </a:r>
            <a:r>
              <a:rPr lang="ru-RU" b="1" i="1" dirty="0"/>
              <a:t>s</a:t>
            </a:r>
            <a:r>
              <a:rPr lang="ru-RU" dirty="0"/>
              <a:t>, </a:t>
            </a:r>
            <a:r>
              <a:rPr lang="ru-RU" b="1" i="1" dirty="0"/>
              <a:t>o</a:t>
            </a:r>
            <a:r>
              <a:rPr lang="ru-RU" dirty="0"/>
              <a:t>];</a:t>
            </a:r>
          </a:p>
          <a:p>
            <a:pPr marL="895350" lvl="0" indent="-266700">
              <a:buFont typeface="Wingdings" panose="05000000000000000000" pitchFamily="2" charset="2"/>
              <a:buChar char="§"/>
            </a:pPr>
            <a:r>
              <a:rPr lang="ru-RU" dirty="0"/>
              <a:t>решетки </a:t>
            </a:r>
            <a:r>
              <a:rPr lang="ru-RU" b="1" dirty="0"/>
              <a:t>Λ</a:t>
            </a:r>
            <a:r>
              <a:rPr lang="ru-RU" i="1" baseline="-25000" dirty="0"/>
              <a:t>L</a:t>
            </a:r>
            <a:r>
              <a:rPr lang="ru-RU" dirty="0"/>
              <a:t> уровней безопасности </a:t>
            </a:r>
            <a:r>
              <a:rPr lang="ru-RU" b="1" i="1" dirty="0"/>
              <a:t>L</a:t>
            </a:r>
            <a:r>
              <a:rPr lang="ru-RU" dirty="0"/>
              <a:t> субъектов и объектов системы;</a:t>
            </a:r>
          </a:p>
          <a:p>
            <a:pPr marL="895350" lvl="0" indent="-266700">
              <a:buFont typeface="Wingdings" panose="05000000000000000000" pitchFamily="2" charset="2"/>
              <a:buChar char="§"/>
            </a:pPr>
            <a:r>
              <a:rPr lang="ru-RU" dirty="0"/>
              <a:t>функции </a:t>
            </a:r>
            <a:r>
              <a:rPr lang="ru-RU" b="1" i="1" dirty="0"/>
              <a:t>F</a:t>
            </a:r>
            <a:r>
              <a:rPr lang="ru-RU" i="1" baseline="-25000" dirty="0"/>
              <a:t>L</a:t>
            </a:r>
            <a:r>
              <a:rPr lang="ru-RU" dirty="0"/>
              <a:t>: </a:t>
            </a:r>
            <a:r>
              <a:rPr lang="ru-RU" b="1" i="1" dirty="0"/>
              <a:t>S</a:t>
            </a:r>
            <a:r>
              <a:rPr lang="ru-RU" dirty="0"/>
              <a:t> ∪ </a:t>
            </a:r>
            <a:r>
              <a:rPr lang="ru-RU" b="1" i="1" dirty="0"/>
              <a:t>O</a:t>
            </a:r>
            <a:r>
              <a:rPr lang="ru-RU" dirty="0"/>
              <a:t> → </a:t>
            </a:r>
            <a:r>
              <a:rPr lang="ru-RU" b="1" i="1" dirty="0"/>
              <a:t>L</a:t>
            </a:r>
            <a:r>
              <a:rPr lang="ru-RU" dirty="0"/>
              <a:t>, отображающей элементы множеств </a:t>
            </a:r>
            <a:r>
              <a:rPr lang="ru-RU" b="1" i="1" dirty="0"/>
              <a:t>S</a:t>
            </a:r>
            <a:r>
              <a:rPr lang="ru-RU" dirty="0"/>
              <a:t> и </a:t>
            </a:r>
            <a:r>
              <a:rPr lang="ru-RU" b="1" i="1" dirty="0"/>
              <a:t>O</a:t>
            </a:r>
            <a:r>
              <a:rPr lang="ru-RU" dirty="0"/>
              <a:t> на множество </a:t>
            </a:r>
            <a:r>
              <a:rPr lang="ru-RU" b="1" i="1" dirty="0"/>
              <a:t>L</a:t>
            </a:r>
            <a:r>
              <a:rPr lang="ru-RU" dirty="0"/>
              <a:t>;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1897726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Белла-</a:t>
            </a:r>
            <a:r>
              <a:rPr lang="ru-RU" dirty="0" err="1"/>
              <a:t>ЛаПадулы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45813"/>
            <a:ext cx="8229600" cy="3915435"/>
          </a:xfrm>
        </p:spPr>
        <p:txBody>
          <a:bodyPr/>
          <a:lstStyle/>
          <a:p>
            <a:pPr marL="723900" lvl="0" indent="-266700">
              <a:buFont typeface="Wingdings" panose="05000000000000000000" pitchFamily="2" charset="2"/>
              <a:buChar char="§"/>
            </a:pPr>
            <a:r>
              <a:rPr lang="ru-RU" dirty="0"/>
              <a:t>множества состояний системы </a:t>
            </a:r>
            <a:r>
              <a:rPr lang="ru-RU" b="1" i="1" dirty="0"/>
              <a:t>V</a:t>
            </a:r>
            <a:r>
              <a:rPr lang="ru-RU" dirty="0"/>
              <a:t>, которое определяется множеством упорядоченных пар (</a:t>
            </a:r>
            <a:r>
              <a:rPr lang="ru-RU" b="1" i="1" dirty="0"/>
              <a:t>F</a:t>
            </a:r>
            <a:r>
              <a:rPr lang="ru-RU" i="1" baseline="-25000" dirty="0"/>
              <a:t>L</a:t>
            </a:r>
            <a:r>
              <a:rPr lang="ru-RU" dirty="0"/>
              <a:t>, </a:t>
            </a:r>
            <a:r>
              <a:rPr lang="ru-RU" b="1" dirty="0"/>
              <a:t>A</a:t>
            </a:r>
            <a:r>
              <a:rPr lang="ru-RU" dirty="0"/>
              <a:t>);</a:t>
            </a:r>
          </a:p>
          <a:p>
            <a:pPr marL="723900" lvl="0" indent="-266700">
              <a:buFont typeface="Wingdings" panose="05000000000000000000" pitchFamily="2" charset="2"/>
              <a:buChar char="§"/>
            </a:pPr>
            <a:r>
              <a:rPr lang="ru-RU" dirty="0"/>
              <a:t>начального состояния </a:t>
            </a:r>
            <a:r>
              <a:rPr lang="ru-RU" b="1" i="1" dirty="0"/>
              <a:t>v</a:t>
            </a:r>
            <a:r>
              <a:rPr lang="ru-RU" baseline="-25000" dirty="0"/>
              <a:t>0</a:t>
            </a:r>
            <a:r>
              <a:rPr lang="ru-RU" dirty="0"/>
              <a:t> ∈ </a:t>
            </a:r>
            <a:r>
              <a:rPr lang="ru-RU" b="1" i="1" dirty="0"/>
              <a:t>V</a:t>
            </a:r>
            <a:r>
              <a:rPr lang="ru-RU" dirty="0"/>
              <a:t>;</a:t>
            </a:r>
          </a:p>
          <a:p>
            <a:pPr marL="723900" lvl="0" indent="-266700">
              <a:buFont typeface="Wingdings" panose="05000000000000000000" pitchFamily="2" charset="2"/>
              <a:buChar char="§"/>
            </a:pPr>
            <a:r>
              <a:rPr lang="ru-RU" dirty="0"/>
              <a:t>набора запросов </a:t>
            </a:r>
            <a:r>
              <a:rPr lang="ru-RU" b="1" dirty="0"/>
              <a:t>Q</a:t>
            </a:r>
            <a:r>
              <a:rPr lang="ru-RU" dirty="0"/>
              <a:t> субъектов на доступ (осуществление операций) к объектам, выполнение которых переводит систему в новое состояние;</a:t>
            </a:r>
          </a:p>
          <a:p>
            <a:pPr marL="723900" lvl="0" indent="-266700">
              <a:buFont typeface="Wingdings" panose="05000000000000000000" pitchFamily="2" charset="2"/>
              <a:buChar char="§"/>
            </a:pPr>
            <a:r>
              <a:rPr lang="ru-RU" dirty="0"/>
              <a:t>функции переходов </a:t>
            </a:r>
            <a:r>
              <a:rPr lang="ru-RU" b="1" i="1" dirty="0"/>
              <a:t>F</a:t>
            </a:r>
            <a:r>
              <a:rPr lang="ru-RU" i="1" baseline="-25000" dirty="0"/>
              <a:t>T</a:t>
            </a:r>
            <a:r>
              <a:rPr lang="ru-RU" dirty="0"/>
              <a:t>(</a:t>
            </a:r>
            <a:r>
              <a:rPr lang="ru-RU" b="1" i="1" dirty="0"/>
              <a:t>V</a:t>
            </a:r>
            <a:r>
              <a:rPr lang="ru-RU" dirty="0">
                <a:sym typeface="Symbol"/>
              </a:rPr>
              <a:t></a:t>
            </a:r>
            <a:r>
              <a:rPr lang="ru-RU" b="1" dirty="0"/>
              <a:t>Q</a:t>
            </a:r>
            <a:r>
              <a:rPr lang="ru-RU" dirty="0"/>
              <a:t>) → </a:t>
            </a:r>
            <a:r>
              <a:rPr lang="ru-RU" b="1" i="1" dirty="0"/>
              <a:t>V</a:t>
            </a:r>
            <a:r>
              <a:rPr lang="ru-RU" dirty="0"/>
              <a:t>*, которая переводит систему из одного состояния </a:t>
            </a:r>
            <a:r>
              <a:rPr lang="ru-RU" b="1" i="1" dirty="0"/>
              <a:t>V</a:t>
            </a:r>
            <a:r>
              <a:rPr lang="ru-RU" dirty="0"/>
              <a:t> в другое </a:t>
            </a:r>
            <a:r>
              <a:rPr lang="ru-RU" b="1" i="1" dirty="0"/>
              <a:t>V</a:t>
            </a:r>
            <a:r>
              <a:rPr lang="ru-RU" dirty="0"/>
              <a:t>* при выполнении запросов из </a:t>
            </a:r>
            <a:r>
              <a:rPr lang="ru-RU" b="1" dirty="0"/>
              <a:t>Q</a:t>
            </a:r>
            <a:r>
              <a:rPr lang="ru-RU" dirty="0" smtClean="0"/>
              <a:t>.</a:t>
            </a:r>
          </a:p>
          <a:p>
            <a:pPr marL="136525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83349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85800"/>
            <a:ext cx="8229600" cy="1143000"/>
          </a:xfrm>
        </p:spPr>
        <p:txBody>
          <a:bodyPr/>
          <a:lstStyle/>
          <a:p>
            <a:r>
              <a:rPr lang="ru-RU" dirty="0"/>
              <a:t>Модель Белла-</a:t>
            </a:r>
            <a:r>
              <a:rPr lang="ru-RU" dirty="0" err="1"/>
              <a:t>ЛаПадулы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168860"/>
            <a:ext cx="8229600" cy="3809020"/>
          </a:xfrm>
        </p:spPr>
        <p:txBody>
          <a:bodyPr tIns="36000"/>
          <a:lstStyle/>
          <a:p>
            <a:r>
              <a:rPr lang="ru-RU" dirty="0"/>
              <a:t>2. Состояния системы разделяются на опасные и безопасные. </a:t>
            </a:r>
          </a:p>
          <a:p>
            <a:r>
              <a:rPr lang="ru-RU" b="1" i="1" dirty="0" smtClean="0"/>
              <a:t>Определение </a:t>
            </a:r>
            <a:r>
              <a:rPr lang="ru-RU" b="1" dirty="0" smtClean="0"/>
              <a:t>1</a:t>
            </a:r>
            <a:r>
              <a:rPr lang="ru-RU" b="1" i="1" dirty="0" smtClean="0"/>
              <a:t>.</a:t>
            </a:r>
            <a:r>
              <a:rPr lang="ru-RU" dirty="0" smtClean="0"/>
              <a:t> </a:t>
            </a:r>
            <a:r>
              <a:rPr lang="ru-RU" dirty="0"/>
              <a:t>Состояние называется безопасным по чтению (или просто безопасным) тогда и только тогда, когда для каждого субъекта, осуществляющего в этом состоянии доступ чтения к объекту, уровень безопасности этого субъекта доминирует над уровнем безопасности этого объекта:</a:t>
            </a:r>
          </a:p>
          <a:p>
            <a:pPr marL="136525" indent="0">
              <a:buNone/>
            </a:pPr>
            <a:r>
              <a:rPr lang="ru-RU" dirty="0" smtClean="0"/>
              <a:t>             ∀ </a:t>
            </a:r>
            <a:r>
              <a:rPr lang="ru-RU" i="1" dirty="0"/>
              <a:t>s</a:t>
            </a:r>
            <a:r>
              <a:rPr lang="ru-RU" dirty="0"/>
              <a:t> ∈ </a:t>
            </a:r>
            <a:r>
              <a:rPr lang="ru-RU" b="1" i="1" dirty="0"/>
              <a:t>S</a:t>
            </a:r>
            <a:r>
              <a:rPr lang="ru-RU" dirty="0"/>
              <a:t>, ∀ </a:t>
            </a:r>
            <a:r>
              <a:rPr lang="ru-RU" i="1" dirty="0"/>
              <a:t>o</a:t>
            </a:r>
            <a:r>
              <a:rPr lang="ru-RU" dirty="0"/>
              <a:t> ∈ </a:t>
            </a:r>
            <a:r>
              <a:rPr lang="ru-RU" b="1" i="1" dirty="0"/>
              <a:t>O</a:t>
            </a:r>
            <a:r>
              <a:rPr lang="ru-RU" dirty="0"/>
              <a:t>, </a:t>
            </a:r>
            <a:r>
              <a:rPr lang="ru-RU" dirty="0" err="1"/>
              <a:t>read</a:t>
            </a:r>
            <a:r>
              <a:rPr lang="ru-RU" dirty="0"/>
              <a:t> ∈ </a:t>
            </a:r>
            <a:r>
              <a:rPr lang="ru-RU" b="1" dirty="0"/>
              <a:t>A</a:t>
            </a:r>
            <a:r>
              <a:rPr lang="ru-RU" dirty="0"/>
              <a:t>[</a:t>
            </a:r>
            <a:r>
              <a:rPr lang="ru-RU" i="1" dirty="0"/>
              <a:t>s</a:t>
            </a:r>
            <a:r>
              <a:rPr lang="ru-RU" dirty="0"/>
              <a:t>, </a:t>
            </a:r>
            <a:r>
              <a:rPr lang="ru-RU" i="1" dirty="0"/>
              <a:t>o</a:t>
            </a:r>
            <a:r>
              <a:rPr lang="ru-RU" dirty="0"/>
              <a:t>] → </a:t>
            </a:r>
            <a:r>
              <a:rPr lang="ru-RU" b="1" i="1" dirty="0"/>
              <a:t>F</a:t>
            </a:r>
            <a:r>
              <a:rPr lang="ru-RU" i="1" baseline="-25000" dirty="0"/>
              <a:t>L</a:t>
            </a:r>
            <a:r>
              <a:rPr lang="ru-RU" dirty="0"/>
              <a:t>(</a:t>
            </a:r>
            <a:r>
              <a:rPr lang="ru-RU" i="1" dirty="0"/>
              <a:t>s</a:t>
            </a:r>
            <a:r>
              <a:rPr lang="ru-RU" dirty="0"/>
              <a:t>) ≥ </a:t>
            </a:r>
            <a:r>
              <a:rPr lang="ru-RU" b="1" i="1" dirty="0"/>
              <a:t>F</a:t>
            </a:r>
            <a:r>
              <a:rPr lang="ru-RU" i="1" baseline="-25000" dirty="0"/>
              <a:t>L</a:t>
            </a:r>
            <a:r>
              <a:rPr lang="ru-RU" dirty="0"/>
              <a:t>(</a:t>
            </a:r>
            <a:r>
              <a:rPr lang="ru-RU" i="1" dirty="0"/>
              <a:t>o</a:t>
            </a:r>
            <a:r>
              <a:rPr lang="ru-RU" dirty="0"/>
              <a:t>) 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8658133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Белла-</a:t>
            </a:r>
            <a:r>
              <a:rPr lang="ru-RU" dirty="0" err="1"/>
              <a:t>ЛаПадулы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888232"/>
            <a:ext cx="8686800" cy="4061048"/>
          </a:xfrm>
        </p:spPr>
        <p:txBody>
          <a:bodyPr tIns="46800"/>
          <a:lstStyle/>
          <a:p>
            <a:r>
              <a:rPr lang="ru-RU" b="1" i="1" dirty="0"/>
              <a:t>Определение </a:t>
            </a:r>
            <a:r>
              <a:rPr lang="ru-RU" b="1" dirty="0"/>
              <a:t>2</a:t>
            </a:r>
            <a:r>
              <a:rPr lang="ru-RU" b="1" i="1" dirty="0"/>
              <a:t>.</a:t>
            </a:r>
            <a:r>
              <a:rPr lang="ru-RU" b="1" dirty="0"/>
              <a:t> </a:t>
            </a:r>
            <a:r>
              <a:rPr lang="ru-RU" dirty="0"/>
              <a:t>Состояние называется безопасным по записи (или *-безопасным) тогда и только тогда, когда для каждого субъекта, осуществляющего в этом состоянии доступ записи к объекту, уровень безопасности этого объекта доминирует над уровнем безопасности этого субъекта:</a:t>
            </a:r>
          </a:p>
          <a:p>
            <a:pPr marL="136525" indent="0">
              <a:buNone/>
            </a:pPr>
            <a:r>
              <a:rPr lang="ru-RU" dirty="0" smtClean="0"/>
              <a:t>              ∀ </a:t>
            </a:r>
            <a:r>
              <a:rPr lang="ru-RU" i="1" dirty="0"/>
              <a:t>s</a:t>
            </a:r>
            <a:r>
              <a:rPr lang="ru-RU" dirty="0"/>
              <a:t> ∈ </a:t>
            </a:r>
            <a:r>
              <a:rPr lang="ru-RU" b="1" i="1" dirty="0"/>
              <a:t>S</a:t>
            </a:r>
            <a:r>
              <a:rPr lang="ru-RU" dirty="0"/>
              <a:t>, ∀ </a:t>
            </a:r>
            <a:r>
              <a:rPr lang="ru-RU" i="1" dirty="0"/>
              <a:t>o</a:t>
            </a:r>
            <a:r>
              <a:rPr lang="ru-RU" dirty="0"/>
              <a:t> ∈ </a:t>
            </a:r>
            <a:r>
              <a:rPr lang="ru-RU" b="1" i="1" dirty="0"/>
              <a:t>O</a:t>
            </a:r>
            <a:r>
              <a:rPr lang="ru-RU" dirty="0"/>
              <a:t>, </a:t>
            </a:r>
            <a:r>
              <a:rPr lang="ru-RU" dirty="0" err="1"/>
              <a:t>write</a:t>
            </a:r>
            <a:r>
              <a:rPr lang="ru-RU" dirty="0"/>
              <a:t> ∈ </a:t>
            </a:r>
            <a:r>
              <a:rPr lang="ru-RU" b="1" dirty="0"/>
              <a:t>A</a:t>
            </a:r>
            <a:r>
              <a:rPr lang="ru-RU" dirty="0"/>
              <a:t>[</a:t>
            </a:r>
            <a:r>
              <a:rPr lang="ru-RU" i="1" dirty="0"/>
              <a:t>s</a:t>
            </a:r>
            <a:r>
              <a:rPr lang="ru-RU" dirty="0"/>
              <a:t>, </a:t>
            </a:r>
            <a:r>
              <a:rPr lang="ru-RU" i="1" dirty="0"/>
              <a:t>o</a:t>
            </a:r>
            <a:r>
              <a:rPr lang="ru-RU" dirty="0"/>
              <a:t>] → </a:t>
            </a:r>
            <a:r>
              <a:rPr lang="ru-RU" b="1" i="1" dirty="0"/>
              <a:t>F</a:t>
            </a:r>
            <a:r>
              <a:rPr lang="ru-RU" i="1" baseline="-25000" dirty="0"/>
              <a:t>L</a:t>
            </a:r>
            <a:r>
              <a:rPr lang="ru-RU" dirty="0"/>
              <a:t>(</a:t>
            </a:r>
            <a:r>
              <a:rPr lang="ru-RU" i="1" dirty="0"/>
              <a:t>o</a:t>
            </a:r>
            <a:r>
              <a:rPr lang="ru-RU" dirty="0"/>
              <a:t>) ≥ </a:t>
            </a:r>
            <a:r>
              <a:rPr lang="ru-RU" b="1" i="1" dirty="0"/>
              <a:t>F</a:t>
            </a:r>
            <a:r>
              <a:rPr lang="ru-RU" i="1" baseline="-25000" dirty="0"/>
              <a:t>L</a:t>
            </a:r>
            <a:r>
              <a:rPr lang="ru-RU" dirty="0"/>
              <a:t>(</a:t>
            </a:r>
            <a:r>
              <a:rPr lang="ru-RU" i="1" dirty="0"/>
              <a:t>s</a:t>
            </a:r>
            <a:r>
              <a:rPr lang="ru-RU" dirty="0"/>
              <a:t>) </a:t>
            </a:r>
            <a:r>
              <a:rPr lang="ru-RU" dirty="0" smtClean="0"/>
              <a:t>.</a:t>
            </a:r>
          </a:p>
          <a:p>
            <a:r>
              <a:rPr lang="ru-RU" b="1" i="1" dirty="0" smtClean="0"/>
              <a:t>Определение </a:t>
            </a:r>
            <a:r>
              <a:rPr lang="ru-RU" b="1" dirty="0"/>
              <a:t>3</a:t>
            </a:r>
            <a:r>
              <a:rPr lang="ru-RU" b="1" i="1" dirty="0"/>
              <a:t>.</a:t>
            </a:r>
            <a:r>
              <a:rPr lang="ru-RU" i="1" dirty="0"/>
              <a:t> </a:t>
            </a:r>
            <a:r>
              <a:rPr lang="ru-RU" dirty="0"/>
              <a:t>Состояние системы безопасно тогда и только тогда, когда оно безопасно и по чтению, и по записи.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0940051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Белла-</a:t>
            </a:r>
            <a:r>
              <a:rPr lang="ru-RU" dirty="0" err="1"/>
              <a:t>ЛаПадулы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90806"/>
            <a:ext cx="8229600" cy="4033450"/>
          </a:xfrm>
        </p:spPr>
        <p:txBody>
          <a:bodyPr/>
          <a:lstStyle/>
          <a:p>
            <a:r>
              <a:rPr lang="ru-RU" dirty="0"/>
              <a:t>На основе введенных понятий, которые, как нетрудно видеть, выражают правила NRU и NWD политики мандатного доступа, авторы модели сформулировали следующий критерий безопасности.</a:t>
            </a:r>
          </a:p>
          <a:p>
            <a:r>
              <a:rPr lang="ru-RU" b="1" i="1" dirty="0"/>
              <a:t>Определение </a:t>
            </a:r>
            <a:r>
              <a:rPr lang="ru-RU" b="1" dirty="0"/>
              <a:t>4</a:t>
            </a:r>
            <a:r>
              <a:rPr lang="ru-RU" b="1" i="1" dirty="0"/>
              <a:t>.</a:t>
            </a:r>
            <a:r>
              <a:rPr lang="ru-RU" dirty="0"/>
              <a:t> (</a:t>
            </a:r>
            <a:r>
              <a:rPr lang="ru-RU" i="1" dirty="0"/>
              <a:t>Критерий безопасности в модели Белла-</a:t>
            </a:r>
            <a:r>
              <a:rPr lang="ru-RU" i="1" dirty="0" err="1"/>
              <a:t>ЛаПадулы</a:t>
            </a:r>
            <a:r>
              <a:rPr lang="ru-RU" dirty="0"/>
              <a:t>). Система Σ(</a:t>
            </a:r>
            <a:r>
              <a:rPr lang="ru-RU" i="1" dirty="0"/>
              <a:t>v</a:t>
            </a:r>
            <a:r>
              <a:rPr lang="ru-RU" baseline="-25000" dirty="0"/>
              <a:t>0</a:t>
            </a:r>
            <a:r>
              <a:rPr lang="ru-RU" dirty="0"/>
              <a:t> ,Q, </a:t>
            </a:r>
            <a:r>
              <a:rPr lang="ru-RU" i="1" dirty="0"/>
              <a:t>F</a:t>
            </a:r>
            <a:r>
              <a:rPr lang="ru-RU" i="1" baseline="-25000" dirty="0"/>
              <a:t>T</a:t>
            </a:r>
            <a:r>
              <a:rPr lang="ru-RU" dirty="0"/>
              <a:t>) безопасна тогда и только тогда, когда ее начальное состояние </a:t>
            </a:r>
            <a:r>
              <a:rPr lang="ru-RU" i="1" dirty="0"/>
              <a:t>v</a:t>
            </a:r>
            <a:r>
              <a:rPr lang="ru-RU" baseline="-25000" dirty="0"/>
              <a:t>0</a:t>
            </a:r>
            <a:r>
              <a:rPr lang="ru-RU" dirty="0"/>
              <a:t> безопасно и все состояния, достижимые из </a:t>
            </a:r>
            <a:r>
              <a:rPr lang="ru-RU" i="1" dirty="0"/>
              <a:t>v</a:t>
            </a:r>
            <a:r>
              <a:rPr lang="ru-RU" baseline="-25000" dirty="0"/>
              <a:t>0</a:t>
            </a:r>
            <a:r>
              <a:rPr lang="ru-RU" dirty="0"/>
              <a:t> путем применения конечной последовательности запросов из Q, безопасны.</a:t>
            </a:r>
          </a:p>
          <a:p>
            <a:pPr marL="136525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5266712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Белла-</a:t>
            </a:r>
            <a:r>
              <a:rPr lang="ru-RU" dirty="0" err="1"/>
              <a:t>ЛаПадулы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 основе данного критерия Белл и </a:t>
            </a:r>
            <a:r>
              <a:rPr lang="ru-RU" dirty="0" err="1"/>
              <a:t>ЛаПадула</a:t>
            </a:r>
            <a:r>
              <a:rPr lang="ru-RU" dirty="0"/>
              <a:t> доказали теорему, получившую название "</a:t>
            </a:r>
            <a:r>
              <a:rPr lang="ru-RU" b="1" i="1" dirty="0"/>
              <a:t>основной теоремы безопасности</a:t>
            </a:r>
            <a:r>
              <a:rPr lang="ru-RU" dirty="0"/>
              <a:t>" (ОТБ</a:t>
            </a:r>
            <a:r>
              <a:rPr lang="ru-RU" dirty="0" smtClean="0"/>
              <a:t>).</a:t>
            </a:r>
            <a:r>
              <a:rPr lang="ru-RU" dirty="0"/>
              <a:t> Суть </a:t>
            </a:r>
            <a:r>
              <a:rPr lang="ru-RU" dirty="0" smtClean="0"/>
              <a:t>ее </a:t>
            </a:r>
            <a:r>
              <a:rPr lang="ru-RU" dirty="0"/>
              <a:t>в </a:t>
            </a:r>
            <a:r>
              <a:rPr lang="ru-RU" dirty="0" smtClean="0"/>
              <a:t>следующем.</a:t>
            </a:r>
          </a:p>
          <a:p>
            <a:r>
              <a:rPr lang="ru-RU" dirty="0" smtClean="0"/>
              <a:t>На </a:t>
            </a:r>
            <a:r>
              <a:rPr lang="ru-RU" dirty="0"/>
              <a:t>функцию переходов </a:t>
            </a:r>
            <a:r>
              <a:rPr lang="ru-RU" dirty="0" smtClean="0"/>
              <a:t>накладываются 4 ограничения, которые фактически </a:t>
            </a:r>
            <a:r>
              <a:rPr lang="ru-RU" dirty="0"/>
              <a:t>выражают требования соблюдения в каждом состоянии системы правил NRU и NWD независимо от предыстории </a:t>
            </a:r>
            <a:r>
              <a:rPr lang="ru-RU" dirty="0" smtClean="0"/>
              <a:t>доступов.</a:t>
            </a:r>
          </a:p>
          <a:p>
            <a:r>
              <a:rPr lang="ru-RU" dirty="0"/>
              <a:t>Иначе говоря, при переходах системы в новое состояние в матрице доступа не должно возникать никаких новых, и не должно сохраняться никаких старых отношений доступа, которые были бы небезопасны в смысле правил NRU и NWD.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2802320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686800" cy="1143000"/>
          </a:xfrm>
        </p:spPr>
        <p:txBody>
          <a:bodyPr>
            <a:noAutofit/>
          </a:bodyPr>
          <a:lstStyle/>
          <a:p>
            <a:r>
              <a:rPr lang="ru-RU" sz="4000" dirty="0" smtClean="0">
                <a:solidFill>
                  <a:schemeClr val="accent1">
                    <a:lumMod val="75000"/>
                  </a:schemeClr>
                </a:solidFill>
              </a:rPr>
              <a:t>Мандатная модель безопасности</a:t>
            </a:r>
            <a:endParaRPr lang="ru-RU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867688"/>
            <a:ext cx="8229600" cy="4486637"/>
          </a:xfrm>
        </p:spPr>
        <p:txBody>
          <a:bodyPr anchor="ctr" anchorCtr="0"/>
          <a:lstStyle/>
          <a:p>
            <a:r>
              <a:rPr lang="ru-RU" sz="2500" dirty="0" smtClean="0"/>
              <a:t>Основу </a:t>
            </a:r>
            <a:r>
              <a:rPr lang="ru-RU" sz="2500" b="1" i="1" dirty="0"/>
              <a:t>мандатной</a:t>
            </a:r>
            <a:r>
              <a:rPr lang="ru-RU" sz="2500" dirty="0"/>
              <a:t> (полномочной) модели безопасности </a:t>
            </a:r>
            <a:r>
              <a:rPr lang="ru-RU" sz="2500" dirty="0" smtClean="0"/>
              <a:t>(ММБ) составляет </a:t>
            </a:r>
            <a:r>
              <a:rPr lang="ru-RU" sz="2500" dirty="0"/>
              <a:t>мандатное управление доступом (</a:t>
            </a:r>
            <a:r>
              <a:rPr lang="ru-RU" sz="2500" dirty="0" err="1"/>
              <a:t>Mandatory</a:t>
            </a:r>
            <a:r>
              <a:rPr lang="ru-RU" sz="2500" dirty="0"/>
              <a:t> </a:t>
            </a:r>
            <a:r>
              <a:rPr lang="ru-RU" sz="2500" dirty="0" err="1"/>
              <a:t>Access</a:t>
            </a:r>
            <a:r>
              <a:rPr lang="ru-RU" sz="2500" dirty="0"/>
              <a:t> </a:t>
            </a:r>
            <a:r>
              <a:rPr lang="ru-RU" sz="2500" dirty="0" err="1"/>
              <a:t>Control</a:t>
            </a:r>
            <a:r>
              <a:rPr lang="ru-RU" sz="2500" dirty="0"/>
              <a:t> – МАС), которое подразумевает, что:</a:t>
            </a:r>
          </a:p>
          <a:p>
            <a:pPr marL="990600" indent="-276225">
              <a:buFont typeface="Wingdings" panose="05000000000000000000" pitchFamily="2" charset="2"/>
              <a:buChar char="Ø"/>
            </a:pPr>
            <a:r>
              <a:rPr lang="ru-RU" sz="2500" dirty="0" smtClean="0"/>
              <a:t>Все </a:t>
            </a:r>
            <a:r>
              <a:rPr lang="ru-RU" sz="2500" dirty="0"/>
              <a:t>субъекты и объекты системы должны быть однозначно идентифицированы;</a:t>
            </a:r>
          </a:p>
          <a:p>
            <a:pPr marL="990600" indent="-276225">
              <a:buFont typeface="Wingdings" panose="05000000000000000000" pitchFamily="2" charset="2"/>
              <a:buChar char="Ø"/>
            </a:pPr>
            <a:r>
              <a:rPr lang="ru-RU" sz="2500" dirty="0" smtClean="0"/>
              <a:t>Задается </a:t>
            </a:r>
            <a:r>
              <a:rPr lang="ru-RU" sz="2500" dirty="0"/>
              <a:t>линейно упорядоченный набор меток конфиденциальности;</a:t>
            </a:r>
          </a:p>
          <a:p>
            <a:pPr marL="990600" indent="-276225">
              <a:buFont typeface="Wingdings" panose="05000000000000000000" pitchFamily="2" charset="2"/>
              <a:buChar char="Ø"/>
            </a:pPr>
            <a:r>
              <a:rPr lang="ru-RU" sz="2500" dirty="0"/>
              <a:t>К</a:t>
            </a:r>
            <a:r>
              <a:rPr lang="ru-RU" sz="2500" dirty="0" smtClean="0"/>
              <a:t>аждому </a:t>
            </a:r>
            <a:r>
              <a:rPr lang="ru-RU" sz="2500" dirty="0"/>
              <a:t>объекту системы </a:t>
            </a:r>
            <a:r>
              <a:rPr lang="ru-RU" sz="2500" dirty="0" smtClean="0"/>
              <a:t>присваивается </a:t>
            </a:r>
            <a:r>
              <a:rPr lang="ru-RU" sz="2500" dirty="0"/>
              <a:t>метка конфиденциальности, определяющая </a:t>
            </a:r>
            <a:r>
              <a:rPr lang="ru-RU" sz="2500" dirty="0" smtClean="0"/>
              <a:t>его </a:t>
            </a:r>
            <a:r>
              <a:rPr lang="ru-RU" sz="2500" dirty="0"/>
              <a:t>уровень секретности в </a:t>
            </a:r>
            <a:r>
              <a:rPr lang="ru-RU" sz="2500" dirty="0" smtClean="0"/>
              <a:t>КС</a:t>
            </a:r>
            <a:r>
              <a:rPr lang="ru-RU" sz="2500" dirty="0"/>
              <a:t>;</a:t>
            </a:r>
          </a:p>
          <a:p>
            <a:pPr>
              <a:buClrTx/>
            </a:pPr>
            <a:endParaRPr lang="ru-RU" sz="2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z="2400" smtClean="0"/>
              <a:pPr>
                <a:defRPr/>
              </a:pPr>
              <a:t>40</a:t>
            </a:fld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165718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600200"/>
            <a:ext cx="8363272" cy="4708525"/>
          </a:xfrm>
        </p:spPr>
        <p:txBody>
          <a:bodyPr/>
          <a:lstStyle/>
          <a:p>
            <a:pPr marL="895350" indent="-352425">
              <a:buFont typeface="Wingdings" panose="05000000000000000000" pitchFamily="2" charset="2"/>
              <a:buChar char="Ø"/>
            </a:pPr>
            <a:r>
              <a:rPr lang="ru-RU" dirty="0" smtClean="0"/>
              <a:t>Каждому </a:t>
            </a:r>
            <a:r>
              <a:rPr lang="ru-RU" dirty="0"/>
              <a:t>субъекту системы присвоена метка конфиденциальности, определяющая уровень доверия к нему в </a:t>
            </a:r>
            <a:r>
              <a:rPr lang="ru-RU" dirty="0" smtClean="0"/>
              <a:t>ИC. Значение метки конфиденциальности субъекта указывает на максимальное </a:t>
            </a:r>
            <a:r>
              <a:rPr lang="ru-RU" dirty="0"/>
              <a:t>значение метки конфиденциальности объектов, к которым </a:t>
            </a:r>
            <a:r>
              <a:rPr lang="ru-RU" dirty="0" smtClean="0"/>
              <a:t>данный субъект </a:t>
            </a:r>
            <a:r>
              <a:rPr lang="ru-RU" dirty="0"/>
              <a:t>имеет </a:t>
            </a:r>
            <a:r>
              <a:rPr lang="ru-RU" dirty="0" smtClean="0"/>
              <a:t>доступ. Метка </a:t>
            </a:r>
            <a:r>
              <a:rPr lang="ru-RU" dirty="0"/>
              <a:t>конфиденциальности субъекта называется </a:t>
            </a:r>
            <a:r>
              <a:rPr lang="ru-RU" dirty="0" smtClean="0"/>
              <a:t>еще его </a:t>
            </a:r>
            <a:r>
              <a:rPr lang="ru-RU" dirty="0"/>
              <a:t>уровнем доступа. </a:t>
            </a:r>
            <a:endParaRPr lang="ru-RU" dirty="0" smtClean="0"/>
          </a:p>
          <a:p>
            <a:r>
              <a:rPr lang="ru-RU" dirty="0"/>
              <a:t>Основная цель </a:t>
            </a:r>
            <a:r>
              <a:rPr lang="ru-RU" dirty="0" smtClean="0"/>
              <a:t>ММБ – </a:t>
            </a:r>
            <a:r>
              <a:rPr lang="ru-RU" dirty="0"/>
              <a:t>предотвращение утечки информации от объектов с высоким уровнем доступа к объектам с низким уровнем доступа, т.е. противодействие возникновению в </a:t>
            </a:r>
            <a:r>
              <a:rPr lang="ru-RU" dirty="0" smtClean="0"/>
              <a:t>ИС </a:t>
            </a:r>
            <a:r>
              <a:rPr lang="ru-RU" dirty="0"/>
              <a:t>информационных каналов сверху вниз.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41</a:t>
            </a:fld>
            <a:endParaRPr lang="ru-RU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686800" cy="1143000"/>
          </a:xfrm>
        </p:spPr>
        <p:txBody>
          <a:bodyPr>
            <a:noAutofit/>
          </a:bodyPr>
          <a:lstStyle/>
          <a:p>
            <a:r>
              <a:rPr lang="ru-RU" sz="4000" dirty="0"/>
              <a:t>Мандатная модель безопасности</a:t>
            </a:r>
            <a:endParaRPr lang="ru-RU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8213768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00" dirty="0" smtClean="0"/>
              <a:t>Реализация мандатной       м</a:t>
            </a:r>
            <a:r>
              <a:rPr lang="ru-RU" dirty="0" smtClean="0"/>
              <a:t>одели безопасности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600200"/>
            <a:ext cx="8640960" cy="4708525"/>
          </a:xfrm>
        </p:spPr>
        <p:txBody>
          <a:bodyPr/>
          <a:lstStyle/>
          <a:p>
            <a:r>
              <a:rPr lang="ru-RU" sz="2300" dirty="0"/>
              <a:t>Реализуется </a:t>
            </a:r>
            <a:r>
              <a:rPr lang="ru-RU" sz="2300" dirty="0" smtClean="0"/>
              <a:t>ММБ. </a:t>
            </a:r>
            <a:r>
              <a:rPr lang="ru-RU" sz="2300" dirty="0"/>
              <a:t>Все информационные ресурсы </a:t>
            </a:r>
            <a:r>
              <a:rPr lang="ru-RU" sz="2300" dirty="0" smtClean="0"/>
              <a:t>ИС </a:t>
            </a:r>
            <a:r>
              <a:rPr lang="ru-RU" sz="2300" dirty="0"/>
              <a:t>классифицируются по степени конфиденциальности на ряд классов (уровней). Так, в </a:t>
            </a:r>
            <a:r>
              <a:rPr lang="ru-RU" sz="2300" dirty="0" smtClean="0"/>
              <a:t>военных ведомствах США </a:t>
            </a:r>
            <a:r>
              <a:rPr lang="ru-RU" sz="2300" dirty="0"/>
              <a:t>применяется </a:t>
            </a:r>
            <a:r>
              <a:rPr lang="ru-RU" sz="2300" dirty="0" smtClean="0"/>
              <a:t>4-х уровневая </a:t>
            </a:r>
            <a:r>
              <a:rPr lang="ru-RU" sz="2300" dirty="0"/>
              <a:t>иерархия классов конфиденциальности информационных ресурсов: </a:t>
            </a:r>
          </a:p>
          <a:p>
            <a:pPr marL="1524000" indent="-361950">
              <a:buFont typeface="Wingdings" panose="05000000000000000000" pitchFamily="2" charset="2"/>
              <a:buChar char="Ø"/>
            </a:pPr>
            <a:r>
              <a:rPr lang="ru-RU" sz="2300" dirty="0"/>
              <a:t>совершенно секретно – СС; </a:t>
            </a:r>
          </a:p>
          <a:p>
            <a:pPr marL="1524000" indent="-361950">
              <a:buFont typeface="Wingdings" panose="05000000000000000000" pitchFamily="2" charset="2"/>
              <a:buChar char="Ø"/>
            </a:pPr>
            <a:r>
              <a:rPr lang="ru-RU" sz="2300" dirty="0"/>
              <a:t>секретно – С; </a:t>
            </a:r>
          </a:p>
          <a:p>
            <a:pPr marL="1524000" indent="-361950">
              <a:buFont typeface="Wingdings" panose="05000000000000000000" pitchFamily="2" charset="2"/>
              <a:buChar char="Ø"/>
            </a:pPr>
            <a:r>
              <a:rPr lang="ru-RU" sz="2300" dirty="0"/>
              <a:t>конфиденциально – К; </a:t>
            </a:r>
          </a:p>
          <a:p>
            <a:pPr marL="1524000" indent="-361950">
              <a:buFont typeface="Wingdings" panose="05000000000000000000" pitchFamily="2" charset="2"/>
              <a:buChar char="Ø"/>
            </a:pPr>
            <a:r>
              <a:rPr lang="ru-RU" sz="2300" dirty="0"/>
              <a:t>несекретно – Н. </a:t>
            </a:r>
            <a:endParaRPr lang="ru-RU" sz="2300" dirty="0" smtClean="0"/>
          </a:p>
          <a:p>
            <a:r>
              <a:rPr lang="ru-RU" sz="2300" dirty="0"/>
              <a:t>В отечественных силовых структурах применяется 5-уровневая иерархия классов конфиденциальности информационных </a:t>
            </a:r>
            <a:r>
              <a:rPr lang="ru-RU" sz="2300" dirty="0" smtClean="0"/>
              <a:t>ресурсов: ОВ; </a:t>
            </a:r>
            <a:r>
              <a:rPr lang="ru-RU" sz="2300" dirty="0"/>
              <a:t>СС; С</a:t>
            </a:r>
            <a:r>
              <a:rPr lang="ru-RU" sz="2300" dirty="0" smtClean="0"/>
              <a:t>;</a:t>
            </a:r>
            <a:r>
              <a:rPr lang="ru-RU" sz="2300" dirty="0"/>
              <a:t> ДСП; </a:t>
            </a:r>
            <a:r>
              <a:rPr lang="ru-RU" sz="2300" dirty="0" smtClean="0"/>
              <a:t>Н.</a:t>
            </a:r>
            <a:endParaRPr lang="ru-RU" sz="23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7147254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800" dirty="0"/>
              <a:t>Реализация мандатной       модели безопасности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31540" y="1600200"/>
            <a:ext cx="8345270" cy="4708525"/>
          </a:xfrm>
        </p:spPr>
        <p:txBody>
          <a:bodyPr/>
          <a:lstStyle/>
          <a:p>
            <a:r>
              <a:rPr lang="ru-RU" sz="2200" dirty="0"/>
              <a:t>Соответственно субъекты доступа </a:t>
            </a:r>
            <a:r>
              <a:rPr lang="ru-RU" sz="2200" dirty="0" smtClean="0"/>
              <a:t>категорируются </a:t>
            </a:r>
            <a:r>
              <a:rPr lang="ru-RU" sz="2200" dirty="0"/>
              <a:t>по соответствующим уровням доверия, путем </a:t>
            </a:r>
            <a:r>
              <a:rPr lang="ru-RU" sz="2200" dirty="0" smtClean="0"/>
              <a:t>получения т.н. </a:t>
            </a:r>
            <a:r>
              <a:rPr lang="ru-RU" sz="2200" dirty="0"/>
              <a:t>допуска (допуск степени 1, </a:t>
            </a:r>
            <a:r>
              <a:rPr lang="ru-RU" sz="2200" dirty="0" smtClean="0"/>
              <a:t>степени </a:t>
            </a:r>
            <a:r>
              <a:rPr lang="ru-RU" sz="2200" dirty="0"/>
              <a:t>2 и т. д.). Уровни доверия субъектов соответствуют классам конфиденциальности информационных ресурсов АИС.</a:t>
            </a:r>
          </a:p>
          <a:p>
            <a:r>
              <a:rPr lang="ru-RU" sz="2200" dirty="0" smtClean="0"/>
              <a:t>Так</a:t>
            </a:r>
            <a:r>
              <a:rPr lang="ru-RU" sz="2200" dirty="0"/>
              <a:t>, для иерархии классов, принятой в США,  </a:t>
            </a:r>
            <a:r>
              <a:rPr lang="ru-RU" sz="2200" dirty="0" smtClean="0"/>
              <a:t>работник с допуском </a:t>
            </a:r>
            <a:r>
              <a:rPr lang="ru-RU" sz="2200" dirty="0"/>
              <a:t>степени 1, имеет право работать с любой информацией уровней «СС», «С», «К» и «Н». Работник с допуском степени 2 имеет право работы с любой информацией уровней «С», «К» и «Н». Работник с допуском степени 3 имеет право работать с любой информацией уровней «К» и «Н». Наконец, работник с допуском степени 4 имеет право работать с любой информацией только уровня «Н».</a:t>
            </a:r>
          </a:p>
          <a:p>
            <a:endParaRPr lang="ru-RU" sz="2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9931779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0138" y="250574"/>
            <a:ext cx="7315200" cy="1153201"/>
          </a:xfrm>
        </p:spPr>
        <p:txBody>
          <a:bodyPr>
            <a:noAutofit/>
            <a:scene3d>
              <a:camera prst="orthographicFront"/>
              <a:lightRig rig="soft" dir="t">
                <a:rot lat="0" lon="0" rev="16800000"/>
              </a:lightRig>
            </a:scene3d>
            <a:sp3d extrusionH="57150" prstMaterial="softEdge">
              <a:bevelT w="38100" h="38100"/>
            </a:sp3d>
          </a:bodyPr>
          <a:lstStyle/>
          <a:p>
            <a:r>
              <a:rPr lang="ru-RU" sz="4000" dirty="0">
                <a:solidFill>
                  <a:schemeClr val="accent1">
                    <a:lumMod val="75000"/>
                  </a:schemeClr>
                </a:solidFill>
              </a:rPr>
              <a:t>Реализация мандатной       модели безопасности</a:t>
            </a:r>
          </a:p>
        </p:txBody>
      </p:sp>
      <p:grpSp>
        <p:nvGrpSpPr>
          <p:cNvPr id="61442" name="Group 2"/>
          <p:cNvGrpSpPr>
            <a:grpSpLocks noGrp="1"/>
          </p:cNvGrpSpPr>
          <p:nvPr/>
        </p:nvGrpSpPr>
        <p:grpSpPr bwMode="auto">
          <a:xfrm>
            <a:off x="251520" y="1628800"/>
            <a:ext cx="8643998" cy="3962400"/>
            <a:chOff x="1757" y="10825"/>
            <a:chExt cx="8960" cy="393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61443" name="Text Box 3"/>
            <p:cNvSpPr txBox="1">
              <a:spLocks noChangeArrowheads="1"/>
            </p:cNvSpPr>
            <p:nvPr/>
          </p:nvSpPr>
          <p:spPr bwMode="auto">
            <a:xfrm>
              <a:off x="1757" y="11302"/>
              <a:ext cx="3225" cy="621"/>
            </a:xfrm>
            <a:prstGeom prst="rect">
              <a:avLst/>
            </a:prstGeom>
            <a:gradFill flip="none" rotWithShape="1">
              <a:gsLst>
                <a:gs pos="0">
                  <a:srgbClr val="FCFF87">
                    <a:shade val="30000"/>
                    <a:satMod val="115000"/>
                  </a:srgbClr>
                </a:gs>
                <a:gs pos="50000">
                  <a:srgbClr val="FCFF87">
                    <a:shade val="67500"/>
                    <a:satMod val="115000"/>
                  </a:srgbClr>
                </a:gs>
                <a:gs pos="100000">
                  <a:srgbClr val="FCFF87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 dirty="0" smtClean="0">
                  <a:ln>
                    <a:noFill/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cs typeface="Arial" pitchFamily="34" charset="0"/>
                </a:rPr>
                <a:t>Степень допуска 1</a:t>
              </a:r>
            </a:p>
          </p:txBody>
        </p:sp>
        <p:sp>
          <p:nvSpPr>
            <p:cNvPr id="61444" name="Text Box 4"/>
            <p:cNvSpPr txBox="1">
              <a:spLocks noChangeArrowheads="1"/>
            </p:cNvSpPr>
            <p:nvPr/>
          </p:nvSpPr>
          <p:spPr bwMode="auto">
            <a:xfrm>
              <a:off x="1757" y="12151"/>
              <a:ext cx="3225" cy="624"/>
            </a:xfrm>
            <a:prstGeom prst="rect">
              <a:avLst/>
            </a:prstGeom>
            <a:gradFill flip="none" rotWithShape="1">
              <a:gsLst>
                <a:gs pos="0">
                  <a:srgbClr val="FCFF87">
                    <a:shade val="30000"/>
                    <a:satMod val="115000"/>
                  </a:srgbClr>
                </a:gs>
                <a:gs pos="50000">
                  <a:srgbClr val="FCFF87">
                    <a:shade val="67500"/>
                    <a:satMod val="115000"/>
                  </a:srgbClr>
                </a:gs>
                <a:gs pos="100000">
                  <a:srgbClr val="FCFF87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 smtClean="0">
                  <a:ln>
                    <a:noFill/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cs typeface="Arial" pitchFamily="34" charset="0"/>
                </a:rPr>
                <a:t>Степень допуска 2</a:t>
              </a:r>
            </a:p>
          </p:txBody>
        </p:sp>
        <p:sp>
          <p:nvSpPr>
            <p:cNvPr id="61445" name="Text Box 5"/>
            <p:cNvSpPr txBox="1">
              <a:spLocks noChangeArrowheads="1"/>
            </p:cNvSpPr>
            <p:nvPr/>
          </p:nvSpPr>
          <p:spPr bwMode="auto">
            <a:xfrm>
              <a:off x="1757" y="13000"/>
              <a:ext cx="3225" cy="624"/>
            </a:xfrm>
            <a:prstGeom prst="rect">
              <a:avLst/>
            </a:prstGeom>
            <a:gradFill flip="none" rotWithShape="1">
              <a:gsLst>
                <a:gs pos="0">
                  <a:srgbClr val="FCFF87">
                    <a:shade val="30000"/>
                    <a:satMod val="115000"/>
                  </a:srgbClr>
                </a:gs>
                <a:gs pos="50000">
                  <a:srgbClr val="FCFF87">
                    <a:shade val="67500"/>
                    <a:satMod val="115000"/>
                  </a:srgbClr>
                </a:gs>
                <a:gs pos="100000">
                  <a:srgbClr val="FCFF87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 dirty="0" smtClean="0">
                  <a:ln>
                    <a:noFill/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cs typeface="Arial" pitchFamily="34" charset="0"/>
                </a:rPr>
                <a:t>Степень допуска 3</a:t>
              </a:r>
            </a:p>
          </p:txBody>
        </p:sp>
        <p:sp>
          <p:nvSpPr>
            <p:cNvPr id="61446" name="Text Box 6"/>
            <p:cNvSpPr txBox="1">
              <a:spLocks noChangeArrowheads="1"/>
            </p:cNvSpPr>
            <p:nvPr/>
          </p:nvSpPr>
          <p:spPr bwMode="auto">
            <a:xfrm>
              <a:off x="1757" y="13837"/>
              <a:ext cx="3225" cy="624"/>
            </a:xfrm>
            <a:prstGeom prst="rect">
              <a:avLst/>
            </a:prstGeom>
            <a:gradFill flip="none" rotWithShape="1">
              <a:gsLst>
                <a:gs pos="0">
                  <a:srgbClr val="FCFF87">
                    <a:shade val="30000"/>
                    <a:satMod val="115000"/>
                  </a:srgbClr>
                </a:gs>
                <a:gs pos="50000">
                  <a:srgbClr val="FCFF87">
                    <a:shade val="67500"/>
                    <a:satMod val="115000"/>
                  </a:srgbClr>
                </a:gs>
                <a:gs pos="100000">
                  <a:srgbClr val="FCFF87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 dirty="0" smtClean="0">
                  <a:ln>
                    <a:noFill/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cs typeface="Arial" pitchFamily="34" charset="0"/>
                </a:rPr>
                <a:t>Степень допуска 4</a:t>
              </a:r>
            </a:p>
          </p:txBody>
        </p:sp>
        <p:sp>
          <p:nvSpPr>
            <p:cNvPr id="61447" name="Text Box 7"/>
            <p:cNvSpPr txBox="1">
              <a:spLocks noChangeArrowheads="1"/>
            </p:cNvSpPr>
            <p:nvPr/>
          </p:nvSpPr>
          <p:spPr bwMode="auto">
            <a:xfrm>
              <a:off x="2020" y="10882"/>
              <a:ext cx="2679" cy="3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10800" rIns="9144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 dirty="0" smtClean="0">
                  <a:ln>
                    <a:noFill/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cs typeface="Arial" pitchFamily="34" charset="0"/>
                </a:rPr>
                <a:t>Субъекты</a:t>
              </a:r>
            </a:p>
          </p:txBody>
        </p:sp>
        <p:sp>
          <p:nvSpPr>
            <p:cNvPr id="61448" name="Text Box 8"/>
            <p:cNvSpPr txBox="1">
              <a:spLocks noChangeArrowheads="1"/>
            </p:cNvSpPr>
            <p:nvPr/>
          </p:nvSpPr>
          <p:spPr bwMode="auto">
            <a:xfrm>
              <a:off x="7492" y="11248"/>
              <a:ext cx="3225" cy="735"/>
            </a:xfrm>
            <a:prstGeom prst="rect">
              <a:avLst/>
            </a:prstGeom>
            <a:gradFill flip="none" rotWithShape="1">
              <a:gsLst>
                <a:gs pos="0">
                  <a:srgbClr val="FCFF87">
                    <a:shade val="30000"/>
                    <a:satMod val="115000"/>
                  </a:srgbClr>
                </a:gs>
                <a:gs pos="50000">
                  <a:srgbClr val="FCFF87">
                    <a:shade val="67500"/>
                    <a:satMod val="115000"/>
                  </a:srgbClr>
                </a:gs>
                <a:gs pos="100000">
                  <a:srgbClr val="FCFF87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 dirty="0" smtClean="0">
                  <a:ln>
                    <a:noFill/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cs typeface="Arial" pitchFamily="34" charset="0"/>
                </a:rPr>
                <a:t>Уровень конфиденциальности 1</a:t>
              </a:r>
            </a:p>
          </p:txBody>
        </p:sp>
        <p:sp>
          <p:nvSpPr>
            <p:cNvPr id="61449" name="Text Box 9"/>
            <p:cNvSpPr txBox="1">
              <a:spLocks noChangeArrowheads="1"/>
            </p:cNvSpPr>
            <p:nvPr/>
          </p:nvSpPr>
          <p:spPr bwMode="auto">
            <a:xfrm>
              <a:off x="7492" y="12088"/>
              <a:ext cx="3225" cy="737"/>
            </a:xfrm>
            <a:prstGeom prst="rect">
              <a:avLst/>
            </a:prstGeom>
            <a:gradFill flip="none" rotWithShape="1">
              <a:gsLst>
                <a:gs pos="0">
                  <a:srgbClr val="FCFF87">
                    <a:shade val="30000"/>
                    <a:satMod val="115000"/>
                  </a:srgbClr>
                </a:gs>
                <a:gs pos="50000">
                  <a:srgbClr val="FCFF87">
                    <a:shade val="67500"/>
                    <a:satMod val="115000"/>
                  </a:srgbClr>
                </a:gs>
                <a:gs pos="100000">
                  <a:srgbClr val="FCFF87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 dirty="0" smtClean="0">
                  <a:ln>
                    <a:noFill/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cs typeface="Arial" pitchFamily="34" charset="0"/>
                </a:rPr>
                <a:t>Уровень  конфиденциальности 2</a:t>
              </a:r>
            </a:p>
          </p:txBody>
        </p:sp>
        <p:sp>
          <p:nvSpPr>
            <p:cNvPr id="61450" name="Text Box 10"/>
            <p:cNvSpPr txBox="1">
              <a:spLocks noChangeArrowheads="1"/>
            </p:cNvSpPr>
            <p:nvPr/>
          </p:nvSpPr>
          <p:spPr bwMode="auto">
            <a:xfrm>
              <a:off x="7492" y="12934"/>
              <a:ext cx="3225" cy="737"/>
            </a:xfrm>
            <a:prstGeom prst="rect">
              <a:avLst/>
            </a:prstGeom>
            <a:gradFill flip="none" rotWithShape="1">
              <a:gsLst>
                <a:gs pos="0">
                  <a:srgbClr val="FCFF87">
                    <a:shade val="30000"/>
                    <a:satMod val="115000"/>
                  </a:srgbClr>
                </a:gs>
                <a:gs pos="50000">
                  <a:srgbClr val="FCFF87">
                    <a:shade val="67500"/>
                    <a:satMod val="115000"/>
                  </a:srgbClr>
                </a:gs>
                <a:gs pos="100000">
                  <a:srgbClr val="FCFF87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 dirty="0" smtClean="0">
                  <a:ln>
                    <a:noFill/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cs typeface="Arial" pitchFamily="34" charset="0"/>
                </a:rPr>
                <a:t>Уровень  конфиденциальности 3</a:t>
              </a:r>
            </a:p>
          </p:txBody>
        </p:sp>
        <p:sp>
          <p:nvSpPr>
            <p:cNvPr id="61451" name="Text Box 11"/>
            <p:cNvSpPr txBox="1">
              <a:spLocks noChangeArrowheads="1"/>
            </p:cNvSpPr>
            <p:nvPr/>
          </p:nvSpPr>
          <p:spPr bwMode="auto">
            <a:xfrm>
              <a:off x="7492" y="13765"/>
              <a:ext cx="3225" cy="737"/>
            </a:xfrm>
            <a:prstGeom prst="rect">
              <a:avLst/>
            </a:prstGeom>
            <a:gradFill flip="none" rotWithShape="1">
              <a:gsLst>
                <a:gs pos="0">
                  <a:srgbClr val="FCFF87">
                    <a:shade val="30000"/>
                    <a:satMod val="115000"/>
                  </a:srgbClr>
                </a:gs>
                <a:gs pos="50000">
                  <a:srgbClr val="FCFF87">
                    <a:shade val="67500"/>
                    <a:satMod val="115000"/>
                  </a:srgbClr>
                </a:gs>
                <a:gs pos="100000">
                  <a:srgbClr val="FCFF87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 dirty="0" smtClean="0">
                  <a:ln>
                    <a:noFill/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cs typeface="Arial" pitchFamily="34" charset="0"/>
                </a:rPr>
                <a:t>Уровень конфиденциальности 4</a:t>
              </a:r>
            </a:p>
          </p:txBody>
        </p:sp>
        <p:sp>
          <p:nvSpPr>
            <p:cNvPr id="61452" name="Text Box 12"/>
            <p:cNvSpPr txBox="1">
              <a:spLocks noChangeArrowheads="1"/>
            </p:cNvSpPr>
            <p:nvPr/>
          </p:nvSpPr>
          <p:spPr bwMode="auto">
            <a:xfrm>
              <a:off x="7720" y="10825"/>
              <a:ext cx="2679" cy="3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10800" rIns="9144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 dirty="0" smtClean="0">
                  <a:ln>
                    <a:noFill/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cs typeface="Arial" pitchFamily="34" charset="0"/>
                </a:rPr>
                <a:t>Объекты</a:t>
              </a:r>
            </a:p>
          </p:txBody>
        </p:sp>
        <p:sp>
          <p:nvSpPr>
            <p:cNvPr id="61453" name="Line 13"/>
            <p:cNvSpPr>
              <a:spLocks noChangeShapeType="1"/>
            </p:cNvSpPr>
            <p:nvPr/>
          </p:nvSpPr>
          <p:spPr bwMode="auto">
            <a:xfrm>
              <a:off x="4982" y="11529"/>
              <a:ext cx="251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stealth" w="sm" len="lg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endParaRPr>
            </a:p>
          </p:txBody>
        </p:sp>
        <p:sp>
          <p:nvSpPr>
            <p:cNvPr id="61454" name="Line 14"/>
            <p:cNvSpPr>
              <a:spLocks noChangeShapeType="1"/>
            </p:cNvSpPr>
            <p:nvPr/>
          </p:nvSpPr>
          <p:spPr bwMode="auto">
            <a:xfrm>
              <a:off x="4982" y="11529"/>
              <a:ext cx="2510" cy="79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stealth" w="sm" len="lg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endParaRPr>
            </a:p>
          </p:txBody>
        </p:sp>
        <p:sp>
          <p:nvSpPr>
            <p:cNvPr id="61455" name="Line 15"/>
            <p:cNvSpPr>
              <a:spLocks noChangeShapeType="1"/>
            </p:cNvSpPr>
            <p:nvPr/>
          </p:nvSpPr>
          <p:spPr bwMode="auto">
            <a:xfrm>
              <a:off x="4982" y="11529"/>
              <a:ext cx="2510" cy="1653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stealth" w="sm" len="lg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endParaRPr>
            </a:p>
          </p:txBody>
        </p:sp>
        <p:sp>
          <p:nvSpPr>
            <p:cNvPr id="61456" name="Line 16"/>
            <p:cNvSpPr>
              <a:spLocks noChangeShapeType="1"/>
            </p:cNvSpPr>
            <p:nvPr/>
          </p:nvSpPr>
          <p:spPr bwMode="auto">
            <a:xfrm>
              <a:off x="4982" y="11529"/>
              <a:ext cx="2510" cy="250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stealth" w="sm" len="lg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endParaRPr>
            </a:p>
          </p:txBody>
        </p:sp>
        <p:sp>
          <p:nvSpPr>
            <p:cNvPr id="61457" name="Line 17"/>
            <p:cNvSpPr>
              <a:spLocks noChangeShapeType="1"/>
            </p:cNvSpPr>
            <p:nvPr/>
          </p:nvSpPr>
          <p:spPr bwMode="auto">
            <a:xfrm>
              <a:off x="4982" y="11757"/>
              <a:ext cx="251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prstDash val="sysDash"/>
              <a:round/>
              <a:headEnd/>
              <a:tailEnd type="stealth" w="sm" len="lg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endParaRPr>
            </a:p>
          </p:txBody>
        </p:sp>
        <p:sp>
          <p:nvSpPr>
            <p:cNvPr id="61458" name="Line 18"/>
            <p:cNvSpPr>
              <a:spLocks noChangeShapeType="1"/>
            </p:cNvSpPr>
            <p:nvPr/>
          </p:nvSpPr>
          <p:spPr bwMode="auto">
            <a:xfrm>
              <a:off x="4982" y="12327"/>
              <a:ext cx="251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stealth" w="sm" len="lg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endParaRPr>
            </a:p>
          </p:txBody>
        </p:sp>
        <p:sp>
          <p:nvSpPr>
            <p:cNvPr id="61459" name="Line 19"/>
            <p:cNvSpPr>
              <a:spLocks noChangeShapeType="1"/>
            </p:cNvSpPr>
            <p:nvPr/>
          </p:nvSpPr>
          <p:spPr bwMode="auto">
            <a:xfrm>
              <a:off x="4982" y="12327"/>
              <a:ext cx="2510" cy="85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stealth" w="sm" len="lg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endParaRPr>
            </a:p>
          </p:txBody>
        </p:sp>
        <p:sp>
          <p:nvSpPr>
            <p:cNvPr id="61460" name="Line 20"/>
            <p:cNvSpPr>
              <a:spLocks noChangeShapeType="1"/>
            </p:cNvSpPr>
            <p:nvPr/>
          </p:nvSpPr>
          <p:spPr bwMode="auto">
            <a:xfrm>
              <a:off x="4982" y="12327"/>
              <a:ext cx="2510" cy="171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stealth" w="sm" len="lg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endParaRPr>
            </a:p>
          </p:txBody>
        </p:sp>
        <p:sp>
          <p:nvSpPr>
            <p:cNvPr id="61461" name="Line 21"/>
            <p:cNvSpPr>
              <a:spLocks noChangeShapeType="1"/>
            </p:cNvSpPr>
            <p:nvPr/>
          </p:nvSpPr>
          <p:spPr bwMode="auto">
            <a:xfrm>
              <a:off x="4982" y="13182"/>
              <a:ext cx="251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stealth" w="sm" len="lg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endParaRPr>
            </a:p>
          </p:txBody>
        </p:sp>
        <p:sp>
          <p:nvSpPr>
            <p:cNvPr id="61462" name="Line 22"/>
            <p:cNvSpPr>
              <a:spLocks noChangeShapeType="1"/>
            </p:cNvSpPr>
            <p:nvPr/>
          </p:nvSpPr>
          <p:spPr bwMode="auto">
            <a:xfrm>
              <a:off x="4982" y="13182"/>
              <a:ext cx="2510" cy="85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stealth" w="sm" len="lg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endParaRPr>
            </a:p>
          </p:txBody>
        </p:sp>
        <p:sp>
          <p:nvSpPr>
            <p:cNvPr id="61463" name="Line 23"/>
            <p:cNvSpPr>
              <a:spLocks noChangeShapeType="1"/>
            </p:cNvSpPr>
            <p:nvPr/>
          </p:nvSpPr>
          <p:spPr bwMode="auto">
            <a:xfrm>
              <a:off x="4982" y="14037"/>
              <a:ext cx="251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stealth" w="sm" len="lg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endParaRPr>
            </a:p>
          </p:txBody>
        </p:sp>
        <p:sp>
          <p:nvSpPr>
            <p:cNvPr id="61464" name="Line 24"/>
            <p:cNvSpPr>
              <a:spLocks noChangeShapeType="1"/>
            </p:cNvSpPr>
            <p:nvPr/>
          </p:nvSpPr>
          <p:spPr bwMode="auto">
            <a:xfrm>
              <a:off x="4982" y="14265"/>
              <a:ext cx="251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prstDash val="sysDash"/>
              <a:round/>
              <a:headEnd/>
              <a:tailEnd type="stealth" w="sm" len="lg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endParaRPr>
            </a:p>
          </p:txBody>
        </p:sp>
        <p:sp>
          <p:nvSpPr>
            <p:cNvPr id="61465" name="Line 25"/>
            <p:cNvSpPr>
              <a:spLocks noChangeShapeType="1"/>
            </p:cNvSpPr>
            <p:nvPr/>
          </p:nvSpPr>
          <p:spPr bwMode="auto">
            <a:xfrm flipV="1">
              <a:off x="4982" y="13410"/>
              <a:ext cx="2510" cy="85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prstDash val="sysDash"/>
              <a:round/>
              <a:headEnd/>
              <a:tailEnd type="stealth" w="sm" len="lg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endParaRPr>
            </a:p>
          </p:txBody>
        </p:sp>
        <p:sp>
          <p:nvSpPr>
            <p:cNvPr id="61466" name="Line 26"/>
            <p:cNvSpPr>
              <a:spLocks noChangeShapeType="1"/>
            </p:cNvSpPr>
            <p:nvPr/>
          </p:nvSpPr>
          <p:spPr bwMode="auto">
            <a:xfrm flipV="1">
              <a:off x="4982" y="12555"/>
              <a:ext cx="2510" cy="171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prstDash val="sysDash"/>
              <a:round/>
              <a:headEnd/>
              <a:tailEnd type="stealth" w="sm" len="lg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endParaRPr>
            </a:p>
          </p:txBody>
        </p:sp>
        <p:sp>
          <p:nvSpPr>
            <p:cNvPr id="61467" name="Line 27"/>
            <p:cNvSpPr>
              <a:spLocks noChangeShapeType="1"/>
            </p:cNvSpPr>
            <p:nvPr/>
          </p:nvSpPr>
          <p:spPr bwMode="auto">
            <a:xfrm flipV="1">
              <a:off x="4982" y="11757"/>
              <a:ext cx="2510" cy="250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prstDash val="sysDash"/>
              <a:round/>
              <a:headEnd/>
              <a:tailEnd type="stealth" w="sm" len="lg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endParaRPr>
            </a:p>
          </p:txBody>
        </p:sp>
        <p:sp>
          <p:nvSpPr>
            <p:cNvPr id="61468" name="Line 28"/>
            <p:cNvSpPr>
              <a:spLocks noChangeShapeType="1"/>
            </p:cNvSpPr>
            <p:nvPr/>
          </p:nvSpPr>
          <p:spPr bwMode="auto">
            <a:xfrm>
              <a:off x="4982" y="13410"/>
              <a:ext cx="251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prstDash val="sysDash"/>
              <a:round/>
              <a:headEnd/>
              <a:tailEnd type="stealth" w="sm" len="lg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endParaRPr>
            </a:p>
          </p:txBody>
        </p:sp>
        <p:sp>
          <p:nvSpPr>
            <p:cNvPr id="61469" name="Line 29"/>
            <p:cNvSpPr>
              <a:spLocks noChangeShapeType="1"/>
            </p:cNvSpPr>
            <p:nvPr/>
          </p:nvSpPr>
          <p:spPr bwMode="auto">
            <a:xfrm flipV="1">
              <a:off x="4982" y="12555"/>
              <a:ext cx="2510" cy="85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prstDash val="sysDash"/>
              <a:round/>
              <a:headEnd/>
              <a:tailEnd type="stealth" w="sm" len="lg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endParaRPr>
            </a:p>
          </p:txBody>
        </p:sp>
        <p:sp>
          <p:nvSpPr>
            <p:cNvPr id="61470" name="Line 30"/>
            <p:cNvSpPr>
              <a:spLocks noChangeShapeType="1"/>
            </p:cNvSpPr>
            <p:nvPr/>
          </p:nvSpPr>
          <p:spPr bwMode="auto">
            <a:xfrm flipV="1">
              <a:off x="4982" y="11757"/>
              <a:ext cx="2510" cy="1653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prstDash val="sysDash"/>
              <a:round/>
              <a:headEnd/>
              <a:tailEnd type="stealth" w="sm" len="lg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endParaRPr>
            </a:p>
          </p:txBody>
        </p:sp>
        <p:sp>
          <p:nvSpPr>
            <p:cNvPr id="61471" name="Line 31"/>
            <p:cNvSpPr>
              <a:spLocks noChangeShapeType="1"/>
            </p:cNvSpPr>
            <p:nvPr/>
          </p:nvSpPr>
          <p:spPr bwMode="auto">
            <a:xfrm>
              <a:off x="4982" y="12555"/>
              <a:ext cx="251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prstDash val="sysDash"/>
              <a:round/>
              <a:headEnd/>
              <a:tailEnd type="stealth" w="sm" len="lg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endParaRPr>
            </a:p>
          </p:txBody>
        </p:sp>
        <p:sp>
          <p:nvSpPr>
            <p:cNvPr id="61472" name="Line 32"/>
            <p:cNvSpPr>
              <a:spLocks noChangeShapeType="1"/>
            </p:cNvSpPr>
            <p:nvPr/>
          </p:nvSpPr>
          <p:spPr bwMode="auto">
            <a:xfrm flipV="1">
              <a:off x="4982" y="11757"/>
              <a:ext cx="2510" cy="79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prstDash val="sysDash"/>
              <a:round/>
              <a:headEnd/>
              <a:tailEnd type="stealth" w="sm" len="lg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endParaRPr>
            </a:p>
          </p:txBody>
        </p:sp>
        <p:sp>
          <p:nvSpPr>
            <p:cNvPr id="61473" name="Line 33"/>
            <p:cNvSpPr>
              <a:spLocks noChangeShapeType="1"/>
            </p:cNvSpPr>
            <p:nvPr/>
          </p:nvSpPr>
          <p:spPr bwMode="auto">
            <a:xfrm>
              <a:off x="3630" y="14758"/>
              <a:ext cx="833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stealth" w="sm" len="lg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endParaRPr>
            </a:p>
          </p:txBody>
        </p:sp>
        <p:sp>
          <p:nvSpPr>
            <p:cNvPr id="61474" name="Line 34"/>
            <p:cNvSpPr>
              <a:spLocks noChangeShapeType="1"/>
            </p:cNvSpPr>
            <p:nvPr/>
          </p:nvSpPr>
          <p:spPr bwMode="auto">
            <a:xfrm>
              <a:off x="7828" y="14758"/>
              <a:ext cx="833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prstDash val="sysDash"/>
              <a:round/>
              <a:headEnd/>
              <a:tailEnd type="stealth" w="sm" len="lg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endParaRPr>
            </a:p>
          </p:txBody>
        </p:sp>
      </p:grp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z="2400" smtClean="0"/>
              <a:pPr>
                <a:defRPr/>
              </a:pPr>
              <a:t>44</a:t>
            </a:fld>
            <a:endParaRPr lang="ru-RU" sz="2400" dirty="0"/>
          </a:p>
        </p:txBody>
      </p:sp>
      <p:sp>
        <p:nvSpPr>
          <p:cNvPr id="41" name="TextBox 40"/>
          <p:cNvSpPr txBox="1"/>
          <p:nvPr/>
        </p:nvSpPr>
        <p:spPr>
          <a:xfrm>
            <a:off x="1740224" y="5643578"/>
            <a:ext cx="1571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тип доступа: Ч, М, 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90674" y="5643578"/>
            <a:ext cx="1571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тип доступа: </a:t>
            </a:r>
            <a:r>
              <a:rPr lang="ru-RU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С</a:t>
            </a:r>
            <a:endParaRPr lang="ru-RU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93525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5762" y="274638"/>
            <a:ext cx="8472518" cy="1143000"/>
          </a:xfrm>
        </p:spPr>
        <p:txBody>
          <a:bodyPr>
            <a:noAutofit/>
          </a:bodyPr>
          <a:lstStyle/>
          <a:p>
            <a:r>
              <a:rPr lang="ru-RU" sz="4000" dirty="0" smtClean="0">
                <a:solidFill>
                  <a:schemeClr val="accent1">
                    <a:lumMod val="75000"/>
                  </a:schemeClr>
                </a:solidFill>
              </a:rPr>
              <a:t>Функционально-зональный принцип разграничения доступа</a:t>
            </a:r>
            <a:endParaRPr lang="ru-RU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556792"/>
            <a:ext cx="8208912" cy="4725101"/>
          </a:xfrm>
        </p:spPr>
        <p:txBody>
          <a:bodyPr/>
          <a:lstStyle/>
          <a:p>
            <a:r>
              <a:rPr lang="ru-RU" dirty="0" smtClean="0"/>
              <a:t>Внутри </a:t>
            </a:r>
            <a:r>
              <a:rPr lang="ru-RU" dirty="0"/>
              <a:t>уровней </a:t>
            </a:r>
            <a:r>
              <a:rPr lang="ru-RU" dirty="0" smtClean="0"/>
              <a:t>ММБ </a:t>
            </a:r>
            <a:r>
              <a:rPr lang="ru-RU" dirty="0"/>
              <a:t>может дополняться </a:t>
            </a:r>
            <a:r>
              <a:rPr lang="ru-RU" dirty="0" smtClean="0"/>
              <a:t>дискреционным принципом разграничением доступа.</a:t>
            </a:r>
            <a:endParaRPr lang="ru-RU" dirty="0"/>
          </a:p>
          <a:p>
            <a:pPr>
              <a:buClrTx/>
            </a:pP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ММБ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может дополняться элементами 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функционально-зонального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принципа разграничения доступа, в соответствии с которым защищаемые сведения, помимо категории конфиденциальности, получают 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признак функциональной тематики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(зоны). Соответственно, каждый работник, имеющий определенный уровень допуска к конфиденциальным сведениям, по своим функциональным обязанностям имеет определенный</a:t>
            </a: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профиль деятельности</a:t>
            </a: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который предоставляет допуск или уточняет сферу допуска к категорированным сведениям только соответствующей тематики.</a:t>
            </a: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z="2400" smtClean="0"/>
              <a:pPr>
                <a:defRPr/>
              </a:pPr>
              <a:t>45</a:t>
            </a:fld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98455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00" dirty="0" smtClean="0"/>
              <a:t>Достоинства мандатной модели </a:t>
            </a:r>
            <a:r>
              <a:rPr lang="ru-RU" sz="4400" dirty="0"/>
              <a:t>безопасности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1510" y="1556792"/>
            <a:ext cx="8685965" cy="4708525"/>
          </a:xfrm>
        </p:spPr>
        <p:txBody>
          <a:bodyPr/>
          <a:lstStyle/>
          <a:p>
            <a:r>
              <a:rPr lang="ru-RU" sz="2300" dirty="0"/>
              <a:t>В рамках </a:t>
            </a:r>
            <a:r>
              <a:rPr lang="ru-RU" sz="2300" dirty="0" smtClean="0"/>
              <a:t>ММБ доказывается </a:t>
            </a:r>
            <a:r>
              <a:rPr lang="ru-RU" sz="2300" dirty="0"/>
              <a:t>важное утверждение, </a:t>
            </a:r>
            <a:r>
              <a:rPr lang="ru-RU" sz="2300" dirty="0" smtClean="0"/>
              <a:t> принципиально отличающее ее от ДМБ: </a:t>
            </a:r>
          </a:p>
          <a:p>
            <a:r>
              <a:rPr lang="ru-RU" sz="2300" b="1" dirty="0" smtClean="0">
                <a:solidFill>
                  <a:srgbClr val="FF0000"/>
                </a:solidFill>
              </a:rPr>
              <a:t>Если </a:t>
            </a:r>
            <a:r>
              <a:rPr lang="ru-RU" sz="2300" b="1" dirty="0">
                <a:solidFill>
                  <a:srgbClr val="FF0000"/>
                </a:solidFill>
              </a:rPr>
              <a:t>начальное состояние системы безопасно, и все переходы системы из состояния в состояние не нарушают ограничений, сформулированных политикой безопасности, то любое </a:t>
            </a:r>
            <a:r>
              <a:rPr lang="ru-RU" sz="2300" b="1" dirty="0" smtClean="0">
                <a:solidFill>
                  <a:srgbClr val="FF0000"/>
                </a:solidFill>
              </a:rPr>
              <a:t>последующее состояние </a:t>
            </a:r>
            <a:r>
              <a:rPr lang="ru-RU" sz="2300" b="1" dirty="0">
                <a:solidFill>
                  <a:srgbClr val="FF0000"/>
                </a:solidFill>
              </a:rPr>
              <a:t>системы безопасно.</a:t>
            </a:r>
          </a:p>
          <a:p>
            <a:r>
              <a:rPr lang="ru-RU" sz="2300" dirty="0"/>
              <a:t>Кроме </a:t>
            </a:r>
            <a:r>
              <a:rPr lang="ru-RU" sz="2300" dirty="0" smtClean="0"/>
              <a:t>того для ИС с ММБ характерна </a:t>
            </a:r>
            <a:r>
              <a:rPr lang="ru-RU" sz="2300" dirty="0"/>
              <a:t>более высокая степень надежности. Это связано с тем, что монитор безопасности такой системы должен отслеживать, не только правила доступа субъектов системы к объектам, но и состояния самой </a:t>
            </a:r>
            <a:r>
              <a:rPr lang="ru-RU" sz="2300" dirty="0" smtClean="0"/>
              <a:t>ИС</a:t>
            </a:r>
            <a:r>
              <a:rPr lang="ru-RU" sz="2300" dirty="0"/>
              <a:t>. Таким образом, каналы утечки в системах данного типа не заложены в нее непосредственно (что наблюдается </a:t>
            </a:r>
            <a:r>
              <a:rPr lang="ru-RU" sz="2300" dirty="0" smtClean="0"/>
              <a:t>ДМБ), </a:t>
            </a:r>
            <a:r>
              <a:rPr lang="ru-RU" sz="2300" dirty="0"/>
              <a:t>а могут появиться только при практической реализации системы.</a:t>
            </a:r>
          </a:p>
          <a:p>
            <a:endParaRPr lang="ru-RU" sz="23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7426079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Дополнение мандатной модели дискреционным доступом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708525"/>
          </a:xfrm>
        </p:spPr>
        <p:txBody>
          <a:bodyPr/>
          <a:lstStyle/>
          <a:p>
            <a:r>
              <a:rPr lang="ru-RU" dirty="0" smtClean="0"/>
              <a:t>При мандатном доступе, </a:t>
            </a:r>
            <a:r>
              <a:rPr lang="ru-RU" dirty="0"/>
              <a:t>разграничение </a:t>
            </a:r>
            <a:r>
              <a:rPr lang="ru-RU" dirty="0" smtClean="0"/>
              <a:t>осуществляется </a:t>
            </a:r>
            <a:r>
              <a:rPr lang="ru-RU" dirty="0"/>
              <a:t>до уровня классов безопасности сущностей системы</a:t>
            </a:r>
            <a:r>
              <a:rPr lang="ru-RU" dirty="0" smtClean="0"/>
              <a:t>. Т.е. </a:t>
            </a:r>
            <a:r>
              <a:rPr lang="ru-RU" dirty="0"/>
              <a:t>любой объект определенного уровня безопасности доступен любому субъекту соответствующего уровня безопасности (с учетом правил NRU и NWD). </a:t>
            </a:r>
            <a:endParaRPr lang="ru-RU" dirty="0" smtClean="0"/>
          </a:p>
          <a:p>
            <a:r>
              <a:rPr lang="ru-RU" dirty="0" smtClean="0"/>
              <a:t>Нетрудно </a:t>
            </a:r>
            <a:r>
              <a:rPr lang="ru-RU" dirty="0"/>
              <a:t>видеть, что </a:t>
            </a:r>
            <a:r>
              <a:rPr lang="ru-RU" dirty="0" smtClean="0"/>
              <a:t>это приводит к </a:t>
            </a:r>
            <a:r>
              <a:rPr lang="ru-RU" dirty="0"/>
              <a:t>избыточности прав доступа для конкретных субъектов в пределах соответствующих классов безопасности, что противоречит самому понятию разграничения доступа. </a:t>
            </a:r>
            <a:endParaRPr lang="ru-RU" dirty="0" smtClean="0"/>
          </a:p>
          <a:p>
            <a:r>
              <a:rPr lang="ru-RU" dirty="0" smtClean="0"/>
              <a:t>Для </a:t>
            </a:r>
            <a:r>
              <a:rPr lang="ru-RU" dirty="0"/>
              <a:t>устранения данного недостатка мандатный принцип разграничения доступа часто дополняется дискреционным внутри соответствующих классов безопасности.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36463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Расширения модели </a:t>
            </a:r>
            <a:r>
              <a:rPr lang="ru-RU" dirty="0" smtClean="0"/>
              <a:t>            Белла-</a:t>
            </a:r>
            <a:r>
              <a:rPr lang="ru-RU" dirty="0" err="1" smtClean="0"/>
              <a:t>ЛаПадулы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 практической реализации модели Белла-</a:t>
            </a:r>
            <a:r>
              <a:rPr lang="ru-RU" dirty="0" err="1"/>
              <a:t>ЛаПадулы</a:t>
            </a:r>
            <a:r>
              <a:rPr lang="ru-RU" dirty="0"/>
              <a:t> в реальных </a:t>
            </a:r>
            <a:r>
              <a:rPr lang="ru-RU" dirty="0" smtClean="0"/>
              <a:t>ИС </a:t>
            </a:r>
            <a:r>
              <a:rPr lang="ru-RU" dirty="0"/>
              <a:t>возник ряд трудностей, послуживших основанием для многочисленных работ по ее критическому анализу. Основные из этих </a:t>
            </a:r>
            <a:r>
              <a:rPr lang="ru-RU" dirty="0" smtClean="0"/>
              <a:t>трудностей: </a:t>
            </a:r>
            <a:endParaRPr lang="ru-RU" dirty="0"/>
          </a:p>
          <a:p>
            <a:pPr marL="1077913" indent="-273050">
              <a:buFont typeface="Wingdings" panose="05000000000000000000" pitchFamily="2" charset="2"/>
              <a:buChar char="Ø"/>
            </a:pPr>
            <a:r>
              <a:rPr lang="ru-RU" dirty="0" smtClean="0"/>
              <a:t>проблемы </a:t>
            </a:r>
            <a:r>
              <a:rPr lang="ru-RU" dirty="0"/>
              <a:t>переходных процессов, изменяющих доверительные характеристики (уровни безопасности) субъектов и объектов доступа; </a:t>
            </a:r>
          </a:p>
          <a:p>
            <a:pPr marL="1077913" indent="-273050">
              <a:buFont typeface="Wingdings" panose="05000000000000000000" pitchFamily="2" charset="2"/>
              <a:buChar char="Ø"/>
            </a:pPr>
            <a:r>
              <a:rPr lang="ru-RU" dirty="0" smtClean="0"/>
              <a:t>невозможность </a:t>
            </a:r>
            <a:r>
              <a:rPr lang="ru-RU" dirty="0"/>
              <a:t>ограничиться в реальных </a:t>
            </a:r>
            <a:r>
              <a:rPr lang="ru-RU" dirty="0" smtClean="0"/>
              <a:t>ИС </a:t>
            </a:r>
            <a:r>
              <a:rPr lang="ru-RU" dirty="0"/>
              <a:t>процессами, сопровождающимися только однонаправленными информационными потоками.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686957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Расширения модели             Белла-</a:t>
            </a:r>
            <a:r>
              <a:rPr lang="ru-RU" dirty="0" err="1"/>
              <a:t>ЛаПадулы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600200"/>
            <a:ext cx="8363272" cy="4708525"/>
          </a:xfrm>
        </p:spPr>
        <p:txBody>
          <a:bodyPr/>
          <a:lstStyle/>
          <a:p>
            <a:r>
              <a:rPr lang="ru-RU" dirty="0"/>
              <a:t>В частности, </a:t>
            </a:r>
            <a:r>
              <a:rPr lang="ru-RU" dirty="0" err="1" smtClean="0"/>
              <a:t>МакЛин</a:t>
            </a:r>
            <a:r>
              <a:rPr lang="ru-RU" dirty="0" smtClean="0"/>
              <a:t> </a:t>
            </a:r>
            <a:r>
              <a:rPr lang="ru-RU" dirty="0"/>
              <a:t>привел концептуальное описание </a:t>
            </a:r>
            <a:r>
              <a:rPr lang="ru-RU" b="1" dirty="0"/>
              <a:t>Z-системы</a:t>
            </a:r>
            <a:r>
              <a:rPr lang="ru-RU" dirty="0"/>
              <a:t>, удовлетворяющей условиям ОТБ  </a:t>
            </a:r>
            <a:r>
              <a:rPr lang="ru-RU" dirty="0" smtClean="0"/>
              <a:t>(основная </a:t>
            </a:r>
            <a:r>
              <a:rPr lang="ru-RU" dirty="0"/>
              <a:t>теорема безопасности  Белла-</a:t>
            </a:r>
            <a:r>
              <a:rPr lang="ru-RU" dirty="0" err="1"/>
              <a:t>ЛаПадулы</a:t>
            </a:r>
            <a:r>
              <a:rPr lang="ru-RU" dirty="0"/>
              <a:t>), но, вместе с тем, обеспечивающей возможность получения доступа любым субъектом к любому объекту по любому методу (</a:t>
            </a:r>
            <a:r>
              <a:rPr lang="ru-RU" dirty="0" err="1"/>
              <a:t>read</a:t>
            </a:r>
            <a:r>
              <a:rPr lang="ru-RU" dirty="0"/>
              <a:t> и </a:t>
            </a:r>
            <a:r>
              <a:rPr lang="ru-RU" dirty="0" err="1"/>
              <a:t>write</a:t>
            </a:r>
            <a:r>
              <a:rPr lang="ru-RU" dirty="0"/>
              <a:t>). </a:t>
            </a:r>
            <a:r>
              <a:rPr lang="ru-RU" dirty="0" err="1" smtClean="0"/>
              <a:t>МакЛин</a:t>
            </a:r>
            <a:r>
              <a:rPr lang="ru-RU" dirty="0" smtClean="0"/>
              <a:t> </a:t>
            </a:r>
            <a:r>
              <a:rPr lang="ru-RU" dirty="0"/>
              <a:t>построил несколько расширений модели Белла-</a:t>
            </a:r>
            <a:r>
              <a:rPr lang="ru-RU" dirty="0" err="1"/>
              <a:t>ЛаПадуллы</a:t>
            </a:r>
            <a:r>
              <a:rPr lang="ru-RU" dirty="0"/>
              <a:t>, преодолевающих некоторые ее недостатки и приближающих ее к канонической модели. </a:t>
            </a:r>
            <a:endParaRPr lang="ru-RU" dirty="0" smtClean="0"/>
          </a:p>
          <a:p>
            <a:r>
              <a:rPr lang="ru-RU" dirty="0" smtClean="0"/>
              <a:t>Альтернатива </a:t>
            </a:r>
            <a:r>
              <a:rPr lang="ru-RU" dirty="0"/>
              <a:t>уполномоченным субъектам, избавляющая процессы безопасности от субъективного фактора, была реализована в мандатной модели </a:t>
            </a:r>
            <a:r>
              <a:rPr lang="en-US" b="1" dirty="0"/>
              <a:t>Low-Water</a:t>
            </a:r>
            <a:r>
              <a:rPr lang="ru-RU" b="1" dirty="0"/>
              <a:t>м</a:t>
            </a:r>
            <a:r>
              <a:rPr lang="en-US" b="1" dirty="0"/>
              <a:t>ark (LWM).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1639311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Расширения модели             Белла-</a:t>
            </a:r>
            <a:r>
              <a:rPr lang="ru-RU" dirty="0" err="1"/>
              <a:t>ЛаПадулы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600200"/>
            <a:ext cx="8435280" cy="4708525"/>
          </a:xfrm>
        </p:spPr>
        <p:txBody>
          <a:bodyPr/>
          <a:lstStyle/>
          <a:p>
            <a:r>
              <a:rPr lang="ru-RU" dirty="0"/>
              <a:t>Еще одним расширением модели Белла-</a:t>
            </a:r>
            <a:r>
              <a:rPr lang="ru-RU" dirty="0" err="1"/>
              <a:t>ЛаПадулы</a:t>
            </a:r>
            <a:r>
              <a:rPr lang="ru-RU" dirty="0"/>
              <a:t>, имеющим важное прикладное значение, является введение методологии и техники совместного (</a:t>
            </a:r>
            <a:r>
              <a:rPr lang="ru-RU" dirty="0" smtClean="0"/>
              <a:t>группового) </a:t>
            </a:r>
            <a:r>
              <a:rPr lang="ru-RU" dirty="0"/>
              <a:t>доступа</a:t>
            </a:r>
            <a:r>
              <a:rPr lang="ru-RU" dirty="0" smtClean="0"/>
              <a:t>. Для этого </a:t>
            </a:r>
            <a:r>
              <a:rPr lang="ru-RU" dirty="0"/>
              <a:t>в мандатной модели добавляется функция группового доступа. </a:t>
            </a:r>
            <a:r>
              <a:rPr lang="ru-RU" dirty="0" smtClean="0"/>
              <a:t>Соответственно </a:t>
            </a:r>
            <a:r>
              <a:rPr lang="ru-RU" dirty="0"/>
              <a:t>в матрице доступа A[s, o] системы добавляются строки, соответствующие субъектам группового доступа</a:t>
            </a:r>
            <a:r>
              <a:rPr lang="ru-RU" dirty="0" smtClean="0"/>
              <a:t>.</a:t>
            </a:r>
          </a:p>
          <a:p>
            <a:r>
              <a:rPr lang="ru-RU" dirty="0"/>
              <a:t>Помимо дополнения матрицы доступа </a:t>
            </a:r>
            <a:r>
              <a:rPr lang="ru-RU" dirty="0" smtClean="0"/>
              <a:t>групповыми </a:t>
            </a:r>
            <a:r>
              <a:rPr lang="ru-RU" dirty="0"/>
              <a:t>субъектами, </a:t>
            </a:r>
            <a:r>
              <a:rPr lang="ru-RU" dirty="0" smtClean="0"/>
              <a:t>вводятся механизмы </a:t>
            </a:r>
            <a:r>
              <a:rPr lang="ru-RU" dirty="0"/>
              <a:t>реализации для них правил </a:t>
            </a:r>
            <a:r>
              <a:rPr lang="ru-RU" dirty="0" smtClean="0"/>
              <a:t>NRU </a:t>
            </a:r>
            <a:r>
              <a:rPr lang="ru-RU" dirty="0"/>
              <a:t>и NWD, </a:t>
            </a:r>
            <a:r>
              <a:rPr lang="ru-RU" dirty="0" smtClean="0"/>
              <a:t>поскольку в состав субъекта </a:t>
            </a:r>
            <a:r>
              <a:rPr lang="ru-RU" dirty="0"/>
              <a:t>группового доступа, могут входить субъекты с различным уровнем безопасности.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638130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Расширения модели             Белла-</a:t>
            </a:r>
            <a:r>
              <a:rPr lang="ru-RU" dirty="0" err="1"/>
              <a:t>ЛаПадулы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Таким образом, расширения модели Белла-</a:t>
            </a:r>
            <a:r>
              <a:rPr lang="ru-RU" dirty="0" err="1"/>
              <a:t>ЛаПадулы</a:t>
            </a:r>
            <a:r>
              <a:rPr lang="ru-RU" dirty="0"/>
              <a:t> обеспечивают устранение многих недостатков исходной </a:t>
            </a:r>
            <a:r>
              <a:rPr lang="ru-RU" dirty="0" smtClean="0"/>
              <a:t>модели, но не снимают всех ее недостатков .</a:t>
            </a:r>
            <a:endParaRPr lang="ru-RU" dirty="0"/>
          </a:p>
          <a:p>
            <a:r>
              <a:rPr lang="ru-RU" dirty="0" smtClean="0"/>
              <a:t>В частности, мандатный </a:t>
            </a:r>
            <a:r>
              <a:rPr lang="ru-RU" dirty="0"/>
              <a:t>доступ снимает проблему "троянских программ", но только с точки зрения опасных потоков "сверху вниз". Однако в пределах одного класса безопасности, вопросы доступа решаются, как и в дискреционных моделях, на основе матрицы доступа, и, следовательно, для полного устранения проблемы "троянских программ" и в системах мандатного доступа требуется более тщательный и детализированный контроль информационных потоков.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810060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445624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Общие недостатки дискреционных и мандатных моделей 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795"/>
            <a:ext cx="8579296" cy="4708525"/>
          </a:xfrm>
        </p:spPr>
        <p:txBody>
          <a:bodyPr/>
          <a:lstStyle/>
          <a:p>
            <a:r>
              <a:rPr lang="ru-RU" dirty="0"/>
              <a:t>При большом количестве пользователей традиционные подсистемы управления доступом становятся крайне сложными для администрирования. </a:t>
            </a:r>
            <a:r>
              <a:rPr lang="ru-RU" u="sng" dirty="0"/>
              <a:t>Число связей в них пропорционально произведению количества пользователей на количество объектов</a:t>
            </a:r>
            <a:r>
              <a:rPr lang="ru-RU" dirty="0"/>
              <a:t>. Поэтому потребовались новые решения, способные эту сложность понизить.</a:t>
            </a:r>
          </a:p>
          <a:p>
            <a:r>
              <a:rPr lang="ru-RU" dirty="0"/>
              <a:t>В основе рассмотренных ранее политик безопасности лежат отношения между отдельным пользователем (субъектом) и объектом доступа, определяемые либо внешним фактором (дискреционный доступ), либо уровнем безопасности (мандатный доступ), либо тематикой информации (тематический доступ).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1616935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Ролевые модели управления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412776"/>
            <a:ext cx="8507288" cy="4708525"/>
          </a:xfrm>
        </p:spPr>
        <p:txBody>
          <a:bodyPr/>
          <a:lstStyle/>
          <a:p>
            <a:r>
              <a:rPr lang="ru-RU" dirty="0" smtClean="0"/>
              <a:t>Анализ </a:t>
            </a:r>
            <a:r>
              <a:rPr lang="ru-RU" dirty="0"/>
              <a:t>различных организационно-управленческих </a:t>
            </a:r>
            <a:r>
              <a:rPr lang="ru-RU" dirty="0" smtClean="0"/>
              <a:t>схем </a:t>
            </a:r>
            <a:r>
              <a:rPr lang="ru-RU" dirty="0"/>
              <a:t>показывает, что в реальной жизни сотрудники </a:t>
            </a:r>
            <a:r>
              <a:rPr lang="ru-RU" dirty="0" smtClean="0"/>
              <a:t>организаций выполняют </a:t>
            </a:r>
            <a:r>
              <a:rPr lang="ru-RU" dirty="0"/>
              <a:t>определенные функциональные обязанности не от своего личного имени, а в рамках некоторой должности. </a:t>
            </a:r>
            <a:endParaRPr lang="ru-RU" dirty="0" smtClean="0"/>
          </a:p>
          <a:p>
            <a:r>
              <a:rPr lang="ru-RU" dirty="0" smtClean="0"/>
              <a:t>Должность </a:t>
            </a:r>
            <a:r>
              <a:rPr lang="ru-RU" dirty="0"/>
              <a:t>можно трактовать как определенную роль, </a:t>
            </a:r>
            <a:r>
              <a:rPr lang="ru-RU" dirty="0" smtClean="0"/>
              <a:t>которая представляет </a:t>
            </a:r>
            <a:r>
              <a:rPr lang="ru-RU" dirty="0"/>
              <a:t>некоторую абстрактную, точнее обобщенную сущность, выражающую определенный тип функций и тип положения работника (подчиненность, права и полномочия). </a:t>
            </a:r>
            <a:endParaRPr lang="ru-RU" dirty="0" smtClean="0"/>
          </a:p>
          <a:p>
            <a:r>
              <a:rPr lang="ru-RU" dirty="0" smtClean="0"/>
              <a:t>То есть, права </a:t>
            </a:r>
            <a:r>
              <a:rPr lang="ru-RU" dirty="0"/>
              <a:t>и полномочия предоставляются конкретному сотруднику не </a:t>
            </a:r>
            <a:r>
              <a:rPr lang="ru-RU" dirty="0" smtClean="0"/>
              <a:t>лично, </a:t>
            </a:r>
            <a:r>
              <a:rPr lang="ru-RU" dirty="0"/>
              <a:t>а через назначение его на определенную должность (роль), с которой он и получает некоторый типовой набор прав и полномочий.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8498916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Ролевое управление доступом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808820"/>
            <a:ext cx="8424936" cy="3915435"/>
          </a:xfrm>
        </p:spPr>
        <p:txBody>
          <a:bodyPr/>
          <a:lstStyle/>
          <a:p>
            <a:r>
              <a:rPr lang="ru-RU" dirty="0"/>
              <a:t>В 2001 г. </a:t>
            </a:r>
            <a:r>
              <a:rPr lang="ru-RU" dirty="0" smtClean="0"/>
              <a:t>Институт </a:t>
            </a:r>
            <a:r>
              <a:rPr lang="ru-RU" dirty="0"/>
              <a:t>стандартов и технологий США предложил </a:t>
            </a:r>
            <a:r>
              <a:rPr lang="ru-RU" dirty="0" smtClean="0"/>
              <a:t>стандарт </a:t>
            </a:r>
            <a:r>
              <a:rPr lang="ru-RU" dirty="0"/>
              <a:t>ролевого управления </a:t>
            </a:r>
            <a:r>
              <a:rPr lang="ru-RU" dirty="0" smtClean="0"/>
              <a:t>доступом (</a:t>
            </a:r>
            <a:r>
              <a:rPr lang="ru-RU" dirty="0"/>
              <a:t>РУД).</a:t>
            </a:r>
          </a:p>
          <a:p>
            <a:r>
              <a:rPr lang="ru-RU" dirty="0"/>
              <a:t>Основой </a:t>
            </a:r>
            <a:r>
              <a:rPr lang="ru-RU" dirty="0" smtClean="0"/>
              <a:t>РУД является </a:t>
            </a:r>
            <a:r>
              <a:rPr lang="ru-RU" dirty="0"/>
              <a:t>введение в субъектно-объектную модель </a:t>
            </a:r>
            <a:r>
              <a:rPr lang="ru-RU" dirty="0" smtClean="0"/>
              <a:t>дополнительной </a:t>
            </a:r>
            <a:r>
              <a:rPr lang="ru-RU" dirty="0"/>
              <a:t>категории активных </a:t>
            </a:r>
            <a:r>
              <a:rPr lang="ru-RU" dirty="0" smtClean="0"/>
              <a:t>сущностей – </a:t>
            </a:r>
            <a:r>
              <a:rPr lang="ru-RU" b="1" i="1" dirty="0" smtClean="0"/>
              <a:t>ролей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РУД </a:t>
            </a:r>
            <a:r>
              <a:rPr lang="ru-RU" dirty="0"/>
              <a:t>приводит к тому, что права доступа субъектов системы к объектам группируются с учетом специфики их применения, образуя роли. В настоящее время РУД является составляющей многих современных систем и применяется в системах защиты СУБД и сетевых ОС.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3246217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Ролевое управление доступом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Суть </a:t>
            </a:r>
            <a:r>
              <a:rPr lang="ru-RU" b="1" i="1" dirty="0"/>
              <a:t>ролевого разграничения доступа </a:t>
            </a:r>
            <a:r>
              <a:rPr lang="ru-RU" dirty="0"/>
              <a:t>состоит в том, что между пользователями и их привилегиями появляются промежуточные сущности – роли. Для каждого пользователя одновременно могут быть активными несколько ролей, каждая из которых дает ему определенные права.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55</a:t>
            </a:fld>
            <a:endParaRPr lang="ru-RU"/>
          </a:p>
        </p:txBody>
      </p:sp>
      <p:grpSp>
        <p:nvGrpSpPr>
          <p:cNvPr id="5" name="Группа 4"/>
          <p:cNvGrpSpPr/>
          <p:nvPr/>
        </p:nvGrpSpPr>
        <p:grpSpPr>
          <a:xfrm>
            <a:off x="1241630" y="4059070"/>
            <a:ext cx="6927380" cy="2249656"/>
            <a:chOff x="-32391" y="0"/>
            <a:chExt cx="4985722" cy="1258047"/>
          </a:xfrm>
        </p:grpSpPr>
        <p:sp>
          <p:nvSpPr>
            <p:cNvPr id="6" name="Поле 68"/>
            <p:cNvSpPr txBox="1"/>
            <p:nvPr/>
          </p:nvSpPr>
          <p:spPr>
            <a:xfrm>
              <a:off x="1812895" y="0"/>
              <a:ext cx="1176073" cy="322856"/>
            </a:xfrm>
            <a:prstGeom prst="round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ru-RU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/>
                  <a:ea typeface="Calibri"/>
                  <a:cs typeface="Times New Roman"/>
                </a:rPr>
                <a:t>Пользователь</a:t>
              </a:r>
              <a:endParaRPr lang="ru-RU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/>
                <a:cs typeface="Times New Roman"/>
              </a:endParaRPr>
            </a:p>
          </p:txBody>
        </p:sp>
        <p:sp>
          <p:nvSpPr>
            <p:cNvPr id="7" name="Поле 69"/>
            <p:cNvSpPr txBox="1"/>
            <p:nvPr/>
          </p:nvSpPr>
          <p:spPr>
            <a:xfrm>
              <a:off x="1431235" y="755374"/>
              <a:ext cx="1113155" cy="327025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ru-RU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/>
                  <a:ea typeface="Calibri"/>
                  <a:cs typeface="Times New Roman"/>
                </a:rPr>
                <a:t>Руководитель</a:t>
              </a:r>
              <a:endParaRPr lang="ru-RU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/>
                <a:cs typeface="Times New Roman"/>
              </a:endParaRPr>
            </a:p>
          </p:txBody>
        </p:sp>
        <p:sp>
          <p:nvSpPr>
            <p:cNvPr id="8" name="Поле 70"/>
            <p:cNvSpPr txBox="1"/>
            <p:nvPr/>
          </p:nvSpPr>
          <p:spPr>
            <a:xfrm>
              <a:off x="-32391" y="755374"/>
              <a:ext cx="1209046" cy="502673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ru-RU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/>
                  <a:ea typeface="Calibri"/>
                  <a:cs typeface="Times New Roman"/>
                </a:rPr>
                <a:t>Системный администратор</a:t>
              </a:r>
              <a:endParaRPr lang="ru-RU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/>
                <a:cs typeface="Times New Roman"/>
              </a:endParaRPr>
            </a:p>
          </p:txBody>
        </p:sp>
        <p:sp>
          <p:nvSpPr>
            <p:cNvPr id="9" name="Поле 71"/>
            <p:cNvSpPr txBox="1"/>
            <p:nvPr/>
          </p:nvSpPr>
          <p:spPr>
            <a:xfrm>
              <a:off x="2822524" y="739276"/>
              <a:ext cx="914400" cy="342838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ru-RU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/>
                  <a:ea typeface="Calibri"/>
                  <a:cs typeface="Times New Roman"/>
                </a:rPr>
                <a:t>Бухгалтер</a:t>
              </a:r>
              <a:endParaRPr lang="ru-RU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/>
                <a:cs typeface="Times New Roman"/>
              </a:endParaRPr>
            </a:p>
          </p:txBody>
        </p:sp>
        <p:sp>
          <p:nvSpPr>
            <p:cNvPr id="10" name="Поле 72"/>
            <p:cNvSpPr txBox="1"/>
            <p:nvPr/>
          </p:nvSpPr>
          <p:spPr>
            <a:xfrm>
              <a:off x="4031311" y="723569"/>
              <a:ext cx="922020" cy="358830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ru-RU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/>
                  <a:ea typeface="Calibri"/>
                  <a:cs typeface="Times New Roman"/>
                </a:rPr>
                <a:t>Секретарь</a:t>
              </a:r>
              <a:endParaRPr lang="ru-RU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/>
                <a:cs typeface="Times New Roman"/>
              </a:endParaRPr>
            </a:p>
          </p:txBody>
        </p:sp>
        <p:cxnSp>
          <p:nvCxnSpPr>
            <p:cNvPr id="11" name="Прямая соединительная линия 10"/>
            <p:cNvCxnSpPr/>
            <p:nvPr/>
          </p:nvCxnSpPr>
          <p:spPr>
            <a:xfrm>
              <a:off x="540689" y="524786"/>
              <a:ext cx="396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Прямая со стрелкой 11"/>
            <p:cNvCxnSpPr/>
            <p:nvPr/>
          </p:nvCxnSpPr>
          <p:spPr>
            <a:xfrm flipH="1">
              <a:off x="548640" y="524786"/>
              <a:ext cx="0" cy="2286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Прямая со стрелкой 12"/>
            <p:cNvCxnSpPr/>
            <p:nvPr/>
          </p:nvCxnSpPr>
          <p:spPr>
            <a:xfrm flipH="1">
              <a:off x="2043485" y="532737"/>
              <a:ext cx="0" cy="2286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Прямая со стрелкой 13"/>
            <p:cNvCxnSpPr/>
            <p:nvPr/>
          </p:nvCxnSpPr>
          <p:spPr>
            <a:xfrm>
              <a:off x="3299791" y="524786"/>
              <a:ext cx="0" cy="2120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Прямая со стрелкой 14"/>
            <p:cNvCxnSpPr/>
            <p:nvPr/>
          </p:nvCxnSpPr>
          <p:spPr>
            <a:xfrm flipH="1">
              <a:off x="4516341" y="524786"/>
              <a:ext cx="0" cy="2286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Прямая со стрелкой 15"/>
            <p:cNvCxnSpPr/>
            <p:nvPr/>
          </p:nvCxnSpPr>
          <p:spPr>
            <a:xfrm>
              <a:off x="2401294" y="326003"/>
              <a:ext cx="0" cy="2107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Поле 87"/>
            <p:cNvSpPr txBox="1"/>
            <p:nvPr/>
          </p:nvSpPr>
          <p:spPr>
            <a:xfrm>
              <a:off x="3824577" y="190831"/>
              <a:ext cx="643890" cy="300990"/>
            </a:xfrm>
            <a:prstGeom prst="rect">
              <a:avLst/>
            </a:prstGeom>
            <a:noFill/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ru-RU" b="1" i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/>
                  <a:ea typeface="Calibri"/>
                  <a:cs typeface="Times New Roman"/>
                </a:rPr>
                <a:t>Роли</a:t>
              </a:r>
              <a:endParaRPr lang="ru-RU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/>
                <a:cs typeface="Times New Roman"/>
              </a:endParaRPr>
            </a:p>
          </p:txBody>
        </p:sp>
        <p:sp>
          <p:nvSpPr>
            <p:cNvPr id="18" name="Поле 88"/>
            <p:cNvSpPr txBox="1"/>
            <p:nvPr/>
          </p:nvSpPr>
          <p:spPr>
            <a:xfrm>
              <a:off x="508883" y="174929"/>
              <a:ext cx="643890" cy="300990"/>
            </a:xfrm>
            <a:prstGeom prst="rect">
              <a:avLst/>
            </a:prstGeom>
            <a:noFill/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ru-RU" b="1" i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/>
                  <a:ea typeface="Calibri"/>
                  <a:cs typeface="Times New Roman"/>
                </a:rPr>
                <a:t>Роли</a:t>
              </a:r>
              <a:endParaRPr lang="ru-RU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/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6007662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Ролевое управление доступом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19799"/>
            <a:ext cx="8579296" cy="4545505"/>
          </a:xfrm>
        </p:spPr>
        <p:txBody>
          <a:bodyPr/>
          <a:lstStyle/>
          <a:p>
            <a:r>
              <a:rPr lang="ru-RU" dirty="0" smtClean="0"/>
              <a:t>Можно представить формирование ролей как иерархию, начиная с минимума прав (и максимума пользователей), приписываемых роли «сотрудник», с постепенным уточнением состава пользователей и добавлением прав («</a:t>
            </a:r>
            <a:r>
              <a:rPr lang="ru-RU" dirty="0" smtClean="0">
                <a:ea typeface="Calibri"/>
                <a:cs typeface="Times New Roman"/>
              </a:rPr>
              <a:t>Секретарь», «Бухгалтер», «Руководитель подразделения», «Директор»,</a:t>
            </a:r>
            <a:r>
              <a:rPr lang="ru-RU" dirty="0" smtClean="0"/>
              <a:t> </a:t>
            </a:r>
            <a:r>
              <a:rPr lang="ru-RU" dirty="0"/>
              <a:t>«Системный администратор</a:t>
            </a:r>
            <a:r>
              <a:rPr lang="ru-RU" dirty="0" smtClean="0"/>
              <a:t>».</a:t>
            </a:r>
          </a:p>
          <a:p>
            <a:r>
              <a:rPr lang="ru-RU" dirty="0" smtClean="0"/>
              <a:t>Однако любая иерархия ролей не абсолютная. Предоставление прав осуществляется </a:t>
            </a:r>
            <a:r>
              <a:rPr lang="ru-RU" dirty="0"/>
              <a:t>в соответствии с принципом минимизации </a:t>
            </a:r>
            <a:r>
              <a:rPr lang="ru-RU" dirty="0" smtClean="0"/>
              <a:t>привилегий. Каждой </a:t>
            </a:r>
            <a:r>
              <a:rPr lang="ru-RU" dirty="0"/>
              <a:t>роли целесообразно разрешить только то, что необходимо для выполнения </a:t>
            </a:r>
            <a:r>
              <a:rPr lang="ru-RU" dirty="0" smtClean="0"/>
              <a:t>определенных служебных обязанностей. </a:t>
            </a:r>
            <a:endParaRPr lang="ru-RU" dirty="0">
              <a:ea typeface="Calibri"/>
              <a:cs typeface="Times New Roman"/>
            </a:endParaRPr>
          </a:p>
          <a:p>
            <a:endParaRPr lang="ru-RU" dirty="0">
              <a:ea typeface="Calibri"/>
              <a:cs typeface="Times New Roman"/>
            </a:endParaRPr>
          </a:p>
          <a:p>
            <a:endParaRPr lang="ru-RU" dirty="0">
              <a:ea typeface="Calibri"/>
              <a:cs typeface="Times New Roman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038524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Ролевое управление доступом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i="1" dirty="0" smtClean="0"/>
              <a:t>Определение </a:t>
            </a:r>
            <a:r>
              <a:rPr lang="ru-RU" b="1" dirty="0"/>
              <a:t>1</a:t>
            </a:r>
            <a:r>
              <a:rPr lang="ru-RU" b="1" i="1" dirty="0"/>
              <a:t>.</a:t>
            </a:r>
            <a:r>
              <a:rPr lang="ru-RU" dirty="0"/>
              <a:t> Ролью называется активно действующая в </a:t>
            </a:r>
            <a:r>
              <a:rPr lang="ru-RU" dirty="0" smtClean="0"/>
              <a:t>ИС </a:t>
            </a:r>
            <a:r>
              <a:rPr lang="ru-RU" dirty="0"/>
              <a:t>абстрактная сущность, обладающая логически взаимосвязанным набором полномочий, необходимых для выполнения определенных функциональных обязанностей пользователями системы.</a:t>
            </a:r>
          </a:p>
          <a:p>
            <a:r>
              <a:rPr lang="ru-RU" dirty="0"/>
              <a:t>Ролевой доступ нейтрален по отношению к конкретным видам прав и способам их проверки; его можно рассматривать как объектно-ориентированный каркас, облегчающий </a:t>
            </a:r>
            <a:r>
              <a:rPr lang="ru-RU" dirty="0" smtClean="0"/>
              <a:t>администрирование. Он </a:t>
            </a:r>
            <a:r>
              <a:rPr lang="ru-RU" dirty="0"/>
              <a:t>позволяет сделать подсистему разграничения доступа управляемой при сколь угодно большом числе </a:t>
            </a:r>
            <a:r>
              <a:rPr lang="ru-RU" dirty="0" smtClean="0"/>
              <a:t>пользователей.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6559927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Ролевое управление доступом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708525"/>
          </a:xfrm>
        </p:spPr>
        <p:txBody>
          <a:bodyPr/>
          <a:lstStyle/>
          <a:p>
            <a:r>
              <a:rPr lang="ru-RU" dirty="0" smtClean="0"/>
              <a:t>Ролей всегда </a:t>
            </a:r>
            <a:r>
              <a:rPr lang="ru-RU" dirty="0"/>
              <a:t>значительно меньше, чем пользователей. В результате </a:t>
            </a:r>
            <a:r>
              <a:rPr lang="ru-RU" u="sng" dirty="0"/>
              <a:t>число администрируемых связей становится пропорциональным сумме (а не произведению) количества пользователей и объектов</a:t>
            </a:r>
            <a:r>
              <a:rPr lang="ru-RU" dirty="0"/>
              <a:t>, что по порядку величины уменьшить уже невозможно.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58</a:t>
            </a:fld>
            <a:endParaRPr lang="ru-RU"/>
          </a:p>
        </p:txBody>
      </p:sp>
      <p:grpSp>
        <p:nvGrpSpPr>
          <p:cNvPr id="5" name="Группа 4"/>
          <p:cNvGrpSpPr/>
          <p:nvPr/>
        </p:nvGrpSpPr>
        <p:grpSpPr>
          <a:xfrm>
            <a:off x="457200" y="3573016"/>
            <a:ext cx="8120245" cy="2600373"/>
            <a:chOff x="0" y="0"/>
            <a:chExt cx="5858483" cy="1455862"/>
          </a:xfrm>
        </p:grpSpPr>
        <p:sp>
          <p:nvSpPr>
            <p:cNvPr id="6" name="Поле 135"/>
            <p:cNvSpPr txBox="1"/>
            <p:nvPr/>
          </p:nvSpPr>
          <p:spPr>
            <a:xfrm>
              <a:off x="4715124" y="437322"/>
              <a:ext cx="711200" cy="287020"/>
            </a:xfrm>
            <a:prstGeom prst="roundRect">
              <a:avLst/>
            </a:prstGeom>
            <a:noFill/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ru-RU" sz="1700" dirty="0"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/>
                  <a:ea typeface="Calibri"/>
                  <a:cs typeface="Times New Roman"/>
                </a:rPr>
                <a:t>Роль </a:t>
              </a:r>
              <a:r>
                <a:rPr lang="en-US" sz="1700" i="1" dirty="0"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/>
                  <a:ea typeface="Calibri"/>
                  <a:cs typeface="Times New Roman"/>
                </a:rPr>
                <a:t>M</a:t>
              </a:r>
              <a:endParaRPr lang="ru-RU" sz="1700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/>
                <a:cs typeface="Times New Roman"/>
              </a:endParaRPr>
            </a:p>
          </p:txBody>
        </p:sp>
        <p:sp>
          <p:nvSpPr>
            <p:cNvPr id="7" name="Поле 89"/>
            <p:cNvSpPr txBox="1"/>
            <p:nvPr/>
          </p:nvSpPr>
          <p:spPr>
            <a:xfrm>
              <a:off x="0" y="0"/>
              <a:ext cx="913130" cy="285750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ru-RU" sz="1700"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/>
                  <a:ea typeface="Calibri"/>
                  <a:cs typeface="Times New Roman"/>
                </a:rPr>
                <a:t>Субъект 1</a:t>
              </a:r>
              <a:endParaRPr lang="ru-RU" sz="170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/>
                <a:cs typeface="Times New Roman"/>
              </a:endParaRPr>
            </a:p>
          </p:txBody>
        </p:sp>
        <p:sp>
          <p:nvSpPr>
            <p:cNvPr id="8" name="Поле 90"/>
            <p:cNvSpPr txBox="1"/>
            <p:nvPr/>
          </p:nvSpPr>
          <p:spPr>
            <a:xfrm>
              <a:off x="2369489" y="7951"/>
              <a:ext cx="911860" cy="285750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ru-RU" sz="1700"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/>
                  <a:ea typeface="Calibri"/>
                  <a:cs typeface="Times New Roman"/>
                </a:rPr>
                <a:t>Субъект 2</a:t>
              </a:r>
              <a:endParaRPr lang="ru-RU" sz="170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/>
                <a:cs typeface="Times New Roman"/>
              </a:endParaRPr>
            </a:p>
          </p:txBody>
        </p:sp>
        <p:sp>
          <p:nvSpPr>
            <p:cNvPr id="9" name="Поле 92"/>
            <p:cNvSpPr txBox="1"/>
            <p:nvPr/>
          </p:nvSpPr>
          <p:spPr>
            <a:xfrm>
              <a:off x="4929809" y="7951"/>
              <a:ext cx="890270" cy="285750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ru-RU" sz="1700"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/>
                  <a:ea typeface="Calibri"/>
                  <a:cs typeface="Times New Roman"/>
                </a:rPr>
                <a:t>Субъект </a:t>
              </a:r>
              <a:r>
                <a:rPr lang="en-US" sz="1700" i="1"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/>
                  <a:ea typeface="Calibri"/>
                  <a:cs typeface="Times New Roman"/>
                </a:rPr>
                <a:t>L</a:t>
              </a:r>
              <a:endParaRPr lang="ru-RU" sz="170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/>
                <a:cs typeface="Times New Roman"/>
              </a:endParaRPr>
            </a:p>
          </p:txBody>
        </p:sp>
        <p:sp>
          <p:nvSpPr>
            <p:cNvPr id="10" name="Поле 93"/>
            <p:cNvSpPr txBox="1"/>
            <p:nvPr/>
          </p:nvSpPr>
          <p:spPr>
            <a:xfrm>
              <a:off x="0" y="1160890"/>
              <a:ext cx="1266494" cy="287020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ru-RU" sz="1700" dirty="0"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/>
                  <a:ea typeface="Calibri"/>
                  <a:cs typeface="Times New Roman"/>
                </a:rPr>
                <a:t>Права доступа 1</a:t>
              </a:r>
              <a:endParaRPr lang="ru-RU" sz="1700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/>
                <a:cs typeface="Times New Roman"/>
              </a:endParaRPr>
            </a:p>
          </p:txBody>
        </p:sp>
        <p:sp>
          <p:nvSpPr>
            <p:cNvPr id="11" name="Поле 94"/>
            <p:cNvSpPr txBox="1"/>
            <p:nvPr/>
          </p:nvSpPr>
          <p:spPr>
            <a:xfrm>
              <a:off x="1486894" y="1160890"/>
              <a:ext cx="1266190" cy="287020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ru-RU" sz="1700"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/>
                  <a:ea typeface="Calibri"/>
                  <a:cs typeface="Times New Roman"/>
                </a:rPr>
                <a:t>Права доступа 2</a:t>
              </a:r>
              <a:endParaRPr lang="ru-RU" sz="170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/>
                <a:cs typeface="Times New Roman"/>
              </a:endParaRPr>
            </a:p>
          </p:txBody>
        </p:sp>
        <p:sp>
          <p:nvSpPr>
            <p:cNvPr id="12" name="Поле 96"/>
            <p:cNvSpPr txBox="1"/>
            <p:nvPr/>
          </p:nvSpPr>
          <p:spPr>
            <a:xfrm>
              <a:off x="4556098" y="1160890"/>
              <a:ext cx="1302385" cy="287020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ru-RU" sz="1700"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/>
                  <a:ea typeface="Calibri"/>
                  <a:cs typeface="Times New Roman"/>
                </a:rPr>
                <a:t>Права доступа </a:t>
              </a:r>
              <a:r>
                <a:rPr lang="ru-RU" sz="1700" i="1"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/>
                  <a:ea typeface="Calibri"/>
                  <a:cs typeface="Times New Roman"/>
                </a:rPr>
                <a:t>N</a:t>
              </a:r>
              <a:endParaRPr lang="ru-RU" sz="170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/>
                <a:cs typeface="Times New Roman"/>
              </a:endParaRPr>
            </a:p>
          </p:txBody>
        </p:sp>
        <p:cxnSp>
          <p:nvCxnSpPr>
            <p:cNvPr id="13" name="Прямая со стрелкой 12"/>
            <p:cNvCxnSpPr/>
            <p:nvPr/>
          </p:nvCxnSpPr>
          <p:spPr>
            <a:xfrm>
              <a:off x="477079" y="294198"/>
              <a:ext cx="932815" cy="288925"/>
            </a:xfrm>
            <a:prstGeom prst="straightConnector1">
              <a:avLst/>
            </a:prstGeom>
            <a:ln>
              <a:tailEnd type="oval" w="lg" len="lg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4" name="Прямая со стрелкой 13"/>
            <p:cNvCxnSpPr/>
            <p:nvPr/>
          </p:nvCxnSpPr>
          <p:spPr>
            <a:xfrm flipH="1">
              <a:off x="1407381" y="294198"/>
              <a:ext cx="1437005" cy="285750"/>
            </a:xfrm>
            <a:prstGeom prst="straightConnector1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5" name="Прямая со стрелкой 14"/>
            <p:cNvCxnSpPr/>
            <p:nvPr/>
          </p:nvCxnSpPr>
          <p:spPr>
            <a:xfrm flipH="1">
              <a:off x="620202" y="580445"/>
              <a:ext cx="788670" cy="580390"/>
            </a:xfrm>
            <a:prstGeom prst="straightConnector1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6" name="Прямая со стрелкой 15"/>
            <p:cNvCxnSpPr/>
            <p:nvPr/>
          </p:nvCxnSpPr>
          <p:spPr>
            <a:xfrm>
              <a:off x="1407381" y="580445"/>
              <a:ext cx="723265" cy="588010"/>
            </a:xfrm>
            <a:prstGeom prst="straightConnector1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7" name="Прямая со стрелкой 16"/>
            <p:cNvCxnSpPr/>
            <p:nvPr/>
          </p:nvCxnSpPr>
          <p:spPr>
            <a:xfrm flipH="1">
              <a:off x="3562185" y="580445"/>
              <a:ext cx="216535" cy="588010"/>
            </a:xfrm>
            <a:prstGeom prst="straightConnector1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8" name="Прямая со стрелкой 17"/>
            <p:cNvCxnSpPr/>
            <p:nvPr/>
          </p:nvCxnSpPr>
          <p:spPr>
            <a:xfrm flipH="1">
              <a:off x="3562185" y="596348"/>
              <a:ext cx="930275" cy="569595"/>
            </a:xfrm>
            <a:prstGeom prst="straightConnector1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9" name="Прямая со стрелкой 18"/>
            <p:cNvCxnSpPr/>
            <p:nvPr/>
          </p:nvCxnSpPr>
          <p:spPr>
            <a:xfrm>
              <a:off x="3776870" y="596348"/>
              <a:ext cx="1438910" cy="572135"/>
            </a:xfrm>
            <a:prstGeom prst="straightConnector1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20" name="Прямая со стрелкой 19"/>
            <p:cNvCxnSpPr/>
            <p:nvPr/>
          </p:nvCxnSpPr>
          <p:spPr>
            <a:xfrm flipH="1">
              <a:off x="2130950" y="580445"/>
              <a:ext cx="1647825" cy="580390"/>
            </a:xfrm>
            <a:prstGeom prst="straightConnector1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21" name="Прямая со стрелкой 20"/>
            <p:cNvCxnSpPr/>
            <p:nvPr/>
          </p:nvCxnSpPr>
          <p:spPr>
            <a:xfrm flipH="1">
              <a:off x="5216056" y="596348"/>
              <a:ext cx="209523" cy="572494"/>
            </a:xfrm>
            <a:prstGeom prst="straightConnector1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sp>
          <p:nvSpPr>
            <p:cNvPr id="22" name="Поле 124"/>
            <p:cNvSpPr txBox="1"/>
            <p:nvPr/>
          </p:nvSpPr>
          <p:spPr>
            <a:xfrm>
              <a:off x="2997642" y="1168842"/>
              <a:ext cx="1266190" cy="287020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ru-RU" sz="1700" dirty="0"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/>
                  <a:ea typeface="Calibri"/>
                  <a:cs typeface="Times New Roman"/>
                </a:rPr>
                <a:t>Права доступа 3</a:t>
              </a:r>
              <a:endParaRPr lang="ru-RU" sz="1700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/>
                <a:cs typeface="Times New Roman"/>
              </a:endParaRPr>
            </a:p>
          </p:txBody>
        </p:sp>
        <p:cxnSp>
          <p:nvCxnSpPr>
            <p:cNvPr id="23" name="Прямая со стрелкой 22"/>
            <p:cNvCxnSpPr/>
            <p:nvPr/>
          </p:nvCxnSpPr>
          <p:spPr>
            <a:xfrm flipH="1">
              <a:off x="2130950" y="596348"/>
              <a:ext cx="2364823" cy="555598"/>
            </a:xfrm>
            <a:prstGeom prst="straightConnector1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24" name="Прямая со стрелкой 23"/>
            <p:cNvCxnSpPr/>
            <p:nvPr/>
          </p:nvCxnSpPr>
          <p:spPr>
            <a:xfrm>
              <a:off x="1407381" y="580445"/>
              <a:ext cx="2154555" cy="588010"/>
            </a:xfrm>
            <a:prstGeom prst="straightConnector1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25" name="Прямая со стрелкой 24"/>
            <p:cNvCxnSpPr/>
            <p:nvPr/>
          </p:nvCxnSpPr>
          <p:spPr>
            <a:xfrm>
              <a:off x="2846567" y="294198"/>
              <a:ext cx="932815" cy="288925"/>
            </a:xfrm>
            <a:prstGeom prst="straightConnector1">
              <a:avLst/>
            </a:prstGeom>
            <a:ln>
              <a:tailEnd type="oval" w="lg" len="lg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26" name="Прямая со стрелкой 25"/>
            <p:cNvCxnSpPr/>
            <p:nvPr/>
          </p:nvCxnSpPr>
          <p:spPr>
            <a:xfrm flipH="1">
              <a:off x="4492487" y="310101"/>
              <a:ext cx="927321" cy="288925"/>
            </a:xfrm>
            <a:prstGeom prst="straightConnector1">
              <a:avLst/>
            </a:prstGeom>
            <a:ln>
              <a:tailEnd type="oval" w="lg" len="lg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27" name="Прямая со стрелкой 26"/>
            <p:cNvCxnSpPr/>
            <p:nvPr/>
          </p:nvCxnSpPr>
          <p:spPr>
            <a:xfrm>
              <a:off x="5422790" y="294198"/>
              <a:ext cx="0" cy="304827"/>
            </a:xfrm>
            <a:prstGeom prst="straightConnector1">
              <a:avLst/>
            </a:prstGeom>
            <a:ln>
              <a:tailEnd type="oval" w="lg" len="lg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sp>
          <p:nvSpPr>
            <p:cNvPr id="28" name="Поле 132"/>
            <p:cNvSpPr txBox="1"/>
            <p:nvPr/>
          </p:nvSpPr>
          <p:spPr>
            <a:xfrm>
              <a:off x="1129086" y="230588"/>
              <a:ext cx="643255" cy="287020"/>
            </a:xfrm>
            <a:prstGeom prst="roundRect">
              <a:avLst/>
            </a:prstGeom>
            <a:noFill/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ru-RU" sz="1700" dirty="0"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/>
                  <a:ea typeface="Calibri"/>
                  <a:cs typeface="Times New Roman"/>
                </a:rPr>
                <a:t>Роль 1</a:t>
              </a:r>
              <a:endParaRPr lang="ru-RU" sz="1700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/>
                <a:cs typeface="Times New Roman"/>
              </a:endParaRPr>
            </a:p>
          </p:txBody>
        </p:sp>
        <p:sp>
          <p:nvSpPr>
            <p:cNvPr id="29" name="Поле 133"/>
            <p:cNvSpPr txBox="1"/>
            <p:nvPr/>
          </p:nvSpPr>
          <p:spPr>
            <a:xfrm>
              <a:off x="3490623" y="222637"/>
              <a:ext cx="643255" cy="287020"/>
            </a:xfrm>
            <a:prstGeom prst="roundRect">
              <a:avLst/>
            </a:prstGeom>
            <a:noFill/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ru-RU" sz="1700" dirty="0"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/>
                  <a:ea typeface="Calibri"/>
                  <a:cs typeface="Times New Roman"/>
                </a:rPr>
                <a:t>Роль 2</a:t>
              </a:r>
              <a:endParaRPr lang="ru-RU" sz="1700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/>
                <a:cs typeface="Times New Roman"/>
              </a:endParaRPr>
            </a:p>
          </p:txBody>
        </p:sp>
        <p:sp>
          <p:nvSpPr>
            <p:cNvPr id="30" name="Поле 134"/>
            <p:cNvSpPr txBox="1"/>
            <p:nvPr/>
          </p:nvSpPr>
          <p:spPr>
            <a:xfrm>
              <a:off x="4214192" y="222637"/>
              <a:ext cx="643255" cy="287020"/>
            </a:xfrm>
            <a:prstGeom prst="roundRect">
              <a:avLst/>
            </a:prstGeom>
            <a:noFill/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ru-RU" sz="1700"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/>
                  <a:ea typeface="Calibri"/>
                  <a:cs typeface="Times New Roman"/>
                </a:rPr>
                <a:t>Роль 3</a:t>
              </a:r>
              <a:endParaRPr lang="ru-RU" sz="170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/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7486791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5770"/>
            <a:ext cx="8229600" cy="1143000"/>
          </a:xfrm>
        </p:spPr>
        <p:txBody>
          <a:bodyPr/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Ролевое управление доступом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6515" y="1223756"/>
            <a:ext cx="8480285" cy="5084970"/>
          </a:xfrm>
        </p:spPr>
        <p:txBody>
          <a:bodyPr/>
          <a:lstStyle/>
          <a:p>
            <a:r>
              <a:rPr lang="ru-RU" dirty="0" smtClean="0"/>
              <a:t>РУД оперирует </a:t>
            </a:r>
            <a:r>
              <a:rPr lang="ru-RU" dirty="0"/>
              <a:t>следующими основными понятиями:</a:t>
            </a:r>
          </a:p>
          <a:p>
            <a:pPr marL="895350" indent="-352425">
              <a:buFont typeface="Wingdings" panose="05000000000000000000" pitchFamily="2" charset="2"/>
              <a:buChar char="Ø"/>
            </a:pPr>
            <a:r>
              <a:rPr lang="ru-RU" b="1" i="1" dirty="0" smtClean="0"/>
              <a:t>пользователь</a:t>
            </a:r>
            <a:r>
              <a:rPr lang="ru-RU" b="1" dirty="0" smtClean="0"/>
              <a:t> </a:t>
            </a:r>
            <a:r>
              <a:rPr lang="ru-RU" dirty="0"/>
              <a:t>(человек, </a:t>
            </a:r>
            <a:r>
              <a:rPr lang="ru-RU" dirty="0" smtClean="0"/>
              <a:t>автономный </a:t>
            </a:r>
            <a:r>
              <a:rPr lang="ru-RU" dirty="0"/>
              <a:t>агент и т.п.);</a:t>
            </a:r>
          </a:p>
          <a:p>
            <a:pPr marL="895350" indent="-352425">
              <a:buFont typeface="Wingdings" panose="05000000000000000000" pitchFamily="2" charset="2"/>
              <a:buChar char="Ø"/>
            </a:pPr>
            <a:r>
              <a:rPr lang="ru-RU" b="1" i="1" dirty="0"/>
              <a:t>сеанс работы пользователя</a:t>
            </a:r>
            <a:r>
              <a:rPr lang="ru-RU" dirty="0"/>
              <a:t>;</a:t>
            </a:r>
          </a:p>
          <a:p>
            <a:pPr marL="895350" indent="-352425">
              <a:buFont typeface="Wingdings" panose="05000000000000000000" pitchFamily="2" charset="2"/>
              <a:buChar char="Ø"/>
            </a:pPr>
            <a:r>
              <a:rPr lang="ru-RU" i="1" dirty="0"/>
              <a:t>роль</a:t>
            </a:r>
            <a:r>
              <a:rPr lang="ru-RU" dirty="0" smtClean="0"/>
              <a:t> </a:t>
            </a:r>
            <a:r>
              <a:rPr lang="ru-RU" dirty="0"/>
              <a:t>(определяется </a:t>
            </a:r>
            <a:r>
              <a:rPr lang="ru-RU" dirty="0" smtClean="0"/>
              <a:t>организационной </a:t>
            </a:r>
            <a:r>
              <a:rPr lang="ru-RU" dirty="0"/>
              <a:t>структурой</a:t>
            </a:r>
            <a:r>
              <a:rPr lang="ru-RU" dirty="0" smtClean="0"/>
              <a:t>);</a:t>
            </a:r>
          </a:p>
          <a:p>
            <a:pPr marL="895350" indent="-352425">
              <a:buFont typeface="Wingdings" panose="05000000000000000000" pitchFamily="2" charset="2"/>
              <a:buChar char="Ø"/>
            </a:pPr>
            <a:r>
              <a:rPr lang="ru-RU" b="1" i="1" dirty="0"/>
              <a:t>объект</a:t>
            </a:r>
            <a:r>
              <a:rPr lang="ru-RU" i="1" dirty="0"/>
              <a:t> </a:t>
            </a:r>
            <a:r>
              <a:rPr lang="ru-RU" dirty="0"/>
              <a:t>(сущность, доступ к которой разграничивается; например, файл ОС или таблица СУБД);</a:t>
            </a:r>
          </a:p>
          <a:p>
            <a:pPr marL="895350" indent="-352425">
              <a:buFont typeface="Wingdings" panose="05000000000000000000" pitchFamily="2" charset="2"/>
              <a:buChar char="Ø"/>
            </a:pPr>
            <a:r>
              <a:rPr lang="ru-RU" b="1" i="1" dirty="0"/>
              <a:t>операция</a:t>
            </a:r>
            <a:r>
              <a:rPr lang="ru-RU" b="1" dirty="0"/>
              <a:t> </a:t>
            </a:r>
            <a:r>
              <a:rPr lang="ru-RU" dirty="0"/>
              <a:t>(зависит от объекта: для файлов ОС – чтение, запись, выполнение и т.п.; для таблиц СУБД – вставка, удаление и т.п.; для прикладных объектов операции могут быть более сложными);</a:t>
            </a:r>
          </a:p>
          <a:p>
            <a:pPr marL="895350" indent="-352425">
              <a:buFont typeface="Wingdings" panose="05000000000000000000" pitchFamily="2" charset="2"/>
              <a:buChar char="Ø"/>
            </a:pPr>
            <a:r>
              <a:rPr lang="ru-RU" b="1" i="1" dirty="0"/>
              <a:t>право доступа </a:t>
            </a:r>
            <a:r>
              <a:rPr lang="ru-RU" dirty="0"/>
              <a:t>(разрешение выполнять определенные операции над определенными объектами).</a:t>
            </a:r>
          </a:p>
          <a:p>
            <a:pPr marL="895350" indent="-352425">
              <a:buFont typeface="Wingdings" panose="05000000000000000000" pitchFamily="2" charset="2"/>
              <a:buChar char="Ø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1928458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Ролевое управление доступом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583795"/>
            <a:ext cx="8712968" cy="4708525"/>
          </a:xfrm>
        </p:spPr>
        <p:txBody>
          <a:bodyPr/>
          <a:lstStyle/>
          <a:p>
            <a:r>
              <a:rPr lang="ru-RU" dirty="0"/>
              <a:t>Ролям приписываются пользователи и права доступа; можно считать, что </a:t>
            </a:r>
            <a:r>
              <a:rPr lang="ru-RU" dirty="0" smtClean="0"/>
              <a:t>роли </a:t>
            </a:r>
            <a:r>
              <a:rPr lang="ru-RU" dirty="0"/>
              <a:t>специфицируют отношения «многие ко многим» между пользователями и правами. </a:t>
            </a:r>
            <a:r>
              <a:rPr lang="ru-RU" dirty="0" smtClean="0"/>
              <a:t>Одной </a:t>
            </a:r>
            <a:r>
              <a:rPr lang="ru-RU" dirty="0"/>
              <a:t>роли могут быть приписаны многие пользователи; один пользователь может быть приписан нескольким ролям. </a:t>
            </a:r>
            <a:endParaRPr lang="ru-RU" dirty="0" smtClean="0"/>
          </a:p>
          <a:p>
            <a:r>
              <a:rPr lang="ru-RU" dirty="0" smtClean="0"/>
              <a:t>Во </a:t>
            </a:r>
            <a:r>
              <a:rPr lang="ru-RU" dirty="0"/>
              <a:t>время сеанса работы пользователя активизируется подмножество ролей, которым он приписан, </a:t>
            </a:r>
            <a:r>
              <a:rPr lang="ru-RU" dirty="0" smtClean="0"/>
              <a:t>и </a:t>
            </a:r>
            <a:r>
              <a:rPr lang="ru-RU" dirty="0"/>
              <a:t>он становится обладателем объединения </a:t>
            </a:r>
            <a:r>
              <a:rPr lang="ru-RU" dirty="0" smtClean="0"/>
              <a:t>прав этих ролей. </a:t>
            </a:r>
          </a:p>
          <a:p>
            <a:r>
              <a:rPr lang="ru-RU" dirty="0" smtClean="0"/>
              <a:t>Одновременно </a:t>
            </a:r>
            <a:r>
              <a:rPr lang="ru-RU" dirty="0"/>
              <a:t>пользователь может открыть несколько сеансов.</a:t>
            </a:r>
          </a:p>
          <a:p>
            <a:r>
              <a:rPr lang="ru-RU" dirty="0"/>
              <a:t>Между ролями может быть определено отношение частичного порядка, называемое </a:t>
            </a:r>
            <a:r>
              <a:rPr lang="ru-RU" b="1" i="1" dirty="0"/>
              <a:t>наследованием</a:t>
            </a:r>
            <a:r>
              <a:rPr lang="ru-RU" dirty="0"/>
              <a:t>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9201872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50785"/>
            <a:ext cx="8229600" cy="1143000"/>
          </a:xfrm>
        </p:spPr>
        <p:txBody>
          <a:bodyPr/>
          <a:lstStyle/>
          <a:p>
            <a:r>
              <a:rPr lang="ru-RU" dirty="0"/>
              <a:t>Ролевое управление доступом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3289" y="1808820"/>
            <a:ext cx="8229600" cy="4259070"/>
          </a:xfrm>
        </p:spPr>
        <p:txBody>
          <a:bodyPr/>
          <a:lstStyle/>
          <a:p>
            <a:r>
              <a:rPr lang="ru-RU" dirty="0"/>
              <a:t>Введение ролей приводит к двухэтапной организации системы разграничения доступа:</a:t>
            </a:r>
          </a:p>
          <a:p>
            <a:pPr marL="1077913" lvl="0" indent="-273050">
              <a:buFont typeface="Wingdings" panose="05000000000000000000" pitchFamily="2" charset="2"/>
              <a:buChar char="Ø"/>
            </a:pPr>
            <a:r>
              <a:rPr lang="ru-RU" dirty="0"/>
              <a:t>Создание ролей и определение их полномочий (прав доступа к объектам);</a:t>
            </a:r>
          </a:p>
          <a:p>
            <a:pPr marL="1077913" lvl="0" indent="-273050">
              <a:buFont typeface="Wingdings" panose="05000000000000000000" pitchFamily="2" charset="2"/>
              <a:buChar char="Ø"/>
            </a:pPr>
            <a:r>
              <a:rPr lang="ru-RU" dirty="0" smtClean="0"/>
              <a:t>Назначение </a:t>
            </a:r>
            <a:r>
              <a:rPr lang="ru-RU" dirty="0"/>
              <a:t>ролей пользователям системы</a:t>
            </a:r>
            <a:r>
              <a:rPr lang="ru-RU" dirty="0" smtClean="0"/>
              <a:t>.</a:t>
            </a:r>
          </a:p>
          <a:p>
            <a:pPr lvl="0"/>
            <a:r>
              <a:rPr lang="ru-RU" dirty="0"/>
              <a:t>Соответственно формальные спецификации ролевых моделей должны регламентировать тем или иным </a:t>
            </a:r>
            <a:r>
              <a:rPr lang="ru-RU" dirty="0" smtClean="0"/>
              <a:t>способом (точнее </a:t>
            </a:r>
            <a:r>
              <a:rPr lang="ru-RU" dirty="0"/>
              <a:t>в рамках той или иной </a:t>
            </a:r>
            <a:r>
              <a:rPr lang="ru-RU" dirty="0" smtClean="0"/>
              <a:t>политики) </a:t>
            </a:r>
            <a:r>
              <a:rPr lang="ru-RU" dirty="0"/>
              <a:t>и определение полномочий ролям и назначение ролей пользователям.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9201054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50785"/>
            <a:ext cx="8229600" cy="1143000"/>
          </a:xfrm>
        </p:spPr>
        <p:txBody>
          <a:bodyPr/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Ролевое управление доступом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35810"/>
            <a:ext cx="8229600" cy="4258475"/>
          </a:xfrm>
        </p:spPr>
        <p:txBody>
          <a:bodyPr/>
          <a:lstStyle/>
          <a:p>
            <a:r>
              <a:rPr lang="ru-RU" dirty="0"/>
              <a:t>Управление доступом в ролевых системах требует разбиения процесса функционирования системы и работы пользователя на сеансы, в каждом из которых, в свою очередь, выделяется две фазы:</a:t>
            </a:r>
          </a:p>
          <a:p>
            <a:pPr marL="1260475" indent="-361950">
              <a:buNone/>
            </a:pPr>
            <a:r>
              <a:rPr lang="ru-RU" dirty="0"/>
              <a:t>1. Авторизация в данном сеансе пользователя с одной или несколькими разрешенными для него ролями;</a:t>
            </a:r>
          </a:p>
          <a:p>
            <a:pPr marL="1260475" indent="-361950">
              <a:buNone/>
            </a:pPr>
            <a:r>
              <a:rPr lang="ru-RU" dirty="0"/>
              <a:t>2. Разрешение или запрещение субъектам пользователя доступа к объектам системы в рамках полномочий соответствующих ролей, с которыми авторизован в данном сеансе пользователь.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4215186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Ролевое управление доступом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199" y="1403775"/>
            <a:ext cx="8229601" cy="4708525"/>
          </a:xfrm>
        </p:spPr>
        <p:txBody>
          <a:bodyPr/>
          <a:lstStyle/>
          <a:p>
            <a:r>
              <a:rPr lang="ru-RU" dirty="0" smtClean="0"/>
              <a:t>РУД сочетает: </a:t>
            </a:r>
          </a:p>
          <a:p>
            <a:pPr marL="900113" indent="-273050">
              <a:buFont typeface="Wingdings" panose="05000000000000000000" pitchFamily="2" charset="2"/>
              <a:buChar char="Ø"/>
            </a:pPr>
            <a:r>
              <a:rPr lang="ru-RU" dirty="0" smtClean="0"/>
              <a:t>мандатный </a:t>
            </a:r>
            <a:r>
              <a:rPr lang="ru-RU" dirty="0"/>
              <a:t>подход к организации доступа через определенную агрегацию субъектов и объектов доступа, и тем самым обеспечивают жесткость правил разграничения </a:t>
            </a:r>
            <a:r>
              <a:rPr lang="ru-RU" dirty="0" smtClean="0"/>
              <a:t>доступа, </a:t>
            </a:r>
          </a:p>
          <a:p>
            <a:pPr marL="900113" indent="-273050">
              <a:buFont typeface="Wingdings" panose="05000000000000000000" pitchFamily="2" charset="2"/>
              <a:buChar char="Ø"/>
            </a:pPr>
            <a:r>
              <a:rPr lang="ru-RU" dirty="0" smtClean="0"/>
              <a:t>дискреционный </a:t>
            </a:r>
            <a:r>
              <a:rPr lang="ru-RU" dirty="0"/>
              <a:t>подход, обеспечивающий гибкость в настройке системы разграничения доступа на конкретные функционально-организационные процессы предметной области КС. </a:t>
            </a:r>
            <a:endParaRPr lang="ru-RU" dirty="0" smtClean="0"/>
          </a:p>
          <a:p>
            <a:r>
              <a:rPr lang="ru-RU" dirty="0" smtClean="0"/>
              <a:t>Эти </a:t>
            </a:r>
            <a:r>
              <a:rPr lang="ru-RU" dirty="0"/>
              <a:t>особенности </a:t>
            </a:r>
            <a:r>
              <a:rPr lang="ru-RU" dirty="0" smtClean="0"/>
              <a:t>РУД позволяют </a:t>
            </a:r>
            <a:r>
              <a:rPr lang="ru-RU" dirty="0"/>
              <a:t>строить системы </a:t>
            </a:r>
            <a:r>
              <a:rPr lang="ru-RU" dirty="0" smtClean="0"/>
              <a:t>с </a:t>
            </a:r>
            <a:r>
              <a:rPr lang="ru-RU" dirty="0"/>
              <a:t>хорошей управляемостью в сложных системах при </a:t>
            </a:r>
            <a:r>
              <a:rPr lang="ru-RU" dirty="0" smtClean="0"/>
              <a:t>большим количестве </a:t>
            </a:r>
            <a:r>
              <a:rPr lang="ru-RU" dirty="0"/>
              <a:t>пользователей и </a:t>
            </a:r>
            <a:r>
              <a:rPr lang="ru-RU" dirty="0" smtClean="0"/>
              <a:t>объектов.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2052956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Формальная спецификация ролевой модели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6515" y="1600200"/>
            <a:ext cx="8686801" cy="4708525"/>
          </a:xfrm>
        </p:spPr>
        <p:txBody>
          <a:bodyPr/>
          <a:lstStyle/>
          <a:p>
            <a:pPr marL="136525" indent="0">
              <a:buNone/>
            </a:pPr>
            <a:r>
              <a:rPr lang="ru-RU" dirty="0" smtClean="0"/>
              <a:t>1</a:t>
            </a:r>
            <a:r>
              <a:rPr lang="ru-RU" dirty="0"/>
              <a:t>. КС представляется совокупностью следующих множеств:</a:t>
            </a:r>
          </a:p>
          <a:p>
            <a:pPr marL="982663" indent="-355600">
              <a:buFont typeface="Wingdings" panose="05000000000000000000" pitchFamily="2" charset="2"/>
              <a:buChar char="Ø"/>
            </a:pPr>
            <a:r>
              <a:rPr lang="ru-RU" dirty="0" smtClean="0"/>
              <a:t>множества </a:t>
            </a:r>
            <a:r>
              <a:rPr lang="ru-RU" dirty="0"/>
              <a:t>пользователей </a:t>
            </a:r>
            <a:r>
              <a:rPr lang="ru-RU" i="1" dirty="0"/>
              <a:t>U</a:t>
            </a:r>
            <a:r>
              <a:rPr lang="ru-RU" dirty="0"/>
              <a:t>;</a:t>
            </a:r>
          </a:p>
          <a:p>
            <a:pPr marL="982663" indent="-355600">
              <a:buFont typeface="Wingdings" panose="05000000000000000000" pitchFamily="2" charset="2"/>
              <a:buChar char="Ø"/>
            </a:pPr>
            <a:r>
              <a:rPr lang="ru-RU" dirty="0" smtClean="0"/>
              <a:t>множества </a:t>
            </a:r>
            <a:r>
              <a:rPr lang="ru-RU" dirty="0"/>
              <a:t>ролей </a:t>
            </a:r>
            <a:r>
              <a:rPr lang="ru-RU" i="1" dirty="0"/>
              <a:t>ℜ</a:t>
            </a:r>
            <a:r>
              <a:rPr lang="ru-RU" dirty="0"/>
              <a:t>;</a:t>
            </a:r>
          </a:p>
          <a:p>
            <a:pPr marL="982663" indent="-355600">
              <a:buFont typeface="Wingdings" panose="05000000000000000000" pitchFamily="2" charset="2"/>
              <a:buChar char="Ø"/>
            </a:pPr>
            <a:r>
              <a:rPr lang="ru-RU" dirty="0" smtClean="0"/>
              <a:t>множества </a:t>
            </a:r>
            <a:r>
              <a:rPr lang="ru-RU" dirty="0"/>
              <a:t>полномочий </a:t>
            </a:r>
            <a:r>
              <a:rPr lang="ru-RU" i="1" dirty="0"/>
              <a:t>P</a:t>
            </a:r>
            <a:r>
              <a:rPr lang="ru-RU" dirty="0"/>
              <a:t>;</a:t>
            </a:r>
          </a:p>
          <a:p>
            <a:pPr marL="982663" indent="-355600">
              <a:buFont typeface="Wingdings" panose="05000000000000000000" pitchFamily="2" charset="2"/>
              <a:buChar char="Ø"/>
            </a:pPr>
            <a:r>
              <a:rPr lang="ru-RU" dirty="0" smtClean="0"/>
              <a:t>множества </a:t>
            </a:r>
            <a:r>
              <a:rPr lang="ru-RU" dirty="0"/>
              <a:t>сеансов </a:t>
            </a:r>
            <a:r>
              <a:rPr lang="ru-RU" i="1" dirty="0"/>
              <a:t>С</a:t>
            </a:r>
            <a:r>
              <a:rPr lang="ru-RU" dirty="0"/>
              <a:t> работы пользователей с системой.</a:t>
            </a:r>
          </a:p>
          <a:p>
            <a:r>
              <a:rPr lang="ru-RU" dirty="0"/>
              <a:t>Множество полномочий </a:t>
            </a:r>
            <a:r>
              <a:rPr lang="ru-RU" i="1" dirty="0"/>
              <a:t>P</a:t>
            </a:r>
            <a:r>
              <a:rPr lang="ru-RU" dirty="0"/>
              <a:t> в общем виде задается специальными механизмами, объединяющими операции доступа и объекты доступа, например, запросами на обработку данных в СУБД, или иными именованными процедурами обработки данных, в том числе возможно высокого логического </a:t>
            </a:r>
            <a:r>
              <a:rPr lang="ru-RU" dirty="0" smtClean="0"/>
              <a:t>уровня.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1514460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Формальная спецификация ролевой модели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96525" y="1538790"/>
                <a:ext cx="8525290" cy="4708525"/>
              </a:xfrm>
            </p:spPr>
            <p:txBody>
              <a:bodyPr/>
              <a:lstStyle/>
              <a:p>
                <a:pPr marL="536575" indent="-400050">
                  <a:buNone/>
                </a:pPr>
                <a:r>
                  <a:rPr lang="ru-RU" sz="2300" dirty="0" smtClean="0"/>
                  <a:t> 2</a:t>
                </a:r>
                <a:r>
                  <a:rPr lang="ru-RU" sz="2300" dirty="0"/>
                  <a:t>. Ролевые отношения устанавливаются следующими отображениями множеств сущностей системы:</a:t>
                </a:r>
              </a:p>
              <a:p>
                <a:pPr marL="1160463" indent="0">
                  <a:buNone/>
                </a:pPr>
                <a:r>
                  <a:rPr lang="ru-RU" sz="2300" i="1" dirty="0"/>
                  <a:t>F</a:t>
                </a:r>
                <a:r>
                  <a:rPr lang="ru-RU" sz="2300" i="1" baseline="-25000" dirty="0"/>
                  <a:t>Pℜ</a:t>
                </a:r>
                <a:r>
                  <a:rPr lang="ru-RU" sz="2300" dirty="0"/>
                  <a:t> </a:t>
                </a:r>
                <a:r>
                  <a:rPr lang="ru-RU" sz="2300" dirty="0" smtClean="0"/>
                  <a:t>: </a:t>
                </a:r>
                <a:r>
                  <a:rPr lang="ru-RU" sz="2300" i="1" dirty="0"/>
                  <a:t>P </a:t>
                </a:r>
                <a14:m>
                  <m:oMath xmlns:m="http://schemas.openxmlformats.org/officeDocument/2006/math">
                    <m:r>
                      <a:rPr lang="ru-RU" sz="2300" i="1" dirty="0" smtClean="0"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ru-RU" sz="2300" dirty="0"/>
                  <a:t> </a:t>
                </a:r>
                <a:r>
                  <a:rPr lang="ru-RU" sz="2300" i="1" dirty="0"/>
                  <a:t>ℜ</a:t>
                </a:r>
                <a:r>
                  <a:rPr lang="ru-RU" sz="2300" dirty="0"/>
                  <a:t> – отображение множества полномочий на </a:t>
                </a:r>
                <a:r>
                  <a:rPr lang="ru-RU" sz="2300" dirty="0" smtClean="0"/>
                  <a:t>множество ролей</a:t>
                </a:r>
                <a:r>
                  <a:rPr lang="ru-RU" sz="2300" dirty="0"/>
                  <a:t>;</a:t>
                </a:r>
              </a:p>
              <a:p>
                <a:pPr marL="1160463" indent="0">
                  <a:buNone/>
                </a:pPr>
                <a:r>
                  <a:rPr lang="ru-RU" sz="2300" i="1" dirty="0"/>
                  <a:t>F</a:t>
                </a:r>
                <a:r>
                  <a:rPr lang="ru-RU" sz="2300" dirty="0"/>
                  <a:t> </a:t>
                </a:r>
                <a14:m>
                  <m:oMath xmlns:m="http://schemas.openxmlformats.org/officeDocument/2006/math">
                    <m:r>
                      <a:rPr lang="ru-RU" sz="2300" i="1" dirty="0" smtClean="0">
                        <a:latin typeface="Cambria Math"/>
                        <a:ea typeface="Cambria Math"/>
                      </a:rPr>
                      <m:t>∪</m:t>
                    </m:r>
                  </m:oMath>
                </a14:m>
                <a:r>
                  <a:rPr lang="ru-RU" sz="2300" dirty="0"/>
                  <a:t> ℜ : </a:t>
                </a:r>
                <a:r>
                  <a:rPr lang="ru-RU" sz="2300" i="1" dirty="0"/>
                  <a:t>U</a:t>
                </a:r>
                <a:r>
                  <a:rPr lang="ru-RU" sz="2300" dirty="0"/>
                  <a:t> </a:t>
                </a:r>
                <a:r>
                  <a:rPr lang="ru-RU" sz="2300" dirty="0" smtClean="0">
                    <a:latin typeface="Cambria Math"/>
                    <a:ea typeface="Cambria Math"/>
                  </a:rPr>
                  <a:t>×</a:t>
                </a:r>
                <a:r>
                  <a:rPr lang="ru-RU" sz="2300" dirty="0" smtClean="0"/>
                  <a:t> </a:t>
                </a:r>
                <a:r>
                  <a:rPr lang="ru-RU" sz="2300" i="1" dirty="0"/>
                  <a:t>ℜ</a:t>
                </a:r>
                <a:r>
                  <a:rPr lang="ru-RU" sz="2300" dirty="0"/>
                  <a:t> – отображение множества пользователей на множество ролей</a:t>
                </a:r>
                <a:r>
                  <a:rPr lang="ru-RU" sz="2300" dirty="0" smtClean="0"/>
                  <a:t>.</a:t>
                </a:r>
              </a:p>
              <a:p>
                <a:pPr marL="531813" indent="-436563"/>
                <a:r>
                  <a:rPr lang="ru-RU" sz="2300" dirty="0" smtClean="0"/>
                  <a:t>Отображение </a:t>
                </a:r>
                <a:r>
                  <a:rPr lang="ru-RU" sz="2300" i="1" dirty="0"/>
                  <a:t>F</a:t>
                </a:r>
                <a:r>
                  <a:rPr lang="ru-RU" sz="2300" dirty="0"/>
                  <a:t> </a:t>
                </a:r>
                <a14:m>
                  <m:oMath xmlns:m="http://schemas.openxmlformats.org/officeDocument/2006/math">
                    <m:r>
                      <a:rPr lang="ru-RU" sz="2300" i="1" dirty="0">
                        <a:latin typeface="Cambria Math"/>
                        <a:ea typeface="Cambria Math"/>
                      </a:rPr>
                      <m:t>∪</m:t>
                    </m:r>
                  </m:oMath>
                </a14:m>
                <a:r>
                  <a:rPr lang="ru-RU" sz="2300" dirty="0"/>
                  <a:t> ℜ </a:t>
                </a:r>
                <a:r>
                  <a:rPr lang="ru-RU" sz="2300" dirty="0" smtClean="0"/>
                  <a:t>может реализовываться: </a:t>
                </a:r>
              </a:p>
              <a:p>
                <a:pPr marL="898525" indent="-268288">
                  <a:buFont typeface="Wingdings" panose="05000000000000000000" pitchFamily="2" charset="2"/>
                  <a:buChar char="Ø"/>
                </a:pPr>
                <a:r>
                  <a:rPr lang="ru-RU" sz="2300" dirty="0" smtClean="0"/>
                  <a:t>матрицей «пользователи-роли»;</a:t>
                </a:r>
              </a:p>
              <a:p>
                <a:pPr marL="898525" indent="-268288">
                  <a:buFont typeface="Wingdings" panose="05000000000000000000" pitchFamily="2" charset="2"/>
                  <a:buChar char="Ø"/>
                </a:pPr>
                <a:r>
                  <a:rPr lang="ru-RU" sz="2300" dirty="0" smtClean="0"/>
                  <a:t>на </a:t>
                </a:r>
                <a:r>
                  <a:rPr lang="ru-RU" sz="2300" dirty="0"/>
                  <a:t>основе соотношения степеней допуска пользователей и грифов конфиденциальности </a:t>
                </a:r>
                <a:r>
                  <a:rPr lang="ru-RU" sz="2300" dirty="0" smtClean="0"/>
                  <a:t>ролей; </a:t>
                </a:r>
              </a:p>
              <a:p>
                <a:pPr marL="898525" indent="-268288">
                  <a:buFont typeface="Wingdings" panose="05000000000000000000" pitchFamily="2" charset="2"/>
                  <a:buChar char="Ø"/>
                </a:pPr>
                <a:r>
                  <a:rPr lang="ru-RU" sz="2300" dirty="0" smtClean="0"/>
                  <a:t>на </a:t>
                </a:r>
                <a:r>
                  <a:rPr lang="ru-RU" sz="2300" dirty="0"/>
                  <a:t>основе соотношения разрешенных тематик пользователей и тематики ролей.</a:t>
                </a:r>
              </a:p>
              <a:p>
                <a:pPr marL="1160463" indent="0">
                  <a:buNone/>
                </a:pPr>
                <a:endParaRPr lang="ru-RU" sz="23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6525" y="1538790"/>
                <a:ext cx="8525290" cy="4708525"/>
              </a:xfrm>
              <a:blipFill rotWithShape="1">
                <a:blip r:embed="rId2"/>
                <a:stretch>
                  <a:fillRect t="-1035" r="-215" b="-37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9905572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Формальная спецификация ролевой модели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6534" y="1712902"/>
            <a:ext cx="8577953" cy="4339483"/>
          </a:xfrm>
        </p:spPr>
        <p:txBody>
          <a:bodyPr/>
          <a:lstStyle/>
          <a:p>
            <a:pPr marL="536575" indent="-400050">
              <a:buNone/>
            </a:pPr>
            <a:r>
              <a:rPr lang="ru-RU" sz="2300" dirty="0"/>
              <a:t>3. Управление доступом в системе осуществляется на основе введения следующих функций:</a:t>
            </a:r>
          </a:p>
          <a:p>
            <a:pPr marL="536575" indent="-88900">
              <a:buNone/>
            </a:pPr>
            <a:r>
              <a:rPr lang="ru-RU" sz="2300" dirty="0" err="1"/>
              <a:t>fuser</a:t>
            </a:r>
            <a:r>
              <a:rPr lang="ru-RU" sz="2300" dirty="0"/>
              <a:t>: С→U – значением функции u = </a:t>
            </a:r>
            <a:r>
              <a:rPr lang="ru-RU" sz="2300" dirty="0" err="1"/>
              <a:t>fuser</a:t>
            </a:r>
            <a:r>
              <a:rPr lang="ru-RU" sz="2300" dirty="0"/>
              <a:t>(c) является пользователь u ∈ U, реализующий данный сеанс работы;</a:t>
            </a:r>
          </a:p>
          <a:p>
            <a:pPr marL="536575" indent="-88900">
              <a:buNone/>
            </a:pPr>
            <a:r>
              <a:rPr lang="ru-RU" sz="2300" dirty="0" err="1"/>
              <a:t>froles</a:t>
            </a:r>
            <a:r>
              <a:rPr lang="ru-RU" sz="2300" dirty="0"/>
              <a:t>: С→R – значением функции R = </a:t>
            </a:r>
            <a:r>
              <a:rPr lang="ru-RU" sz="2300" dirty="0" err="1"/>
              <a:t>froles</a:t>
            </a:r>
            <a:r>
              <a:rPr lang="ru-RU" sz="2300" dirty="0"/>
              <a:t> (c) является набор ролей R ⊆ ℜ из доступных пользователю, по которым пользователь работает в данном сеансе c ∈ С;</a:t>
            </a:r>
          </a:p>
          <a:p>
            <a:pPr marL="536575" indent="-88900">
              <a:buNone/>
            </a:pPr>
            <a:r>
              <a:rPr lang="ru-RU" sz="2300" dirty="0" err="1"/>
              <a:t>fpermissions</a:t>
            </a:r>
            <a:r>
              <a:rPr lang="ru-RU" sz="2300" dirty="0"/>
              <a:t>: С→ P – значением функции P = </a:t>
            </a:r>
            <a:r>
              <a:rPr lang="ru-RU" sz="2300" dirty="0" err="1"/>
              <a:t>fpermissions</a:t>
            </a:r>
            <a:r>
              <a:rPr lang="ru-RU" sz="2300" dirty="0"/>
              <a:t> (c) является набор полномочий P ⊆ P, доступных по всем ролям, задействованным пользователем в данном сеансе с ∈ С.</a:t>
            </a:r>
          </a:p>
          <a:p>
            <a:pPr marL="536575" indent="-400050">
              <a:buNone/>
            </a:pPr>
            <a:endParaRPr lang="ru-RU" sz="23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3356386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Формальная спецификация ролевой модели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412195" y="1600200"/>
                <a:ext cx="8390275" cy="4708525"/>
              </a:xfrm>
            </p:spPr>
            <p:txBody>
              <a:bodyPr/>
              <a:lstStyle/>
              <a:p>
                <a:pPr marL="536575" indent="-400050">
                  <a:buNone/>
                </a:pPr>
                <a:r>
                  <a:rPr lang="ru-RU" sz="2300" dirty="0"/>
                  <a:t>4. Основное правило (критерий безопасности) ролевого доступа определяется следующим образом. </a:t>
                </a:r>
              </a:p>
              <a:p>
                <a:r>
                  <a:rPr lang="ru-RU" b="1" i="1" dirty="0"/>
                  <a:t>Правило 1.</a:t>
                </a:r>
                <a:r>
                  <a:rPr lang="ru-RU" dirty="0"/>
                  <a:t> Система функционирует безопасно, если и только если любой пользователь </a:t>
                </a:r>
                <a:r>
                  <a:rPr lang="ru-RU" b="1" i="1" dirty="0"/>
                  <a:t>u</a:t>
                </a:r>
                <a:r>
                  <a:rPr lang="ru-RU" i="1" dirty="0"/>
                  <a:t> </a:t>
                </a:r>
                <a:r>
                  <a:rPr lang="ru-RU" dirty="0"/>
                  <a:t>∈ </a:t>
                </a:r>
                <a:r>
                  <a:rPr lang="ru-RU" b="1" i="1" dirty="0"/>
                  <a:t>U</a:t>
                </a:r>
                <a:r>
                  <a:rPr lang="ru-RU" dirty="0"/>
                  <a:t>, работающий в сеансе </a:t>
                </a:r>
                <a:r>
                  <a:rPr lang="ru-RU" b="1" i="1" dirty="0"/>
                  <a:t>c</a:t>
                </a:r>
                <a:r>
                  <a:rPr lang="ru-RU" i="1" dirty="0"/>
                  <a:t> </a:t>
                </a:r>
                <a:r>
                  <a:rPr lang="ru-RU" dirty="0"/>
                  <a:t>∈ </a:t>
                </a:r>
                <a:r>
                  <a:rPr lang="ru-RU" b="1" i="1" dirty="0"/>
                  <a:t>С</a:t>
                </a:r>
                <a:r>
                  <a:rPr lang="ru-RU" dirty="0"/>
                  <a:t>, может осуществлять действия (операции, процедуры) в рамках полномочия </a:t>
                </a:r>
                <a:r>
                  <a:rPr lang="ru-RU" b="1" i="1" dirty="0"/>
                  <a:t>p</a:t>
                </a:r>
                <a:r>
                  <a:rPr lang="ru-RU" i="1" dirty="0"/>
                  <a:t> </a:t>
                </a:r>
                <a:r>
                  <a:rPr lang="ru-RU" dirty="0"/>
                  <a:t>∈ </a:t>
                </a:r>
                <a:r>
                  <a:rPr lang="ru-RU" b="1" i="1" dirty="0"/>
                  <a:t>P</a:t>
                </a:r>
                <a:r>
                  <a:rPr lang="ru-RU" dirty="0"/>
                  <a:t>, при условии: </a:t>
                </a:r>
                <a:r>
                  <a:rPr lang="en-US" b="1" i="1" dirty="0"/>
                  <a:t>p </a:t>
                </a:r>
                <a:r>
                  <a:rPr lang="ru-RU" dirty="0"/>
                  <a:t>∈ </a:t>
                </a:r>
                <a:r>
                  <a:rPr lang="en-US" b="1" i="1" dirty="0"/>
                  <a:t>P</a:t>
                </a:r>
                <a:r>
                  <a:rPr lang="ru-RU" dirty="0"/>
                  <a:t>, где </a:t>
                </a:r>
                <a:r>
                  <a:rPr lang="en-US" b="1" i="1" dirty="0"/>
                  <a:t>P</a:t>
                </a:r>
                <a:r>
                  <a:rPr lang="ru-RU" dirty="0"/>
                  <a:t> = </a:t>
                </a:r>
                <a:r>
                  <a:rPr lang="en-US" b="1" i="1" dirty="0" err="1"/>
                  <a:t>f</a:t>
                </a:r>
                <a:r>
                  <a:rPr lang="en-US" i="1" baseline="-25000" dirty="0" err="1"/>
                  <a:t>permissions</a:t>
                </a:r>
                <a:r>
                  <a:rPr lang="en-US" i="1" baseline="-25000" dirty="0"/>
                  <a:t> </a:t>
                </a:r>
                <a:r>
                  <a:rPr lang="ru-RU" dirty="0"/>
                  <a:t>(</a:t>
                </a:r>
                <a:r>
                  <a:rPr lang="en-US" b="1" i="1" dirty="0"/>
                  <a:t>c</a:t>
                </a:r>
                <a:r>
                  <a:rPr lang="ru-RU" dirty="0" smtClean="0"/>
                  <a:t>).</a:t>
                </a:r>
              </a:p>
              <a:p>
                <a:r>
                  <a:rPr lang="ru-RU" dirty="0"/>
                  <a:t>Нетрудно видеть, что основной акцент в </a:t>
                </a:r>
                <a:r>
                  <a:rPr lang="ru-RU" dirty="0" smtClean="0"/>
                  <a:t>РУД </a:t>
                </a:r>
                <a:r>
                  <a:rPr lang="ru-RU" dirty="0"/>
                  <a:t>заключается в особенностях отображения множества пользователей на множество ролей </a:t>
                </a:r>
                <a:r>
                  <a:rPr lang="ru-RU" i="1" dirty="0"/>
                  <a:t>F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/>
                        <a:ea typeface="Cambria Math"/>
                      </a:rPr>
                      <m:t>∪</m:t>
                    </m:r>
                  </m:oMath>
                </a14:m>
                <a:r>
                  <a:rPr lang="ru-RU" dirty="0"/>
                  <a:t> </a:t>
                </a:r>
                <a:r>
                  <a:rPr lang="ru-RU" i="1" dirty="0"/>
                  <a:t>ℜ</a:t>
                </a:r>
                <a:r>
                  <a:rPr lang="ru-RU" dirty="0"/>
                  <a:t> и ограничений, накладываемых на функцию авторизации </a:t>
                </a:r>
                <a:r>
                  <a:rPr lang="ru-RU" b="1" i="1" dirty="0" err="1"/>
                  <a:t>f</a:t>
                </a:r>
                <a:r>
                  <a:rPr lang="ru-RU" i="1" baseline="-25000" dirty="0" err="1"/>
                  <a:t>roles</a:t>
                </a:r>
                <a:r>
                  <a:rPr lang="ru-RU" dirty="0" smtClean="0"/>
                  <a:t>(c</a:t>
                </a:r>
                <a:r>
                  <a:rPr lang="ru-RU" dirty="0"/>
                  <a:t>) пользователя в данном сеансе с разрешенными ему </a:t>
                </a:r>
                <a:r>
                  <a:rPr lang="ru-RU" dirty="0" smtClean="0"/>
                  <a:t>ролями</a:t>
                </a:r>
                <a:r>
                  <a:rPr lang="ru-RU" dirty="0"/>
                  <a:t>. </a:t>
                </a:r>
              </a:p>
              <a:p>
                <a:pPr marL="136525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2195" y="1600200"/>
                <a:ext cx="8390275" cy="4708525"/>
              </a:xfrm>
              <a:blipFill rotWithShape="0">
                <a:blip r:embed="rId2"/>
                <a:stretch>
                  <a:fillRect t="-1295" r="-1526" b="-12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2007715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Ролевая модель безопасности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190" y="1600200"/>
            <a:ext cx="8480285" cy="4708525"/>
          </a:xfrm>
        </p:spPr>
        <p:txBody>
          <a:bodyPr/>
          <a:lstStyle/>
          <a:p>
            <a:r>
              <a:rPr lang="ru-RU" dirty="0"/>
              <a:t>В зависимости от особенностей разрешения данных вопросов выделяют несколько разновидностей ролевых моделей:</a:t>
            </a:r>
          </a:p>
          <a:p>
            <a:pPr marL="1077913" indent="-354013" defTabSz="1077913">
              <a:buFont typeface="Wingdings" panose="05000000000000000000" pitchFamily="2" charset="2"/>
              <a:buChar char="Ø"/>
            </a:pPr>
            <a:r>
              <a:rPr lang="ru-RU" dirty="0" smtClean="0"/>
              <a:t>с </a:t>
            </a:r>
            <a:r>
              <a:rPr lang="ru-RU" dirty="0"/>
              <a:t>иерархической организацией системы ролей;</a:t>
            </a:r>
          </a:p>
          <a:p>
            <a:pPr marL="1077913" indent="-354013" defTabSz="1077913">
              <a:buFont typeface="Wingdings" panose="05000000000000000000" pitchFamily="2" charset="2"/>
              <a:buChar char="Ø"/>
            </a:pPr>
            <a:r>
              <a:rPr lang="ru-RU" dirty="0" smtClean="0"/>
              <a:t>с </a:t>
            </a:r>
            <a:r>
              <a:rPr lang="ru-RU" dirty="0"/>
              <a:t>взаимоисключающими на любые (все) сеансы ролями (модель статического распределения обязанностей);</a:t>
            </a:r>
          </a:p>
          <a:p>
            <a:pPr marL="1077913" indent="-354013" defTabSz="1077913">
              <a:buFont typeface="Wingdings" panose="05000000000000000000" pitchFamily="2" charset="2"/>
              <a:buChar char="Ø"/>
            </a:pPr>
            <a:r>
              <a:rPr lang="ru-RU" dirty="0" smtClean="0"/>
              <a:t>с </a:t>
            </a:r>
            <a:r>
              <a:rPr lang="ru-RU" dirty="0"/>
              <a:t>взаимоисключающими на один сеанс ролями (модель динамического распределения обязанностей);</a:t>
            </a:r>
          </a:p>
          <a:p>
            <a:pPr marL="1077913" indent="-354013" defTabSz="1077913">
              <a:buFont typeface="Wingdings" panose="05000000000000000000" pitchFamily="2" charset="2"/>
              <a:buChar char="Ø"/>
            </a:pPr>
            <a:r>
              <a:rPr lang="ru-RU" dirty="0" smtClean="0"/>
              <a:t>с </a:t>
            </a:r>
            <a:r>
              <a:rPr lang="ru-RU" dirty="0"/>
              <a:t>количественными ограничениями по ролям;</a:t>
            </a:r>
          </a:p>
          <a:p>
            <a:pPr marL="1077913" indent="-354013" defTabSz="1077913">
              <a:buFont typeface="Wingdings" panose="05000000000000000000" pitchFamily="2" charset="2"/>
              <a:buChar char="Ø"/>
            </a:pPr>
            <a:r>
              <a:rPr lang="ru-RU" dirty="0" smtClean="0"/>
              <a:t>с </a:t>
            </a:r>
            <a:r>
              <a:rPr lang="ru-RU" dirty="0"/>
              <a:t>группированием ролей и полномочий.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2719209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Иерархическая система ролей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69</a:t>
            </a:fld>
            <a:endParaRPr lang="ru-RU"/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6535" y="1417638"/>
            <a:ext cx="8390274" cy="484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985158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Ролевая модель </a:t>
            </a:r>
            <a:r>
              <a:rPr lang="ru-RU" dirty="0"/>
              <a:t>статического распределения обязанностей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510785"/>
            <a:ext cx="8229600" cy="4708525"/>
          </a:xfrm>
        </p:spPr>
        <p:txBody>
          <a:bodyPr/>
          <a:lstStyle/>
          <a:p>
            <a:r>
              <a:rPr lang="ru-RU" dirty="0"/>
              <a:t>Особенностью некоторых предметных областей является запрет на предоставление определенного набора прав или полномочий в совокупности одному работнику. </a:t>
            </a:r>
            <a:endParaRPr lang="ru-RU" dirty="0" smtClean="0"/>
          </a:p>
          <a:p>
            <a:r>
              <a:rPr lang="ru-RU" dirty="0" smtClean="0"/>
              <a:t>Подобные </a:t>
            </a:r>
            <a:r>
              <a:rPr lang="ru-RU" dirty="0"/>
              <a:t>ограничения призваны усилить безопасность путем уменьшения вероятности злоумышленных </a:t>
            </a:r>
            <a:r>
              <a:rPr lang="ru-RU" dirty="0" smtClean="0"/>
              <a:t>действий по </a:t>
            </a:r>
            <a:r>
              <a:rPr lang="ru-RU" dirty="0"/>
              <a:t>наборам </a:t>
            </a:r>
            <a:r>
              <a:rPr lang="ru-RU" dirty="0" smtClean="0"/>
              <a:t>связанных </a:t>
            </a:r>
            <a:r>
              <a:rPr lang="ru-RU" dirty="0"/>
              <a:t>критических процессов и </a:t>
            </a:r>
            <a:r>
              <a:rPr lang="ru-RU" dirty="0" smtClean="0"/>
              <a:t>процедур. </a:t>
            </a:r>
          </a:p>
          <a:p>
            <a:r>
              <a:rPr lang="ru-RU" dirty="0" smtClean="0"/>
              <a:t>Если такие действия будут </a:t>
            </a:r>
            <a:r>
              <a:rPr lang="ru-RU" dirty="0"/>
              <a:t>выполняться только разными работниками, то для осуществления злоумышленных действий потребуется сговор соответствующих работников. Вероятность </a:t>
            </a:r>
            <a:r>
              <a:rPr lang="ru-RU" dirty="0" smtClean="0"/>
              <a:t>злоумышленного </a:t>
            </a:r>
            <a:r>
              <a:rPr lang="ru-RU" dirty="0"/>
              <a:t>развития ситуации в </a:t>
            </a:r>
            <a:r>
              <a:rPr lang="ru-RU" dirty="0" smtClean="0"/>
              <a:t>этом случае уменьшается.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3835348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Ролевая модель динамического распределения обязанностей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Во многих организационно-управленческих и организационно-технологических структурах работникам приходится совмещать выполнение определенных групп обязанностей или подменять других работников на определенное время.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этом случае распределение функциональных или служебных обязанностей имеет динамический характер и </a:t>
            </a:r>
            <a:r>
              <a:rPr lang="ru-RU" dirty="0" smtClean="0"/>
              <a:t>организуется на определенный временной период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При </a:t>
            </a:r>
            <a:r>
              <a:rPr lang="ru-RU" dirty="0"/>
              <a:t>этом часть полномочий, групп процедур также может иметь критический с точки зрения безопасности характер в плане одновременного их выполнения одним работником.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0618002"/>
      </p:ext>
    </p:extLst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Ролевая модель </a:t>
            </a:r>
            <a:r>
              <a:rPr lang="ru-RU" dirty="0" smtClean="0"/>
              <a:t>с </a:t>
            </a:r>
            <a:r>
              <a:rPr lang="ru-RU" dirty="0"/>
              <a:t>количественными </a:t>
            </a:r>
            <a:r>
              <a:rPr lang="ru-RU" dirty="0" smtClean="0"/>
              <a:t>ограничениями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35810"/>
            <a:ext cx="8229600" cy="4438495"/>
          </a:xfrm>
        </p:spPr>
        <p:txBody>
          <a:bodyPr/>
          <a:lstStyle/>
          <a:p>
            <a:r>
              <a:rPr lang="ru-RU" dirty="0"/>
              <a:t>Отдельным направлением идеологии исключения потенциально опасных ситуаций, связанных с набором критических по безопасности прав и полномочий, является возможность наложения количественных ограничений на права и полномочия, агрегируемые одной отдельно взятой ролью. </a:t>
            </a:r>
            <a:endParaRPr lang="ru-RU" dirty="0" smtClean="0"/>
          </a:p>
          <a:p>
            <a:r>
              <a:rPr lang="ru-RU" dirty="0"/>
              <a:t>В других ситуациях требуется предоставление определенных полномочий как можно меньшему или строго ограниченному количеству сотрудников, скажем допуск к определенным опасным работам, право ознакомления с определенной информацией и т. п.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3759264"/>
      </p:ext>
    </p:extLst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9579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Ролевая модель </a:t>
            </a:r>
            <a:r>
              <a:rPr lang="ru-RU" dirty="0" smtClean="0"/>
              <a:t>с группировкой </a:t>
            </a:r>
            <a:r>
              <a:rPr lang="ru-RU" dirty="0"/>
              <a:t>ролей и полномочий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80220"/>
            <a:ext cx="8229600" cy="4079050"/>
          </a:xfrm>
        </p:spPr>
        <p:txBody>
          <a:bodyPr/>
          <a:lstStyle/>
          <a:p>
            <a:r>
              <a:rPr lang="ru-RU" dirty="0"/>
              <a:t>В некотором смысле противоположным по отношению к количественным ограничениям является группирование ролей и полномочий.</a:t>
            </a:r>
          </a:p>
          <a:p>
            <a:r>
              <a:rPr lang="ru-RU" dirty="0"/>
              <a:t>По смыслу и определению роль представляет группирование прав и полномочий в отдельную логически обособленную их совокупность, имеющую самостоятельное значение в предметной области КС. </a:t>
            </a:r>
            <a:endParaRPr lang="ru-RU" dirty="0" smtClean="0"/>
          </a:p>
          <a:p>
            <a:r>
              <a:rPr lang="ru-RU" dirty="0" smtClean="0"/>
              <a:t>Поэтому</a:t>
            </a:r>
            <a:r>
              <a:rPr lang="ru-RU" dirty="0"/>
              <a:t>, прежде всего, устанавливается механизм, контролирующий агрегирование в одну роль некоторых логически связанных прав и полномочий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73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2349101"/>
      </p:ext>
    </p:extLst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Комплексное использование ролевых моделей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6524" y="1583795"/>
            <a:ext cx="8550951" cy="4708525"/>
          </a:xfrm>
        </p:spPr>
        <p:txBody>
          <a:bodyPr/>
          <a:lstStyle/>
          <a:p>
            <a:r>
              <a:rPr lang="ru-RU" dirty="0" smtClean="0"/>
              <a:t>На практике могут </a:t>
            </a:r>
            <a:r>
              <a:rPr lang="ru-RU" dirty="0"/>
              <a:t>использоваться комплексные подходы, сочетающие </a:t>
            </a:r>
            <a:r>
              <a:rPr lang="ru-RU" dirty="0" smtClean="0"/>
              <a:t>рассмотренные </a:t>
            </a:r>
            <a:r>
              <a:rPr lang="ru-RU" dirty="0"/>
              <a:t>разновидности ролевых моделей, что позволяет существенно упростить </a:t>
            </a:r>
            <a:r>
              <a:rPr lang="ru-RU" dirty="0" smtClean="0"/>
              <a:t>системы </a:t>
            </a:r>
            <a:r>
              <a:rPr lang="ru-RU" dirty="0"/>
              <a:t>разграничения доступа </a:t>
            </a:r>
            <a:r>
              <a:rPr lang="ru-RU" dirty="0" smtClean="0"/>
              <a:t>в </a:t>
            </a:r>
            <a:r>
              <a:rPr lang="ru-RU" dirty="0"/>
              <a:t>КС, автоматизирующих сложные, нетривиальные организационно-технологические и </a:t>
            </a:r>
            <a:r>
              <a:rPr lang="ru-RU" dirty="0" smtClean="0"/>
              <a:t>управленческие </a:t>
            </a:r>
            <a:r>
              <a:rPr lang="ru-RU" dirty="0"/>
              <a:t>схемы и процессы. </a:t>
            </a:r>
            <a:endParaRPr lang="ru-RU" dirty="0" smtClean="0"/>
          </a:p>
          <a:p>
            <a:r>
              <a:rPr lang="ru-RU" dirty="0" smtClean="0"/>
              <a:t>Вместе </a:t>
            </a:r>
            <a:r>
              <a:rPr lang="ru-RU" dirty="0"/>
              <a:t>с тем, в ролевых моделях нет строгих доказательств безопасности системы в соответствии с определенными формализованными критериями. Поэтому их безопасность основывается на контрольных механизмах дискреционных или мандатных моделей, средствами которых регулируется доступ ролевых субъектов к объектам системы.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74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3473687"/>
      </p:ext>
    </p:extLst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Индивидуально-групповое разграничение доступа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96525" y="1600200"/>
                <a:ext cx="8525290" cy="4708525"/>
              </a:xfrm>
            </p:spPr>
            <p:txBody>
              <a:bodyPr/>
              <a:lstStyle/>
              <a:p>
                <a:r>
                  <a:rPr lang="ru-RU" dirty="0" smtClean="0"/>
                  <a:t>Это упрощенная, </a:t>
                </a:r>
                <a:r>
                  <a:rPr lang="ru-RU" dirty="0"/>
                  <a:t>но наиболее широко </a:t>
                </a:r>
                <a:r>
                  <a:rPr lang="ru-RU" dirty="0" smtClean="0"/>
                  <a:t>применяемая </a:t>
                </a:r>
                <a:r>
                  <a:rPr lang="ru-RU" dirty="0"/>
                  <a:t>разновидность </a:t>
                </a:r>
                <a:r>
                  <a:rPr lang="ru-RU" dirty="0" smtClean="0"/>
                  <a:t>РУД. </a:t>
                </a:r>
                <a:r>
                  <a:rPr lang="ru-RU" dirty="0"/>
                  <a:t>Основные положения </a:t>
                </a:r>
                <a:r>
                  <a:rPr lang="ru-RU" dirty="0" smtClean="0"/>
                  <a:t>модели:</a:t>
                </a:r>
              </a:p>
              <a:p>
                <a:pPr marL="136525" indent="0">
                  <a:buNone/>
                </a:pPr>
                <a:r>
                  <a:rPr lang="ru-RU" dirty="0" smtClean="0"/>
                  <a:t> 1</a:t>
                </a:r>
                <a:r>
                  <a:rPr lang="ru-RU" dirty="0"/>
                  <a:t>. КС представляется совокупностью </a:t>
                </a:r>
                <a:r>
                  <a:rPr lang="ru-RU" dirty="0" smtClean="0"/>
                  <a:t>наборов </a:t>
                </a:r>
                <a:r>
                  <a:rPr lang="ru-RU" dirty="0"/>
                  <a:t>сущностей:</a:t>
                </a:r>
              </a:p>
              <a:p>
                <a:pPr marL="723900" indent="-192088">
                  <a:buNone/>
                </a:pPr>
                <a:r>
                  <a:rPr lang="ru-RU" sz="2300" dirty="0" smtClean="0"/>
                  <a:t>-</a:t>
                </a:r>
                <a:r>
                  <a:rPr lang="ru-RU" sz="2300" dirty="0"/>
                  <a:t>	множества объектов доступа </a:t>
                </a:r>
                <a:r>
                  <a:rPr lang="ru-RU" sz="2300" b="1" i="1" dirty="0"/>
                  <a:t>O</a:t>
                </a:r>
                <a:r>
                  <a:rPr lang="ru-RU" sz="2300" dirty="0"/>
                  <a:t>(</a:t>
                </a:r>
                <a:r>
                  <a:rPr lang="ru-RU" sz="2300" i="1" dirty="0"/>
                  <a:t>o</a:t>
                </a:r>
                <a:r>
                  <a:rPr lang="ru-RU" sz="2300" baseline="-25000" dirty="0"/>
                  <a:t>1</a:t>
                </a:r>
                <a:r>
                  <a:rPr lang="ru-RU" sz="2300" dirty="0"/>
                  <a:t>, </a:t>
                </a:r>
                <a:r>
                  <a:rPr lang="ru-RU" sz="2300" i="1" dirty="0"/>
                  <a:t>o</a:t>
                </a:r>
                <a:r>
                  <a:rPr lang="ru-RU" sz="2300" baseline="-25000" dirty="0"/>
                  <a:t>2</a:t>
                </a:r>
                <a:r>
                  <a:rPr lang="ru-RU" sz="2300" dirty="0"/>
                  <a:t>,…, </a:t>
                </a:r>
                <a:r>
                  <a:rPr lang="ru-RU" sz="2300" i="1" dirty="0" err="1"/>
                  <a:t>o</a:t>
                </a:r>
                <a:r>
                  <a:rPr lang="ru-RU" sz="2300" i="1" baseline="-25000" dirty="0" err="1"/>
                  <a:t>M</a:t>
                </a:r>
                <a:r>
                  <a:rPr lang="ru-RU" sz="2300" dirty="0"/>
                  <a:t>);</a:t>
                </a:r>
              </a:p>
              <a:p>
                <a:pPr marL="723900" indent="-192088">
                  <a:buNone/>
                </a:pPr>
                <a:r>
                  <a:rPr lang="ru-RU" sz="2300" dirty="0" smtClean="0"/>
                  <a:t>-</a:t>
                </a:r>
                <a:r>
                  <a:rPr lang="ru-RU" sz="2300" dirty="0"/>
                  <a:t>	множества пользователей </a:t>
                </a:r>
                <a:r>
                  <a:rPr lang="ru-RU" sz="2300" b="1" i="1" dirty="0"/>
                  <a:t>U</a:t>
                </a:r>
                <a:r>
                  <a:rPr lang="ru-RU" sz="2300" dirty="0"/>
                  <a:t>(</a:t>
                </a:r>
                <a:r>
                  <a:rPr lang="ru-RU" sz="2300" i="1" dirty="0"/>
                  <a:t>u</a:t>
                </a:r>
                <a:r>
                  <a:rPr lang="ru-RU" sz="2300" baseline="-25000" dirty="0"/>
                  <a:t>1</a:t>
                </a:r>
                <a:r>
                  <a:rPr lang="ru-RU" sz="2300" dirty="0"/>
                  <a:t>, </a:t>
                </a:r>
                <a:r>
                  <a:rPr lang="ru-RU" sz="2300" i="1" dirty="0"/>
                  <a:t>u</a:t>
                </a:r>
                <a:r>
                  <a:rPr lang="ru-RU" sz="2300" baseline="-25000" dirty="0"/>
                  <a:t>2</a:t>
                </a:r>
                <a:r>
                  <a:rPr lang="ru-RU" sz="2300" dirty="0"/>
                  <a:t>,…, </a:t>
                </a:r>
                <a:r>
                  <a:rPr lang="ru-RU" sz="2300" i="1" dirty="0" err="1"/>
                  <a:t>u</a:t>
                </a:r>
                <a:r>
                  <a:rPr lang="ru-RU" sz="2300" i="1" baseline="-25000" dirty="0" err="1"/>
                  <a:t>N</a:t>
                </a:r>
                <a:r>
                  <a:rPr lang="ru-RU" sz="2300" dirty="0"/>
                  <a:t>);</a:t>
                </a:r>
              </a:p>
              <a:p>
                <a:pPr marL="723900" indent="-192088">
                  <a:buNone/>
                </a:pPr>
                <a:r>
                  <a:rPr lang="ru-RU" sz="2300" dirty="0" smtClean="0"/>
                  <a:t>-</a:t>
                </a:r>
                <a:r>
                  <a:rPr lang="ru-RU" sz="2300" dirty="0"/>
                  <a:t>	множества рабочих групп пользователей </a:t>
                </a:r>
                <a:r>
                  <a:rPr lang="ru-RU" sz="2300" b="1" i="1" dirty="0"/>
                  <a:t>G</a:t>
                </a:r>
                <a:r>
                  <a:rPr lang="ru-RU" sz="2300" dirty="0"/>
                  <a:t>(</a:t>
                </a:r>
                <a:r>
                  <a:rPr lang="ru-RU" sz="2300" i="1" dirty="0"/>
                  <a:t>g</a:t>
                </a:r>
                <a:r>
                  <a:rPr lang="ru-RU" sz="2300" baseline="-25000" dirty="0"/>
                  <a:t>1</a:t>
                </a:r>
                <a:r>
                  <a:rPr lang="ru-RU" sz="2300" dirty="0"/>
                  <a:t>, </a:t>
                </a:r>
                <a:r>
                  <a:rPr lang="ru-RU" sz="2300" i="1" dirty="0"/>
                  <a:t>g</a:t>
                </a:r>
                <a:r>
                  <a:rPr lang="ru-RU" sz="2300" baseline="-25000" dirty="0"/>
                  <a:t>2</a:t>
                </a:r>
                <a:r>
                  <a:rPr lang="ru-RU" sz="2300" dirty="0"/>
                  <a:t>,…, </a:t>
                </a:r>
                <a:r>
                  <a:rPr lang="ru-RU" sz="2300" i="1" dirty="0" err="1"/>
                  <a:t>g</a:t>
                </a:r>
                <a:r>
                  <a:rPr lang="ru-RU" sz="2300" i="1" baseline="-25000" dirty="0" err="1"/>
                  <a:t>K</a:t>
                </a:r>
                <a:r>
                  <a:rPr lang="ru-RU" sz="2300" dirty="0"/>
                  <a:t>);</a:t>
                </a:r>
              </a:p>
              <a:p>
                <a:pPr marL="723900" indent="-192088">
                  <a:buNone/>
                </a:pPr>
                <a:r>
                  <a:rPr lang="ru-RU" sz="2300" dirty="0" smtClean="0"/>
                  <a:t>-</a:t>
                </a:r>
                <a:r>
                  <a:rPr lang="ru-RU" sz="2300" dirty="0"/>
                  <a:t>	множества прав доступа и привилегий (</a:t>
                </a:r>
                <a:r>
                  <a:rPr lang="ru-RU" sz="2300" i="1" dirty="0"/>
                  <a:t>r</a:t>
                </a:r>
                <a:r>
                  <a:rPr lang="ru-RU" sz="2300" baseline="-25000" dirty="0"/>
                  <a:t>1</a:t>
                </a:r>
                <a:r>
                  <a:rPr lang="ru-RU" sz="2300" dirty="0"/>
                  <a:t>, </a:t>
                </a:r>
                <a:r>
                  <a:rPr lang="ru-RU" sz="2300" i="1" dirty="0"/>
                  <a:t>r</a:t>
                </a:r>
                <a:r>
                  <a:rPr lang="ru-RU" sz="2300" baseline="-25000" dirty="0"/>
                  <a:t>2</a:t>
                </a:r>
                <a:r>
                  <a:rPr lang="ru-RU" sz="2300" dirty="0"/>
                  <a:t>,…, </a:t>
                </a:r>
                <a:r>
                  <a:rPr lang="ru-RU" sz="2300" i="1" dirty="0" err="1"/>
                  <a:t>r</a:t>
                </a:r>
                <a:r>
                  <a:rPr lang="ru-RU" sz="2300" i="1" baseline="-25000" dirty="0" err="1"/>
                  <a:t>J</a:t>
                </a:r>
                <a:r>
                  <a:rPr lang="ru-RU" sz="2300" dirty="0"/>
                  <a:t>);</a:t>
                </a:r>
              </a:p>
              <a:p>
                <a:pPr marL="723900" indent="-192088">
                  <a:buNone/>
                </a:pPr>
                <a:r>
                  <a:rPr lang="ru-RU" sz="2300" dirty="0" smtClean="0"/>
                  <a:t>-</a:t>
                </a:r>
                <a:r>
                  <a:rPr lang="ru-RU" sz="2300" dirty="0"/>
                  <a:t>	матрицей доступа </a:t>
                </a:r>
                <a:r>
                  <a:rPr lang="ru-RU" sz="2300" b="1" dirty="0"/>
                  <a:t>A</a:t>
                </a:r>
                <a:r>
                  <a:rPr lang="ru-RU" sz="2300" dirty="0"/>
                  <a:t> размерностью ((</a:t>
                </a:r>
                <a:r>
                  <a:rPr lang="ru-RU" sz="2300" i="1" dirty="0"/>
                  <a:t>N</a:t>
                </a:r>
                <a:r>
                  <a:rPr lang="ru-RU" sz="2300" dirty="0"/>
                  <a:t> + </a:t>
                </a:r>
                <a:r>
                  <a:rPr lang="ru-RU" sz="2300" i="1" dirty="0"/>
                  <a:t>K</a:t>
                </a:r>
                <a:r>
                  <a:rPr lang="ru-RU" sz="2300" dirty="0"/>
                  <a:t>) </a:t>
                </a:r>
                <a14:m>
                  <m:oMath xmlns:m="http://schemas.openxmlformats.org/officeDocument/2006/math">
                    <m:r>
                      <a:rPr lang="ru-RU" sz="2300" i="1" dirty="0" smtClean="0"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ru-RU" sz="2300" dirty="0"/>
                  <a:t> </a:t>
                </a:r>
                <a:r>
                  <a:rPr lang="ru-RU" sz="2300" i="1" dirty="0"/>
                  <a:t>M</a:t>
                </a:r>
                <a:r>
                  <a:rPr lang="ru-RU" sz="2300" dirty="0"/>
                  <a:t>), каждая ячейка которой специфицирует права доступа и привилегии пользователей или их рабочих групп к объектам из конечного набора прав доступа и привилегий </a:t>
                </a:r>
                <a:r>
                  <a:rPr lang="ru-RU" sz="2300" b="1" i="1" dirty="0"/>
                  <a:t>R</a:t>
                </a:r>
                <a:r>
                  <a:rPr lang="ru-RU" sz="2300" dirty="0"/>
                  <a:t> (</a:t>
                </a:r>
                <a:r>
                  <a:rPr lang="ru-RU" sz="2300" i="1" dirty="0"/>
                  <a:t>r</a:t>
                </a:r>
                <a:r>
                  <a:rPr lang="ru-RU" sz="2300" baseline="-25000" dirty="0"/>
                  <a:t>1</a:t>
                </a:r>
                <a:r>
                  <a:rPr lang="ru-RU" sz="2300" dirty="0"/>
                  <a:t>, </a:t>
                </a:r>
                <a:r>
                  <a:rPr lang="ru-RU" sz="2300" i="1" dirty="0"/>
                  <a:t>r</a:t>
                </a:r>
                <a:r>
                  <a:rPr lang="ru-RU" sz="2300" baseline="-25000" dirty="0"/>
                  <a:t>2</a:t>
                </a:r>
                <a:r>
                  <a:rPr lang="ru-RU" sz="2300" dirty="0"/>
                  <a:t>,…, </a:t>
                </a:r>
                <a:r>
                  <a:rPr lang="ru-RU" sz="2300" i="1" dirty="0" err="1"/>
                  <a:t>r</a:t>
                </a:r>
                <a:r>
                  <a:rPr lang="ru-RU" sz="2300" i="1" baseline="-25000" dirty="0" err="1"/>
                  <a:t>J</a:t>
                </a:r>
                <a:r>
                  <a:rPr lang="ru-RU" sz="2300" dirty="0"/>
                  <a:t> ), т. е. </a:t>
                </a:r>
                <a:r>
                  <a:rPr lang="ru-RU" sz="2300" b="1" dirty="0"/>
                  <a:t>A</a:t>
                </a:r>
                <a:r>
                  <a:rPr lang="ru-RU" sz="2300" dirty="0"/>
                  <a:t>[</a:t>
                </a:r>
                <a:r>
                  <a:rPr lang="ru-RU" sz="2300" i="1" dirty="0"/>
                  <a:t>u</a:t>
                </a:r>
                <a:r>
                  <a:rPr lang="ru-RU" sz="2300" dirty="0"/>
                  <a:t>, </a:t>
                </a:r>
                <a:r>
                  <a:rPr lang="ru-RU" sz="2300" i="1" dirty="0"/>
                  <a:t>o</a:t>
                </a:r>
                <a:r>
                  <a:rPr lang="ru-RU" sz="2300" dirty="0"/>
                  <a:t>] ⊆ </a:t>
                </a:r>
                <a:r>
                  <a:rPr lang="ru-RU" sz="2300" b="1" i="1" dirty="0"/>
                  <a:t>R</a:t>
                </a:r>
                <a:r>
                  <a:rPr lang="ru-RU" sz="2300" dirty="0"/>
                  <a:t> , </a:t>
                </a:r>
                <a:r>
                  <a:rPr lang="ru-RU" sz="2300" b="1" dirty="0"/>
                  <a:t>A</a:t>
                </a:r>
                <a:r>
                  <a:rPr lang="ru-RU" sz="2300" dirty="0"/>
                  <a:t>[</a:t>
                </a:r>
                <a:r>
                  <a:rPr lang="ru-RU" sz="2300" i="1" dirty="0"/>
                  <a:t>g</a:t>
                </a:r>
                <a:r>
                  <a:rPr lang="ru-RU" sz="2300" dirty="0"/>
                  <a:t>, </a:t>
                </a:r>
                <a:r>
                  <a:rPr lang="ru-RU" sz="2300" i="1" dirty="0"/>
                  <a:t>o</a:t>
                </a:r>
                <a:r>
                  <a:rPr lang="ru-RU" sz="2300" dirty="0"/>
                  <a:t>] ⊆ </a:t>
                </a:r>
                <a:r>
                  <a:rPr lang="ru-RU" sz="2300" b="1" i="1" dirty="0"/>
                  <a:t>R</a:t>
                </a:r>
                <a:r>
                  <a:rPr lang="ru-RU" sz="2300" dirty="0" smtClean="0"/>
                  <a:t>.</a:t>
                </a:r>
                <a:endParaRPr lang="ru-RU" sz="23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6525" y="1600200"/>
                <a:ext cx="8525290" cy="4708525"/>
              </a:xfrm>
              <a:blipFill rotWithShape="1">
                <a:blip r:embed="rId2"/>
                <a:stretch>
                  <a:fillRect t="-1166" r="-2217" b="-47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4266455"/>
      </p:ext>
    </p:extLst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Индивидуально-групповое разграничение доступа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686800" cy="4708525"/>
          </a:xfrm>
        </p:spPr>
        <p:txBody>
          <a:bodyPr/>
          <a:lstStyle/>
          <a:p>
            <a:r>
              <a:rPr lang="ru-RU" b="1" i="1" dirty="0" smtClean="0"/>
              <a:t>Определение</a:t>
            </a:r>
            <a:r>
              <a:rPr lang="ru-RU" dirty="0" smtClean="0"/>
              <a:t>. </a:t>
            </a:r>
            <a:r>
              <a:rPr lang="ru-RU" dirty="0"/>
              <a:t>Рабочей группой называется совокупность пользователей КС, объединенных едиными правами доступа к объектам и (или) едиными привилегиями (полномочиями) выполнения определенных процедур обработки данных.</a:t>
            </a:r>
          </a:p>
          <a:p>
            <a:r>
              <a:rPr lang="ru-RU" dirty="0" smtClean="0"/>
              <a:t>Рабочая </a:t>
            </a:r>
            <a:r>
              <a:rPr lang="ru-RU" dirty="0"/>
              <a:t>группа представляет упрощенный аналог некоторой роли, которая формируется </a:t>
            </a:r>
            <a:r>
              <a:rPr lang="ru-RU" dirty="0" smtClean="0"/>
              <a:t>"на </a:t>
            </a:r>
            <a:r>
              <a:rPr lang="ru-RU" dirty="0"/>
              <a:t>основе агрегирования в одну общую сущность пользователей, потребности в доступе которых к объектам системы подобны или близки. </a:t>
            </a:r>
            <a:endParaRPr lang="ru-RU" dirty="0" smtClean="0"/>
          </a:p>
          <a:p>
            <a:r>
              <a:rPr lang="ru-RU" dirty="0" smtClean="0"/>
              <a:t>При этом у </a:t>
            </a:r>
            <a:r>
              <a:rPr lang="ru-RU" dirty="0"/>
              <a:t>пользователей сохраняются и индивидуальные права доступа, которые не охватываются правами рабочей группы.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997484"/>
      </p:ext>
    </p:extLst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Индивидуально-групповое разграничение доступа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1530" y="1600200"/>
            <a:ext cx="8525291" cy="4708525"/>
          </a:xfrm>
        </p:spPr>
        <p:txBody>
          <a:bodyPr/>
          <a:lstStyle/>
          <a:p>
            <a:pPr marL="531813" indent="-395288">
              <a:buNone/>
            </a:pPr>
            <a:r>
              <a:rPr lang="ru-RU" dirty="0" smtClean="0"/>
              <a:t>2. Групповые </a:t>
            </a:r>
            <a:r>
              <a:rPr lang="ru-RU" dirty="0"/>
              <a:t>отношения в системе устанавливаются отображением множества пользователей на множество рабочих групп</a:t>
            </a:r>
            <a:r>
              <a:rPr lang="ru-RU" dirty="0" smtClean="0"/>
              <a:t>: </a:t>
            </a:r>
            <a:r>
              <a:rPr lang="ru-RU" b="1" i="1" dirty="0" smtClean="0"/>
              <a:t>F</a:t>
            </a:r>
            <a:r>
              <a:rPr lang="ru-RU" i="1" baseline="-25000" dirty="0" smtClean="0"/>
              <a:t>UG</a:t>
            </a:r>
            <a:r>
              <a:rPr lang="ru-RU" i="1" dirty="0"/>
              <a:t>: </a:t>
            </a:r>
            <a:r>
              <a:rPr lang="ru-RU" b="1" i="1" dirty="0"/>
              <a:t>U</a:t>
            </a:r>
            <a:r>
              <a:rPr lang="ru-RU" i="1" dirty="0"/>
              <a:t> </a:t>
            </a:r>
            <a:r>
              <a:rPr lang="ru-RU" i="1" dirty="0" smtClean="0">
                <a:sym typeface="Symbol"/>
              </a:rPr>
              <a:t></a:t>
            </a:r>
            <a:r>
              <a:rPr lang="ru-RU" i="1" dirty="0" smtClean="0"/>
              <a:t> </a:t>
            </a:r>
            <a:r>
              <a:rPr lang="ru-RU" b="1" i="1" dirty="0"/>
              <a:t>G</a:t>
            </a:r>
            <a:r>
              <a:rPr lang="ru-RU" i="1" dirty="0"/>
              <a:t> </a:t>
            </a:r>
            <a:r>
              <a:rPr lang="ru-RU" dirty="0"/>
              <a:t>– такое, что одна рабочая группа объединяет нескольких пользователей, а один пользователь может входить в несколько рабочих </a:t>
            </a:r>
            <a:r>
              <a:rPr lang="ru-RU" dirty="0" smtClean="0"/>
              <a:t>групп (связи «многие-ко-многим»). </a:t>
            </a:r>
            <a:endParaRPr lang="ru-RU" dirty="0"/>
          </a:p>
          <a:p>
            <a:r>
              <a:rPr lang="ru-RU" dirty="0" smtClean="0"/>
              <a:t>При </a:t>
            </a:r>
            <a:r>
              <a:rPr lang="ru-RU" dirty="0"/>
              <a:t>этом, </a:t>
            </a:r>
            <a:r>
              <a:rPr lang="ru-RU" dirty="0" smtClean="0"/>
              <a:t>в </a:t>
            </a:r>
            <a:r>
              <a:rPr lang="ru-RU" dirty="0"/>
              <a:t>отличие от классической ролевой политики, </a:t>
            </a:r>
            <a:r>
              <a:rPr lang="ru-RU" dirty="0" smtClean="0"/>
              <a:t>разделение </a:t>
            </a:r>
            <a:r>
              <a:rPr lang="ru-RU" dirty="0"/>
              <a:t>процесса функционирования системы на сеансы не является принципиальным, </a:t>
            </a:r>
            <a:r>
              <a:rPr lang="ru-RU" dirty="0" smtClean="0"/>
              <a:t>т. к. пользователь</a:t>
            </a:r>
            <a:r>
              <a:rPr lang="ru-RU" dirty="0"/>
              <a:t>, входя в систему, всегда приобретает помимо своих индивидуальных прав одновременно и права доступа всех рабочих групп, в которые он включен по отношению </a:t>
            </a:r>
            <a:r>
              <a:rPr lang="ru-RU" b="1" i="1" dirty="0" smtClean="0"/>
              <a:t>F</a:t>
            </a:r>
            <a:r>
              <a:rPr lang="ru-RU" i="1" baseline="-25000" dirty="0" smtClean="0"/>
              <a:t>UG.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77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999016"/>
      </p:ext>
    </p:extLst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Индивидуально-групповое разграничение доступа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31813" indent="-395288">
              <a:buNone/>
            </a:pPr>
            <a:r>
              <a:rPr lang="ru-RU" dirty="0"/>
              <a:t>3. Функционирование системы </a:t>
            </a:r>
            <a:r>
              <a:rPr lang="ru-RU" dirty="0" smtClean="0"/>
              <a:t>основывается </a:t>
            </a:r>
            <a:r>
              <a:rPr lang="ru-RU" dirty="0"/>
              <a:t>на введении и использовании следующих функций:</a:t>
            </a:r>
          </a:p>
          <a:p>
            <a:r>
              <a:rPr lang="ru-RU" i="1" dirty="0" err="1"/>
              <a:t>f</a:t>
            </a:r>
            <a:r>
              <a:rPr lang="ru-RU" i="1" baseline="-25000" dirty="0" err="1"/>
              <a:t>groups</a:t>
            </a:r>
            <a:r>
              <a:rPr lang="ru-RU" i="1" dirty="0"/>
              <a:t>: </a:t>
            </a:r>
            <a:r>
              <a:rPr lang="ru-RU" b="1" i="1" dirty="0"/>
              <a:t>U</a:t>
            </a:r>
            <a:r>
              <a:rPr lang="ru-RU" i="1" dirty="0"/>
              <a:t>→ </a:t>
            </a:r>
            <a:r>
              <a:rPr lang="ru-RU" b="1" i="1" dirty="0"/>
              <a:t>G</a:t>
            </a:r>
            <a:r>
              <a:rPr lang="ru-RU" i="1" dirty="0"/>
              <a:t> </a:t>
            </a:r>
            <a:r>
              <a:rPr lang="ru-RU" dirty="0"/>
              <a:t>– значением функции </a:t>
            </a:r>
            <a:r>
              <a:rPr lang="ru-RU" i="1" dirty="0" err="1"/>
              <a:t>f</a:t>
            </a:r>
            <a:r>
              <a:rPr lang="ru-RU" i="1" baseline="-25000" dirty="0" err="1"/>
              <a:t>groups</a:t>
            </a:r>
            <a:r>
              <a:rPr lang="ru-RU" dirty="0"/>
              <a:t>(</a:t>
            </a:r>
            <a:r>
              <a:rPr lang="ru-RU" i="1" dirty="0"/>
              <a:t>u</a:t>
            </a:r>
            <a:r>
              <a:rPr lang="ru-RU" dirty="0"/>
              <a:t>)</a:t>
            </a:r>
            <a:r>
              <a:rPr lang="ru-RU" i="1" dirty="0"/>
              <a:t> = G </a:t>
            </a:r>
            <a:r>
              <a:rPr lang="ru-RU" dirty="0"/>
              <a:t>является набор рабочих групп </a:t>
            </a:r>
            <a:r>
              <a:rPr lang="ru-RU" b="1" i="1" dirty="0"/>
              <a:t>G</a:t>
            </a:r>
            <a:r>
              <a:rPr lang="ru-RU" i="1" dirty="0"/>
              <a:t> </a:t>
            </a:r>
            <a:r>
              <a:rPr lang="ru-RU" dirty="0"/>
              <a:t>= {</a:t>
            </a:r>
            <a:r>
              <a:rPr lang="ru-RU" i="1" dirty="0"/>
              <a:t>g</a:t>
            </a:r>
            <a:r>
              <a:rPr lang="ru-RU" i="1" baseline="-25000" dirty="0"/>
              <a:t>u</a:t>
            </a:r>
            <a:r>
              <a:rPr lang="ru-RU" baseline="-25000" dirty="0"/>
              <a:t>1</a:t>
            </a:r>
            <a:r>
              <a:rPr lang="ru-RU" dirty="0"/>
              <a:t>, </a:t>
            </a:r>
            <a:r>
              <a:rPr lang="ru-RU" i="1" dirty="0"/>
              <a:t>g</a:t>
            </a:r>
            <a:r>
              <a:rPr lang="ru-RU" i="1" baseline="-25000" dirty="0"/>
              <a:t>u</a:t>
            </a:r>
            <a:r>
              <a:rPr lang="ru-RU" baseline="-25000" dirty="0"/>
              <a:t>2</a:t>
            </a:r>
            <a:r>
              <a:rPr lang="ru-RU" dirty="0"/>
              <a:t>,…} ⊆ </a:t>
            </a:r>
            <a:r>
              <a:rPr lang="ru-RU" b="1" i="1" dirty="0"/>
              <a:t>G</a:t>
            </a:r>
            <a:r>
              <a:rPr lang="ru-RU" dirty="0"/>
              <a:t> , в которые пользователь u включен по отображению </a:t>
            </a:r>
            <a:r>
              <a:rPr lang="ru-RU" i="1" dirty="0"/>
              <a:t>F</a:t>
            </a:r>
            <a:r>
              <a:rPr lang="ru-RU" i="1" baseline="-25000" dirty="0"/>
              <a:t>UG</a:t>
            </a:r>
            <a:r>
              <a:rPr lang="ru-RU" dirty="0"/>
              <a:t>;</a:t>
            </a:r>
          </a:p>
          <a:p>
            <a:r>
              <a:rPr lang="ru-RU" i="1" dirty="0" err="1"/>
              <a:t>f</a:t>
            </a:r>
            <a:r>
              <a:rPr lang="ru-RU" i="1" baseline="-25000" dirty="0" err="1"/>
              <a:t>users</a:t>
            </a:r>
            <a:r>
              <a:rPr lang="ru-RU" i="1" dirty="0"/>
              <a:t>: </a:t>
            </a:r>
            <a:r>
              <a:rPr lang="ru-RU" b="1" i="1" dirty="0"/>
              <a:t>G</a:t>
            </a:r>
            <a:r>
              <a:rPr lang="ru-RU" i="1" dirty="0"/>
              <a:t> → </a:t>
            </a:r>
            <a:r>
              <a:rPr lang="ru-RU" b="1" i="1" dirty="0"/>
              <a:t>U</a:t>
            </a:r>
            <a:r>
              <a:rPr lang="ru-RU" i="1" dirty="0"/>
              <a:t> </a:t>
            </a:r>
            <a:r>
              <a:rPr lang="ru-RU" dirty="0"/>
              <a:t>– значением функции </a:t>
            </a:r>
            <a:r>
              <a:rPr lang="ru-RU" b="1" i="1" dirty="0"/>
              <a:t>U</a:t>
            </a:r>
            <a:r>
              <a:rPr lang="ru-RU" dirty="0"/>
              <a:t> = </a:t>
            </a:r>
            <a:r>
              <a:rPr lang="ru-RU" i="1" dirty="0" err="1"/>
              <a:t>f</a:t>
            </a:r>
            <a:r>
              <a:rPr lang="ru-RU" i="1" baseline="-25000" dirty="0" err="1"/>
              <a:t>users</a:t>
            </a:r>
            <a:r>
              <a:rPr lang="ru-RU" dirty="0"/>
              <a:t>(</a:t>
            </a:r>
            <a:r>
              <a:rPr lang="ru-RU" i="1" dirty="0"/>
              <a:t>g</a:t>
            </a:r>
            <a:r>
              <a:rPr lang="ru-RU" dirty="0"/>
              <a:t>) является набор пользователей </a:t>
            </a:r>
            <a:r>
              <a:rPr lang="ru-RU" b="1" i="1" dirty="0"/>
              <a:t>U</a:t>
            </a:r>
            <a:r>
              <a:rPr lang="ru-RU" i="1" dirty="0"/>
              <a:t> =</a:t>
            </a:r>
            <a:r>
              <a:rPr lang="ru-RU" dirty="0"/>
              <a:t> {</a:t>
            </a:r>
            <a:r>
              <a:rPr lang="ru-RU" i="1" dirty="0"/>
              <a:t>u</a:t>
            </a:r>
            <a:r>
              <a:rPr lang="ru-RU" i="1" baseline="-25000" dirty="0"/>
              <a:t>g</a:t>
            </a:r>
            <a:r>
              <a:rPr lang="ru-RU" baseline="-25000" dirty="0"/>
              <a:t>1</a:t>
            </a:r>
            <a:r>
              <a:rPr lang="ru-RU" dirty="0"/>
              <a:t>, </a:t>
            </a:r>
            <a:r>
              <a:rPr lang="ru-RU" i="1" dirty="0"/>
              <a:t>u</a:t>
            </a:r>
            <a:r>
              <a:rPr lang="ru-RU" i="1" baseline="-25000" dirty="0"/>
              <a:t>g</a:t>
            </a:r>
            <a:r>
              <a:rPr lang="ru-RU" baseline="-25000" dirty="0"/>
              <a:t>2</a:t>
            </a:r>
            <a:r>
              <a:rPr lang="ru-RU" dirty="0"/>
              <a:t>,…} ⊆ </a:t>
            </a:r>
            <a:r>
              <a:rPr lang="ru-RU" i="1" dirty="0"/>
              <a:t>U</a:t>
            </a:r>
            <a:r>
              <a:rPr lang="ru-RU" dirty="0"/>
              <a:t>, которые рабочая группа g включает по отношению </a:t>
            </a:r>
            <a:r>
              <a:rPr lang="ru-RU" b="1" i="1" dirty="0"/>
              <a:t>F</a:t>
            </a:r>
            <a:r>
              <a:rPr lang="ru-RU" i="1" baseline="-25000" dirty="0"/>
              <a:t>UG</a:t>
            </a:r>
            <a:r>
              <a:rPr lang="ru-RU" dirty="0"/>
              <a:t>.</a:t>
            </a:r>
          </a:p>
          <a:p>
            <a:r>
              <a:rPr lang="ru-RU" dirty="0"/>
              <a:t>В практическом плане реализация функций </a:t>
            </a:r>
            <a:r>
              <a:rPr lang="ru-RU" i="1" dirty="0" err="1"/>
              <a:t>f</a:t>
            </a:r>
            <a:r>
              <a:rPr lang="ru-RU" i="1" baseline="-25000" dirty="0" err="1"/>
              <a:t>groups</a:t>
            </a:r>
            <a:r>
              <a:rPr lang="ru-RU" dirty="0"/>
              <a:t> и </a:t>
            </a:r>
            <a:r>
              <a:rPr lang="ru-RU" i="1" dirty="0" err="1"/>
              <a:t>f</a:t>
            </a:r>
            <a:r>
              <a:rPr lang="ru-RU" i="1" baseline="-25000" dirty="0" err="1"/>
              <a:t>users</a:t>
            </a:r>
            <a:r>
              <a:rPr lang="ru-RU" baseline="-25000" dirty="0"/>
              <a:t> </a:t>
            </a:r>
            <a:r>
              <a:rPr lang="ru-RU" dirty="0"/>
              <a:t>производится посредством построения бинарной матрицы </a:t>
            </a:r>
            <a:r>
              <a:rPr lang="ru-RU" dirty="0" smtClean="0"/>
              <a:t>«пользователи-рабочие группы</a:t>
            </a:r>
            <a:r>
              <a:rPr lang="ru-RU" dirty="0"/>
              <a:t>", ячейки которой заполняются при установлении отношения </a:t>
            </a:r>
            <a:r>
              <a:rPr lang="ru-RU" b="1" i="1" dirty="0"/>
              <a:t>F</a:t>
            </a:r>
            <a:r>
              <a:rPr lang="ru-RU" i="1" baseline="-25000" dirty="0"/>
              <a:t>UG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78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1361130"/>
      </p:ext>
    </p:extLst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Индивидуально-групповое разграничение </a:t>
            </a:r>
            <a:r>
              <a:rPr lang="ru-RU" dirty="0" smtClean="0"/>
              <a:t>доступа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708525"/>
          </a:xfrm>
        </p:spPr>
        <p:txBody>
          <a:bodyPr/>
          <a:lstStyle/>
          <a:p>
            <a:r>
              <a:rPr lang="ru-RU" dirty="0"/>
              <a:t>Управление индивидуально-групповым доступом </a:t>
            </a:r>
            <a:r>
              <a:rPr lang="ru-RU" dirty="0" smtClean="0"/>
              <a:t>в системе осуществляется </a:t>
            </a:r>
            <a:r>
              <a:rPr lang="ru-RU" dirty="0"/>
              <a:t>на основе следующего правила (критерия безопасности) индивидуально-группового доступа.</a:t>
            </a:r>
          </a:p>
          <a:p>
            <a:r>
              <a:rPr lang="ru-RU" b="1" i="1" dirty="0" smtClean="0"/>
              <a:t>Правило.</a:t>
            </a:r>
            <a:r>
              <a:rPr lang="ru-RU" dirty="0" smtClean="0"/>
              <a:t> </a:t>
            </a:r>
            <a:r>
              <a:rPr lang="ru-RU" dirty="0"/>
              <a:t>Система функционирует безопасно, если и только если любой пользователь </a:t>
            </a:r>
            <a:r>
              <a:rPr lang="ru-RU" b="1" i="1" dirty="0"/>
              <a:t>u</a:t>
            </a:r>
            <a:r>
              <a:rPr lang="ru-RU" dirty="0"/>
              <a:t> ∈ </a:t>
            </a:r>
            <a:r>
              <a:rPr lang="ru-RU" b="1" i="1" dirty="0"/>
              <a:t>U</a:t>
            </a:r>
            <a:r>
              <a:rPr lang="ru-RU" dirty="0"/>
              <a:t> по отношению к любому объекту </a:t>
            </a:r>
            <a:r>
              <a:rPr lang="ru-RU" b="1" i="1" dirty="0"/>
              <a:t>o</a:t>
            </a:r>
            <a:r>
              <a:rPr lang="ru-RU" dirty="0"/>
              <a:t> ∈ </a:t>
            </a:r>
            <a:r>
              <a:rPr lang="ru-RU" b="1" i="1" dirty="0"/>
              <a:t>O</a:t>
            </a:r>
            <a:r>
              <a:rPr lang="ru-RU" dirty="0"/>
              <a:t> может осуществлять доступ с правами </a:t>
            </a:r>
            <a:r>
              <a:rPr lang="ru-RU" b="1" i="1" dirty="0"/>
              <a:t>R</a:t>
            </a:r>
            <a:r>
              <a:rPr lang="ru-RU" dirty="0"/>
              <a:t>, не выходящими за пределы совокупности индивидуальных прав </a:t>
            </a:r>
            <a:r>
              <a:rPr lang="ru-RU" b="1" dirty="0"/>
              <a:t>A</a:t>
            </a:r>
            <a:r>
              <a:rPr lang="ru-RU" dirty="0"/>
              <a:t>[</a:t>
            </a:r>
            <a:r>
              <a:rPr lang="ru-RU" b="1" dirty="0"/>
              <a:t>u</a:t>
            </a:r>
            <a:r>
              <a:rPr lang="ru-RU" dirty="0"/>
              <a:t>, </a:t>
            </a:r>
            <a:r>
              <a:rPr lang="ru-RU" b="1" dirty="0"/>
              <a:t>o</a:t>
            </a:r>
            <a:r>
              <a:rPr lang="ru-RU" dirty="0"/>
              <a:t>] и прав рабочих групп </a:t>
            </a:r>
            <a:r>
              <a:rPr lang="ru-RU" b="1" dirty="0"/>
              <a:t>A</a:t>
            </a:r>
            <a:r>
              <a:rPr lang="ru-RU" dirty="0"/>
              <a:t>[</a:t>
            </a:r>
            <a:r>
              <a:rPr lang="ru-RU" b="1" i="1" dirty="0"/>
              <a:t>g</a:t>
            </a:r>
            <a:r>
              <a:rPr lang="ru-RU" baseline="30000" dirty="0"/>
              <a:t>(</a:t>
            </a:r>
            <a:r>
              <a:rPr lang="ru-RU" i="1" baseline="30000" dirty="0"/>
              <a:t>u</a:t>
            </a:r>
            <a:r>
              <a:rPr lang="ru-RU" baseline="30000" dirty="0"/>
              <a:t>)</a:t>
            </a:r>
            <a:r>
              <a:rPr lang="ru-RU" i="1" baseline="-25000" dirty="0"/>
              <a:t>i</a:t>
            </a:r>
            <a:r>
              <a:rPr lang="ru-RU" dirty="0"/>
              <a:t>, </a:t>
            </a:r>
            <a:r>
              <a:rPr lang="ru-RU" b="1" i="1" dirty="0"/>
              <a:t>o</a:t>
            </a:r>
            <a:r>
              <a:rPr lang="ru-RU" dirty="0"/>
              <a:t>], в которые пользователь входит по отношению </a:t>
            </a:r>
            <a:r>
              <a:rPr lang="ru-RU" b="1" i="1" dirty="0"/>
              <a:t>F</a:t>
            </a:r>
            <a:r>
              <a:rPr lang="ru-RU" i="1" baseline="-25000" dirty="0"/>
              <a:t>UG</a:t>
            </a:r>
            <a:r>
              <a:rPr lang="ru-RU" dirty="0"/>
              <a:t>:</a:t>
            </a:r>
          </a:p>
          <a:p>
            <a:pPr marL="136525" indent="0" algn="ctr">
              <a:buNone/>
            </a:pPr>
            <a:r>
              <a:rPr lang="en-US" b="1" i="1" dirty="0"/>
              <a:t>R</a:t>
            </a:r>
            <a:r>
              <a:rPr lang="en-US" dirty="0"/>
              <a:t> ⊆ {</a:t>
            </a:r>
            <a:r>
              <a:rPr lang="en-US" b="1" dirty="0"/>
              <a:t>A</a:t>
            </a:r>
            <a:r>
              <a:rPr lang="en-US" dirty="0"/>
              <a:t>[</a:t>
            </a:r>
            <a:r>
              <a:rPr lang="en-US" b="1" i="1" dirty="0"/>
              <a:t>u</a:t>
            </a:r>
            <a:r>
              <a:rPr lang="en-US" dirty="0"/>
              <a:t>, </a:t>
            </a:r>
            <a:r>
              <a:rPr lang="en-US" b="1" i="1" dirty="0"/>
              <a:t>o</a:t>
            </a:r>
            <a:r>
              <a:rPr lang="en-US" dirty="0"/>
              <a:t>] ∪ </a:t>
            </a:r>
            <a:r>
              <a:rPr lang="en-US" b="1" dirty="0"/>
              <a:t>A</a:t>
            </a:r>
            <a:r>
              <a:rPr lang="en-US" dirty="0"/>
              <a:t>[</a:t>
            </a:r>
            <a:r>
              <a:rPr lang="en-US" b="1" i="1" dirty="0"/>
              <a:t>g</a:t>
            </a:r>
            <a:r>
              <a:rPr lang="en-US" i="1" baseline="-25000" dirty="0"/>
              <a:t>u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b="1" i="1" dirty="0"/>
              <a:t>o</a:t>
            </a:r>
            <a:r>
              <a:rPr lang="en-US" dirty="0"/>
              <a:t>] ∪ </a:t>
            </a:r>
            <a:r>
              <a:rPr lang="en-US" b="1" dirty="0"/>
              <a:t>A</a:t>
            </a:r>
            <a:r>
              <a:rPr lang="en-US" dirty="0"/>
              <a:t>[</a:t>
            </a:r>
            <a:r>
              <a:rPr lang="en-US" b="1" i="1" dirty="0"/>
              <a:t>g</a:t>
            </a:r>
            <a:r>
              <a:rPr lang="en-US" i="1" baseline="-25000" dirty="0"/>
              <a:t>u</a:t>
            </a:r>
            <a:r>
              <a:rPr lang="en-US" baseline="-25000" dirty="0"/>
              <a:t>2</a:t>
            </a:r>
            <a:r>
              <a:rPr lang="en-US" dirty="0"/>
              <a:t>, </a:t>
            </a:r>
            <a:r>
              <a:rPr lang="en-US" b="1" i="1" dirty="0"/>
              <a:t>o</a:t>
            </a:r>
            <a:r>
              <a:rPr lang="en-US" dirty="0"/>
              <a:t>] ∪…},</a:t>
            </a:r>
            <a:endParaRPr lang="ru-RU" dirty="0"/>
          </a:p>
          <a:p>
            <a:pPr marL="136525" indent="0">
              <a:buNone/>
            </a:pPr>
            <a:r>
              <a:rPr lang="ru-RU" dirty="0"/>
              <a:t>где</a:t>
            </a:r>
            <a:r>
              <a:rPr lang="en-US" dirty="0"/>
              <a:t> { </a:t>
            </a:r>
            <a:r>
              <a:rPr lang="en-US" b="1" i="1" dirty="0"/>
              <a:t>g</a:t>
            </a:r>
            <a:r>
              <a:rPr lang="en-US" i="1" baseline="-25000" dirty="0"/>
              <a:t>u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b="1" i="1" dirty="0"/>
              <a:t>g</a:t>
            </a:r>
            <a:r>
              <a:rPr lang="en-US" i="1" baseline="-25000" dirty="0"/>
              <a:t>u</a:t>
            </a:r>
            <a:r>
              <a:rPr lang="en-US" baseline="-25000" dirty="0"/>
              <a:t>2</a:t>
            </a:r>
            <a:r>
              <a:rPr lang="en-US" dirty="0"/>
              <a:t>,…} = </a:t>
            </a:r>
            <a:r>
              <a:rPr lang="en-US" b="1" i="1" dirty="0" err="1"/>
              <a:t>f</a:t>
            </a:r>
            <a:r>
              <a:rPr lang="en-US" i="1" baseline="-25000" dirty="0" err="1"/>
              <a:t>groups</a:t>
            </a:r>
            <a:r>
              <a:rPr lang="en-US" dirty="0"/>
              <a:t>(</a:t>
            </a:r>
            <a:r>
              <a:rPr lang="en-US" b="1" i="1" dirty="0"/>
              <a:t>u</a:t>
            </a:r>
            <a:r>
              <a:rPr lang="en-US" dirty="0" smtClean="0"/>
              <a:t>).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79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6634907"/>
      </p:ext>
    </p:extLst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Индивидуально-групповое разграничение доступа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6515" y="1600201"/>
            <a:ext cx="8731805" cy="4277072"/>
          </a:xfrm>
        </p:spPr>
        <p:txBody>
          <a:bodyPr/>
          <a:lstStyle/>
          <a:p>
            <a:r>
              <a:rPr lang="ru-RU" dirty="0"/>
              <a:t>Таким образом, права доступа пользователя к объекту складываются из его индивидуальных прав и прав всех рабочих групп, в которые он включен по отношению </a:t>
            </a:r>
            <a:r>
              <a:rPr lang="ru-RU" b="1" i="1" dirty="0"/>
              <a:t>F</a:t>
            </a:r>
            <a:r>
              <a:rPr lang="ru-RU" i="1" baseline="-25000" dirty="0"/>
              <a:t>UG</a:t>
            </a:r>
            <a:r>
              <a:rPr lang="ru-RU" dirty="0" smtClean="0"/>
              <a:t>.</a:t>
            </a:r>
          </a:p>
          <a:p>
            <a:r>
              <a:rPr lang="ru-RU" dirty="0" smtClean="0"/>
              <a:t>Следует </a:t>
            </a:r>
            <a:r>
              <a:rPr lang="ru-RU" dirty="0"/>
              <a:t>отметить, что рабочие группы в полном смысле слова не являются ролями, </a:t>
            </a:r>
            <a:r>
              <a:rPr lang="ru-RU" dirty="0" smtClean="0"/>
              <a:t>т. к. они не </a:t>
            </a:r>
            <a:r>
              <a:rPr lang="ru-RU" dirty="0"/>
              <a:t>реализуются в виде отдельных </a:t>
            </a:r>
            <a:r>
              <a:rPr lang="ru-RU" dirty="0" smtClean="0"/>
              <a:t>самостоятельно </a:t>
            </a:r>
            <a:r>
              <a:rPr lang="ru-RU" dirty="0"/>
              <a:t>действующих субъектов </a:t>
            </a:r>
            <a:r>
              <a:rPr lang="ru-RU" dirty="0" smtClean="0"/>
              <a:t>доступа.  </a:t>
            </a:r>
          </a:p>
          <a:p>
            <a:r>
              <a:rPr lang="ru-RU" dirty="0" smtClean="0"/>
              <a:t>Т. е. в </a:t>
            </a:r>
            <a:r>
              <a:rPr lang="ru-RU" dirty="0"/>
              <a:t>системе </a:t>
            </a:r>
            <a:r>
              <a:rPr lang="ru-RU" dirty="0" smtClean="0"/>
              <a:t>не </a:t>
            </a:r>
            <a:r>
              <a:rPr lang="ru-RU" dirty="0"/>
              <a:t>инициализируются отдельные субъекты </a:t>
            </a:r>
            <a:r>
              <a:rPr lang="ru-RU" dirty="0" smtClean="0"/>
              <a:t>доступа, </a:t>
            </a:r>
            <a:r>
              <a:rPr lang="ru-RU" dirty="0"/>
              <a:t>действующие от имени рабочих </a:t>
            </a:r>
            <a:r>
              <a:rPr lang="ru-RU" dirty="0" smtClean="0"/>
              <a:t>групп,  а действуют </a:t>
            </a:r>
            <a:r>
              <a:rPr lang="ru-RU" dirty="0"/>
              <a:t>только субъекты пользователей, права которых в процессах доступа к объектам определяются на основе совокупности индивидуальных и групповых прав.</a:t>
            </a:r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80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3955113"/>
      </p:ext>
    </p:extLst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Индивидуально-групповое разграничение доступа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данной модели, как и в других разновидностях ролевых моделей, нет доказательства безопасного функционирования системы при выполнении правил разграничения доступа</a:t>
            </a:r>
            <a:r>
              <a:rPr lang="ru-RU" dirty="0" smtClean="0"/>
              <a:t>. Т. е. РУД в смысле безопасности идентична ДМБ.</a:t>
            </a:r>
            <a:endParaRPr lang="ru-RU" dirty="0"/>
          </a:p>
          <a:p>
            <a:r>
              <a:rPr lang="ru-RU" dirty="0" smtClean="0"/>
              <a:t>Но применение </a:t>
            </a:r>
            <a:r>
              <a:rPr lang="ru-RU" dirty="0"/>
              <a:t>этой модели позволяет существенно упростить проектирование и управление системы </a:t>
            </a:r>
            <a:r>
              <a:rPr lang="ru-RU" dirty="0" smtClean="0"/>
              <a:t>при </a:t>
            </a:r>
            <a:r>
              <a:rPr lang="ru-RU" dirty="0"/>
              <a:t>большом числе пользователей и объектов доступа.</a:t>
            </a:r>
          </a:p>
          <a:p>
            <a:r>
              <a:rPr lang="ru-RU" dirty="0"/>
              <a:t>Недостатки модели: слабость защитных </a:t>
            </a:r>
            <a:r>
              <a:rPr lang="ru-RU" dirty="0" smtClean="0"/>
              <a:t>свойств, </a:t>
            </a:r>
            <a:r>
              <a:rPr lang="ru-RU" dirty="0"/>
              <a:t>избыточность и дублирование в предоставлении прав доступа, проблемы  проектирования системы рабочих групп.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81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9993492"/>
      </p:ext>
    </p:extLst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РУД в реляционных СУБД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600200"/>
            <a:ext cx="8435280" cy="4708525"/>
          </a:xfrm>
        </p:spPr>
        <p:txBody>
          <a:bodyPr/>
          <a:lstStyle/>
          <a:p>
            <a:r>
              <a:rPr lang="ru-RU" dirty="0"/>
              <a:t>В </a:t>
            </a:r>
            <a:r>
              <a:rPr lang="ru-RU" dirty="0" smtClean="0"/>
              <a:t>РУД не </a:t>
            </a:r>
            <a:r>
              <a:rPr lang="ru-RU" dirty="0"/>
              <a:t>вводятся отдельные механизмы спецификации полномочий, а используется традиционный набор элементарных методов доступа (чтение, запись, и т. д.). </a:t>
            </a:r>
            <a:endParaRPr lang="ru-RU" dirty="0" smtClean="0"/>
          </a:p>
          <a:p>
            <a:r>
              <a:rPr lang="ru-RU" dirty="0" smtClean="0"/>
              <a:t>Основу </a:t>
            </a:r>
            <a:r>
              <a:rPr lang="ru-RU" dirty="0"/>
              <a:t>обработки данных в реляционных СУБД составляют запросы, обособляющие в отдельные именованные </a:t>
            </a:r>
            <a:r>
              <a:rPr lang="ru-RU" dirty="0" smtClean="0"/>
              <a:t>сущности, </a:t>
            </a:r>
            <a:r>
              <a:rPr lang="ru-RU" dirty="0"/>
              <a:t>операции над данными </a:t>
            </a:r>
            <a:r>
              <a:rPr lang="ru-RU" dirty="0" smtClean="0"/>
              <a:t>(SELECT</a:t>
            </a:r>
            <a:r>
              <a:rPr lang="ru-RU" dirty="0"/>
              <a:t>, INSERT, UPDATE, DELETE), объекты данных (таблицы) и результаты обработки. </a:t>
            </a:r>
            <a:endParaRPr lang="ru-RU" dirty="0" smtClean="0"/>
          </a:p>
          <a:p>
            <a:r>
              <a:rPr lang="ru-RU" dirty="0" smtClean="0"/>
              <a:t>Сконструированные в SQL </a:t>
            </a:r>
            <a:r>
              <a:rPr lang="ru-RU" dirty="0"/>
              <a:t>запросы хранятся в БД вместе с данными и составляют отдельную группу </a:t>
            </a:r>
            <a:r>
              <a:rPr lang="ru-RU" dirty="0" smtClean="0"/>
              <a:t>сущностей БД. </a:t>
            </a:r>
          </a:p>
          <a:p>
            <a:r>
              <a:rPr lang="ru-RU" dirty="0" smtClean="0"/>
              <a:t>Пользователям </a:t>
            </a:r>
            <a:r>
              <a:rPr lang="ru-RU" dirty="0"/>
              <a:t>системы предоставляются права запускать определенные </a:t>
            </a:r>
            <a:r>
              <a:rPr lang="ru-RU" dirty="0" smtClean="0"/>
              <a:t>запросы.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82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4040917"/>
      </p:ext>
    </p:extLst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Выводы по разделу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2860" y="1403775"/>
            <a:ext cx="8337612" cy="4708525"/>
          </a:xfrm>
        </p:spPr>
        <p:txBody>
          <a:bodyPr/>
          <a:lstStyle/>
          <a:p>
            <a:r>
              <a:rPr lang="ru-RU" dirty="0"/>
              <a:t>Общая теория </a:t>
            </a:r>
            <a:r>
              <a:rPr lang="ru-RU" dirty="0" smtClean="0"/>
              <a:t>моделей безопасности (МБ) подразумевает </a:t>
            </a:r>
            <a:r>
              <a:rPr lang="ru-RU" dirty="0"/>
              <a:t>выполнение всех </a:t>
            </a:r>
            <a:r>
              <a:rPr lang="ru-RU" dirty="0" smtClean="0"/>
              <a:t>предусмотренных требований</a:t>
            </a:r>
            <a:r>
              <a:rPr lang="ru-RU" dirty="0"/>
              <a:t>, но существующие </a:t>
            </a:r>
            <a:r>
              <a:rPr lang="ru-RU" dirty="0" smtClean="0"/>
              <a:t>реализации МБ выполняют </a:t>
            </a:r>
            <a:r>
              <a:rPr lang="ru-RU" dirty="0"/>
              <a:t>только </a:t>
            </a:r>
            <a:r>
              <a:rPr lang="ru-RU" dirty="0" smtClean="0"/>
              <a:t>часть из них, </a:t>
            </a:r>
            <a:r>
              <a:rPr lang="ru-RU" dirty="0"/>
              <a:t>что </a:t>
            </a:r>
            <a:r>
              <a:rPr lang="ru-RU" dirty="0" smtClean="0"/>
              <a:t>значительно ограничивает возможные </a:t>
            </a:r>
            <a:r>
              <a:rPr lang="ru-RU" dirty="0"/>
              <a:t>области </a:t>
            </a:r>
            <a:r>
              <a:rPr lang="ru-RU" dirty="0" smtClean="0"/>
              <a:t>их применения. </a:t>
            </a:r>
          </a:p>
          <a:p>
            <a:r>
              <a:rPr lang="ru-RU" dirty="0"/>
              <a:t>С течением времени </a:t>
            </a:r>
            <a:r>
              <a:rPr lang="ru-RU" dirty="0" smtClean="0"/>
              <a:t>эта </a:t>
            </a:r>
            <a:r>
              <a:rPr lang="ru-RU" dirty="0"/>
              <a:t>тенденция усиливается, и в настоящее время модели фактически разрабатываются специально под определенные </a:t>
            </a:r>
            <a:r>
              <a:rPr lang="ru-RU" dirty="0" smtClean="0"/>
              <a:t>реализации. </a:t>
            </a:r>
          </a:p>
          <a:p>
            <a:r>
              <a:rPr lang="ru-RU" dirty="0" smtClean="0"/>
              <a:t>МБ, </a:t>
            </a:r>
            <a:r>
              <a:rPr lang="ru-RU" dirty="0"/>
              <a:t>как и большинство технологий безопасности, </a:t>
            </a:r>
            <a:r>
              <a:rPr lang="ru-RU" dirty="0" smtClean="0"/>
              <a:t>все </a:t>
            </a:r>
            <a:r>
              <a:rPr lang="ru-RU" dirty="0"/>
              <a:t>больше переходят из области военных разработок в область коммерческого и общего использования, что в значительной мере связано с развитием сетевых </a:t>
            </a:r>
            <a:r>
              <a:rPr lang="ru-RU" dirty="0" smtClean="0"/>
              <a:t>ИТ.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DB0770-22FC-475D-BB2A-17BC0D87DB46}" type="slidenum">
              <a:rPr lang="ru-RU" smtClean="0"/>
              <a:pPr>
                <a:defRPr/>
              </a:pPr>
              <a:t>83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5034784"/>
      </p:ext>
    </p:extLst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резентация БСБД 3">
  <a:themeElements>
    <a:clrScheme name="Модульная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Классическая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Апекс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 БСБД 3</Template>
  <TotalTime>1104</TotalTime>
  <Words>6384</Words>
  <Application>Microsoft Office PowerPoint</Application>
  <PresentationFormat>Экран (4:3)</PresentationFormat>
  <Paragraphs>517</Paragraphs>
  <Slides>83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83</vt:i4>
      </vt:variant>
    </vt:vector>
  </HeadingPairs>
  <TitlesOfParts>
    <vt:vector size="92" baseType="lpstr">
      <vt:lpstr>Arial</vt:lpstr>
      <vt:lpstr>Calibri</vt:lpstr>
      <vt:lpstr>Cambria Math</vt:lpstr>
      <vt:lpstr>Symbol</vt:lpstr>
      <vt:lpstr>Times New Roman</vt:lpstr>
      <vt:lpstr>Wingdings</vt:lpstr>
      <vt:lpstr>Wingdings 2</vt:lpstr>
      <vt:lpstr>Wingdings 3</vt:lpstr>
      <vt:lpstr>Презентация БСБД 3</vt:lpstr>
      <vt:lpstr>Безопасность  систем баз данных</vt:lpstr>
      <vt:lpstr>Субъектно-объектная модель доступа</vt:lpstr>
      <vt:lpstr>Субъектно-объектная модель АИС</vt:lpstr>
      <vt:lpstr>Модели безопасности</vt:lpstr>
      <vt:lpstr>Модели безопасности</vt:lpstr>
      <vt:lpstr>Модели безопасности </vt:lpstr>
      <vt:lpstr>Типы моделей безопасности </vt:lpstr>
      <vt:lpstr>Дискреционные модели</vt:lpstr>
      <vt:lpstr>Централизованный подход к МД</vt:lpstr>
      <vt:lpstr>Централизованный подход к МД</vt:lpstr>
      <vt:lpstr>Матрица доступа</vt:lpstr>
      <vt:lpstr>Пример матрицы доступа</vt:lpstr>
      <vt:lpstr>Распределенный подход к МД</vt:lpstr>
      <vt:lpstr>Создание и изменение МД</vt:lpstr>
      <vt:lpstr>Принудительное управление доступом </vt:lpstr>
      <vt:lpstr>Добровольное управление доступом </vt:lpstr>
      <vt:lpstr>Добровольное управление доступом </vt:lpstr>
      <vt:lpstr>Добровольное управление доступом </vt:lpstr>
      <vt:lpstr>Достоинства и недостатки дискреционной модели </vt:lpstr>
      <vt:lpstr>Недостатки ДМБ</vt:lpstr>
      <vt:lpstr>Недостатки ДМБ</vt:lpstr>
      <vt:lpstr>Модель Харисона-Руззо-Ульмана</vt:lpstr>
      <vt:lpstr>Модель Харисона-Руззо-Ульмана</vt:lpstr>
      <vt:lpstr>Модель Харисона-Руззо-Ульмана</vt:lpstr>
      <vt:lpstr>Модель Харисона-Руззо-Ульмана</vt:lpstr>
      <vt:lpstr>Модель Харисона-Руззо-Ульмана</vt:lpstr>
      <vt:lpstr>Модель Харисона-Руззо-Ульмана</vt:lpstr>
      <vt:lpstr>Другие дискреционные модели</vt:lpstr>
      <vt:lpstr>Предпосылки создания мандатной модели безопасности</vt:lpstr>
      <vt:lpstr>Предпосылки создания мандатной модели безопасности</vt:lpstr>
      <vt:lpstr>Предпосылки создания мандатной модели безопасности</vt:lpstr>
      <vt:lpstr>Предпосылки создания мандатной модели безопасности</vt:lpstr>
      <vt:lpstr>Модель Белла-ЛаПадулы</vt:lpstr>
      <vt:lpstr>Модель Белла-ЛаПадулы</vt:lpstr>
      <vt:lpstr>Модель Белла-ЛаПадулы</vt:lpstr>
      <vt:lpstr>Модель Белла-ЛаПадулы</vt:lpstr>
      <vt:lpstr>Модель Белла-ЛаПадулы</vt:lpstr>
      <vt:lpstr>Модель Белла-ЛаПадулы</vt:lpstr>
      <vt:lpstr>Модель Белла-ЛаПадулы</vt:lpstr>
      <vt:lpstr>Мандатная модель безопасности</vt:lpstr>
      <vt:lpstr>Мандатная модель безопасности</vt:lpstr>
      <vt:lpstr>Реализация мандатной       модели безопасности</vt:lpstr>
      <vt:lpstr>Реализация мандатной       модели безопасности</vt:lpstr>
      <vt:lpstr>Реализация мандатной       модели безопасности</vt:lpstr>
      <vt:lpstr>Функционально-зональный принцип разграничения доступа</vt:lpstr>
      <vt:lpstr>Достоинства мандатной модели безопасности</vt:lpstr>
      <vt:lpstr>Дополнение мандатной модели дискреционным доступом</vt:lpstr>
      <vt:lpstr>Расширения модели             Белла-ЛаПадулы</vt:lpstr>
      <vt:lpstr>Расширения модели             Белла-ЛаПадулы</vt:lpstr>
      <vt:lpstr>Расширения модели             Белла-ЛаПадулы</vt:lpstr>
      <vt:lpstr>Расширения модели             Белла-ЛаПадулы</vt:lpstr>
      <vt:lpstr>Общие недостатки дискреционных и мандатных моделей  </vt:lpstr>
      <vt:lpstr>Ролевые модели управления</vt:lpstr>
      <vt:lpstr>Ролевое управление доступом</vt:lpstr>
      <vt:lpstr>Ролевое управление доступом</vt:lpstr>
      <vt:lpstr>Ролевое управление доступом</vt:lpstr>
      <vt:lpstr>Ролевое управление доступом</vt:lpstr>
      <vt:lpstr>Ролевое управление доступом</vt:lpstr>
      <vt:lpstr>Ролевое управление доступом</vt:lpstr>
      <vt:lpstr>Ролевое управление доступом</vt:lpstr>
      <vt:lpstr>Ролевое управление доступом</vt:lpstr>
      <vt:lpstr>Ролевое управление доступом</vt:lpstr>
      <vt:lpstr>Ролевое управление доступом</vt:lpstr>
      <vt:lpstr>Формальная спецификация ролевой модели </vt:lpstr>
      <vt:lpstr>Формальная спецификация ролевой модели </vt:lpstr>
      <vt:lpstr>Формальная спецификация ролевой модели </vt:lpstr>
      <vt:lpstr>Формальная спецификация ролевой модели </vt:lpstr>
      <vt:lpstr>Ролевая модель безопасности</vt:lpstr>
      <vt:lpstr>Иерархическая система ролей </vt:lpstr>
      <vt:lpstr>Ролевая модель статического распределения обязанностей</vt:lpstr>
      <vt:lpstr>Ролевая модель динамического распределения обязанностей</vt:lpstr>
      <vt:lpstr>Ролевая модель с количественными ограничениями</vt:lpstr>
      <vt:lpstr>Ролевая модель с группировкой ролей и полномочий</vt:lpstr>
      <vt:lpstr>Комплексное использование ролевых моделей</vt:lpstr>
      <vt:lpstr>Индивидуально-групповое разграничение доступа</vt:lpstr>
      <vt:lpstr>Индивидуально-групповое разграничение доступа</vt:lpstr>
      <vt:lpstr>Индивидуально-групповое разграничение доступа</vt:lpstr>
      <vt:lpstr>Индивидуально-групповое разграничение доступа</vt:lpstr>
      <vt:lpstr>Индивидуально-групповое разграничение доступа</vt:lpstr>
      <vt:lpstr>Индивидуально-групповое разграничение доступа</vt:lpstr>
      <vt:lpstr>Индивидуально-групповое разграничение доступа</vt:lpstr>
      <vt:lpstr>РУД в реляционных СУБД</vt:lpstr>
      <vt:lpstr>Выводы по разделу </vt:lpstr>
    </vt:vector>
  </TitlesOfParts>
  <Company>qwe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Безопасность  систем баз данных</dc:title>
  <dc:creator>qwe</dc:creator>
  <cp:lastModifiedBy>BYA</cp:lastModifiedBy>
  <cp:revision>61</cp:revision>
  <dcterms:created xsi:type="dcterms:W3CDTF">2014-06-26T10:11:21Z</dcterms:created>
  <dcterms:modified xsi:type="dcterms:W3CDTF">2016-09-04T08:47:28Z</dcterms:modified>
</cp:coreProperties>
</file>